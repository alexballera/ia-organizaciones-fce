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60" r:id="rId3"/>
    <p:sldId id="261"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7"/>
    <p:restoredTop sz="95903"/>
  </p:normalViewPr>
  <p:slideViewPr>
    <p:cSldViewPr snapToGrid="0" snapToObjects="1">
      <p:cViewPr varScale="1">
        <p:scale>
          <a:sx n="114" d="100"/>
          <a:sy n="114" d="100"/>
        </p:scale>
        <p:origin x="49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01743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Arrancar sin introducción larga. El título es la tesis de la clase: no 'la IA es interesante' sino 'ya está cambiando el mundo, y acá están los datos'.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Vocabulario común antes de arrancar. Dos aclaraciones que ayudan: 'generativa' significa que produce contenido nuevo —texto, imagen, código, audio— y no que clasifica o predice una etiqueta, que es lo que hacía casi toda la IA anterior. Y lo de 'predecir la siguiente palabra' no es una simplificación didáctica: es literalmente el mecanismo. La discusión abierta de la década es si de ahí puede salir algo que merezca llamarse comprensión. La caja de la derecha vuelve en el bloque 3, cuando veamos que Aletheia se equivoca en el 68,5% de los casos con total seguridad.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pregunta que organiza el primer bloque. Todo el mundo tiene una intuición sobre si la IA avanza; casi nadie tiene un criterio. Vamos a construir uno.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Detalle que engancha: en la misma reunión mostraron una demo de GPT-4 con 'razonamiento tipo humano'. Tres meses después salió o1. La filtración no era humo.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Leer la definición del nivel 3 literalmente: 'varios días'. Ese detalle importa, porque en la slide 12 vamos a discutir si realmente llegamos. Los niveles sombreados son los que ya se recorrieron.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Ojo con el marco temporal: los estudiantes que entran a la tecnicatura hoy se reciben en un mundo dos o tres escalones más arriba que este.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Resistí la tentación de tomar partido. El objetivo pedagógico es que aprendan a convivir con incertidumbre alta sin caer ni en el hype ni en el negacionismo.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probablemente el gráfico más importante de la clase. La barra clara de la derecha es deliberada: el signo de pregunta es honesto. Preguntá al aula qué tarea de su trabajo dura 5 horas.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del bloque 1. Si alguien pregunta '¿y la AGI entonces?': la respuesta honesta es que la pregunta está mal planteada. No hay una línea de llegada, hay capacidades que se van encendiendo de a una.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2: pasamos del mapa a la medición concreta. 30 minutos.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Sembrar la crítica ANTES de mostrar los números permite mostrarlos sin ingenuidad. Si lo hacés al revés, ya los convenciste y después les sacás la alfombra.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dato del examen de abogacía funciona muy bien con audiencias no técnicas: todos entienden qué significa el percentil 90 en un examen </a:t>
            </a:r>
            <a:r>
              <a:rPr lang="en-US" dirty="0" err="1"/>
              <a:t>profesional</a:t>
            </a:r>
            <a:r>
              <a:rPr lang="en-US" dirty="0"/>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contraste ES el mensaje: 94,6% en preguntas de doctorado y 0,51% en un test que resuelve un chico de diez años. La inteligencia de estos sistemas es profundamente despareja, no una escalera lineal. Si se llevan una sola idea del bloque, que sea esta.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al aula, en serio, con silencio incómodo incluido. La respuesta útil casi siempre es: 'menos de lo que creía, pero no todo'. Ahí empieza el curso.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respiro, 60 segundos. Sirve para bajar la velocidad antes del bloque de costos.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dato de 40x anual viene de Epoch AI, con serie construida hasta 2025: la tendencia es sólida, el número exacto de 2026 no está actualizado. Decilo. Es el espejo de la slide 11: capacidad arriba, costo abajo, al mismo tiempo.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referencia, 90 segundos. La observación sobre China queda sembrada acá aunque no desarrollemos el bloque geopolítico en esta clase.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diferencia no es de calidad, es de naturaleza. Pasás de usar una herramienta a delegar en un sistema. Esa frase vale la pena decirla despacio: es el eje conceptual de toda la tecnicatura.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hay conexión, hacer la demo acá. Elegí una tarea aburrida y reconocible —renombrar y ordenar archivos, cruzar dos planillas— antes que una espectacular. El objetivo es que piensen 'eso lo hago yo los martes'.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Retomá acá el conteo de manos de la slide 2. Y decilo explícitamente: ese desfasaje entre lo que la tecnología permite y lo que las organizaciones usan es, literalmente, el objeto de esta tecnicatura. Es la slide que justifica la carrera.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3: de la capacidad medida al impacto real. 35 minutos.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Fuentes: JetBrains AI Pulse (&gt;10.000 devs, abril 2026) y Stack Overflow (febrero 2026). Tirá la pregunta al aula. La respuesta que suele aparecer es la correcta: la usan para más cosas, y por eso ven más errores.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slide que más engancha a estudiantes de perfil organizacional: es el primero donde la IA deja de ser algo que mirás y pasa a ser algo con lo que hacés. Vale la pena mencionar que el trabajo final del curso puede ser exactamente esto.</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pasar rápido por esto: lo que durante siglos fue dominio exclusivo del intelecto humano más entrenado del planeta empezó a ser territorio compartido. Y la slide siguiente lo pincha deliberadamente.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Ésta es la lección transferible a cualquier organización, y probablemente la idea más útil de toda la clase. Complemento de Tao (enero 2026): lo notable fue la velocidad, no la dificultad; hay sesgo de selección porque se reportan los éxitos; estima que solo 1-2% de los problemas de Erdős abiertos son alcanzables hoy.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Contrapunto necesario después de la slide anterior: la tasa de error alta no impide el impacto real cuando el pipeline tiene verificación humana y regulatoria. Ese es el modelo a copiar en cualquier organización.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dato de poesía es el que más incomoda y el mejor para abrir debate: la gente no solo no distingue, sino que prefiere los poemas de IA — y cuando le decís que son de IA, le gustan menos. La preferencia no es por el texto: es por el autor.</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punto de método vale tanto como el dato: los tests psicométricos miden creatividad cotidiana en tareas de laboratorio de cinco minutos. La obra que reconfigura un campo requiere juicio experto y horizonte largo — ningún test la mide.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Éste es el momento de debate largo de la clase: diez minutos si el grupo engancha. No hay respuesta correcta y conviene decirlo. La tercera pregunta es la que más aplica a la tecnicatura: una organización donde todos usan el mismo modelo para pensar es una organización con menos diversidad de ideas, aunque cada empleado individual rinda más.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el bloque acá y no en un tono triunfalista. Si algún estudiante se va pensando 'esto es todo hype', falló la clase; si se va pensando 'esto resuelve todo', falló igual.</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Retomar el conteo de manos de la slide 2 y cerrar ahí. Antes de irse: qué traer para la clase 2.</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4"/>
        </a:solidFill>
        <a:effectLst/>
      </p:bgPr>
    </p:bg>
    <p:spTree>
      <p:nvGrpSpPr>
        <p:cNvPr id="1" name=""/>
        <p:cNvGrpSpPr/>
        <p:nvPr/>
      </p:nvGrpSpPr>
      <p:grpSpPr>
        <a:xfrm>
          <a:off x="0" y="0"/>
          <a:ext cx="0" cy="0"/>
          <a:chOff x="0" y="0"/>
          <a:chExt cx="0" cy="0"/>
        </a:xfrm>
      </p:grpSpPr>
      <p:sp>
        <p:nvSpPr>
          <p:cNvPr id="2" name="Text 0"/>
          <p:cNvSpPr/>
          <p:nvPr/>
        </p:nvSpPr>
        <p:spPr>
          <a:xfrm>
            <a:off x="777240" y="1417320"/>
            <a:ext cx="10637215" cy="274320"/>
          </a:xfrm>
          <a:prstGeom prst="rect">
            <a:avLst/>
          </a:prstGeom>
          <a:noFill/>
          <a:ln/>
        </p:spPr>
        <p:txBody>
          <a:bodyPr wrap="square" lIns="0" tIns="0" rIns="0" bIns="0" rtlCol="0" anchor="ctr"/>
          <a:lstStyle/>
          <a:p>
            <a:pPr marL="0" indent="0">
              <a:buNone/>
            </a:pPr>
            <a:r>
              <a:rPr lang="en-US" sz="1150" b="1" kern="0" spc="300" dirty="0">
                <a:solidFill>
                  <a:srgbClr val="E04E39"/>
                </a:solidFill>
                <a:latin typeface="Arial" pitchFamily="34" charset="0"/>
                <a:ea typeface="Arial" pitchFamily="34" charset="-122"/>
                <a:cs typeface="Arial" pitchFamily="34" charset="-120"/>
              </a:rPr>
              <a:t>CLASE 1</a:t>
            </a:r>
            <a:endParaRPr lang="en-US" sz="1150" dirty="0"/>
          </a:p>
        </p:txBody>
      </p:sp>
      <p:sp>
        <p:nvSpPr>
          <p:cNvPr id="3" name="Text 1"/>
          <p:cNvSpPr/>
          <p:nvPr/>
        </p:nvSpPr>
        <p:spPr>
          <a:xfrm>
            <a:off x="777240" y="1874520"/>
            <a:ext cx="9509760" cy="1920240"/>
          </a:xfrm>
          <a:prstGeom prst="rect">
            <a:avLst/>
          </a:prstGeom>
          <a:noFill/>
          <a:ln/>
        </p:spPr>
        <p:txBody>
          <a:bodyPr wrap="square" lIns="0" tIns="0" rIns="0" bIns="0" rtlCol="0" anchor="ctr"/>
          <a:lstStyle/>
          <a:p>
            <a:pPr marL="0" indent="0">
              <a:lnSpc>
                <a:spcPts val="5600"/>
              </a:lnSpc>
              <a:buNone/>
            </a:pPr>
            <a:r>
              <a:rPr lang="en-US" sz="5000" b="1" dirty="0">
                <a:solidFill>
                  <a:srgbClr val="FFFFFF"/>
                </a:solidFill>
                <a:latin typeface="Arial" pitchFamily="34" charset="0"/>
                <a:ea typeface="Arial" pitchFamily="34" charset="-122"/>
                <a:cs typeface="Arial" pitchFamily="34" charset="-120"/>
              </a:rPr>
              <a:t>La IA está</a:t>
            </a:r>
            <a:endParaRPr lang="en-US" sz="5000" dirty="0"/>
          </a:p>
          <a:p>
            <a:pPr marL="0" indent="0">
              <a:lnSpc>
                <a:spcPts val="5600"/>
              </a:lnSpc>
              <a:buNone/>
            </a:pPr>
            <a:r>
              <a:rPr lang="en-US" sz="5000" b="1" dirty="0">
                <a:solidFill>
                  <a:srgbClr val="FFFFFF"/>
                </a:solidFill>
                <a:latin typeface="Arial" pitchFamily="34" charset="0"/>
                <a:ea typeface="Arial" pitchFamily="34" charset="-122"/>
                <a:cs typeface="Arial" pitchFamily="34" charset="-120"/>
              </a:rPr>
              <a:t>cambiando el mundo</a:t>
            </a:r>
            <a:endParaRPr lang="en-US" sz="5000" dirty="0"/>
          </a:p>
        </p:txBody>
      </p:sp>
      <p:sp>
        <p:nvSpPr>
          <p:cNvPr id="4" name="Text 2"/>
          <p:cNvSpPr/>
          <p:nvPr/>
        </p:nvSpPr>
        <p:spPr>
          <a:xfrm>
            <a:off x="777240" y="3977640"/>
            <a:ext cx="8686800" cy="411480"/>
          </a:xfrm>
          <a:prstGeom prst="rect">
            <a:avLst/>
          </a:prstGeom>
          <a:noFill/>
          <a:ln/>
        </p:spPr>
        <p:txBody>
          <a:bodyPr wrap="square" lIns="0" tIns="0" rIns="0" bIns="0" rtlCol="0" anchor="ctr"/>
          <a:lstStyle/>
          <a:p>
            <a:pPr marL="0" indent="0">
              <a:buNone/>
            </a:pPr>
            <a:r>
              <a:rPr lang="en-US" sz="1700" dirty="0">
                <a:solidFill>
                  <a:srgbClr val="B7B7BE"/>
                </a:solidFill>
                <a:latin typeface="Arial" pitchFamily="34" charset="0"/>
                <a:ea typeface="Arial" pitchFamily="34" charset="-122"/>
                <a:cs typeface="Arial" pitchFamily="34" charset="-120"/>
              </a:rPr>
              <a:t>Dónde está, hacia </a:t>
            </a:r>
            <a:r>
              <a:rPr lang="en-US" sz="1700" dirty="0" err="1">
                <a:solidFill>
                  <a:srgbClr val="B7B7BE"/>
                </a:solidFill>
                <a:latin typeface="Arial" pitchFamily="34" charset="0"/>
                <a:ea typeface="Arial" pitchFamily="34" charset="-122"/>
                <a:cs typeface="Arial" pitchFamily="34" charset="-120"/>
              </a:rPr>
              <a:t>dónde</a:t>
            </a:r>
            <a:r>
              <a:rPr lang="en-US" sz="1700" dirty="0">
                <a:solidFill>
                  <a:srgbClr val="B7B7BE"/>
                </a:solidFill>
                <a:latin typeface="Arial" pitchFamily="34" charset="0"/>
                <a:ea typeface="Arial" pitchFamily="34" charset="-122"/>
                <a:cs typeface="Arial" pitchFamily="34" charset="-120"/>
              </a:rPr>
              <a:t> </a:t>
            </a:r>
            <a:r>
              <a:rPr lang="en-US" sz="1700" dirty="0" err="1">
                <a:solidFill>
                  <a:srgbClr val="B7B7BE"/>
                </a:solidFill>
                <a:latin typeface="Arial" pitchFamily="34" charset="0"/>
                <a:ea typeface="Arial" pitchFamily="34" charset="-122"/>
                <a:cs typeface="Arial" pitchFamily="34" charset="-120"/>
              </a:rPr>
              <a:t>va.</a:t>
            </a:r>
            <a:endParaRPr lang="en-US" sz="1700" dirty="0"/>
          </a:p>
        </p:txBody>
      </p:sp>
      <p:sp>
        <p:nvSpPr>
          <p:cNvPr id="5" name="Shape 3"/>
          <p:cNvSpPr/>
          <p:nvPr/>
        </p:nvSpPr>
        <p:spPr>
          <a:xfrm>
            <a:off x="777240" y="4892040"/>
            <a:ext cx="1005840" cy="18288"/>
          </a:xfrm>
          <a:prstGeom prst="rect">
            <a:avLst/>
          </a:prstGeom>
          <a:solidFill>
            <a:srgbClr val="3A3A42"/>
          </a:solidFill>
          <a:ln w="12700">
            <a:solidFill>
              <a:srgbClr val="333333"/>
            </a:solidFill>
            <a:prstDash val="solid"/>
          </a:ln>
        </p:spPr>
        <p:txBody>
          <a:bodyPr/>
          <a:lstStyle/>
          <a:p>
            <a:endParaRPr lang="en-AR"/>
          </a:p>
        </p:txBody>
      </p:sp>
      <p:sp>
        <p:nvSpPr>
          <p:cNvPr id="6" name="Text 4"/>
          <p:cNvSpPr/>
          <p:nvPr/>
        </p:nvSpPr>
        <p:spPr>
          <a:xfrm>
            <a:off x="777240" y="5120640"/>
            <a:ext cx="8229600" cy="320040"/>
          </a:xfrm>
          <a:prstGeom prst="rect">
            <a:avLst/>
          </a:prstGeom>
          <a:noFill/>
          <a:ln/>
        </p:spPr>
        <p:txBody>
          <a:bodyPr wrap="square" lIns="0" tIns="0" rIns="0" bIns="0" rtlCol="0" anchor="ctr"/>
          <a:lstStyle/>
          <a:p>
            <a:pPr marL="0" indent="0">
              <a:buNone/>
            </a:pPr>
            <a:r>
              <a:rPr lang="en-US" sz="1200" dirty="0">
                <a:solidFill>
                  <a:srgbClr val="78787F"/>
                </a:solidFill>
                <a:latin typeface="Arial" pitchFamily="34" charset="0"/>
                <a:ea typeface="Arial" pitchFamily="34" charset="-122"/>
                <a:cs typeface="Arial" pitchFamily="34" charset="-120"/>
              </a:rPr>
              <a:t>Tecnicatura en IA en Organizaciones  ·  Agosto 2026</a:t>
            </a:r>
            <a:endParaRPr lang="en-US" sz="1200" dirty="0"/>
          </a:p>
        </p:txBody>
      </p:sp>
      <p:sp>
        <p:nvSpPr>
          <p:cNvPr id="7" name="Text 5"/>
          <p:cNvSpPr/>
          <p:nvPr/>
        </p:nvSpPr>
        <p:spPr>
          <a:xfrm>
            <a:off x="10865815" y="6291072"/>
            <a:ext cx="548640" cy="274320"/>
          </a:xfrm>
          <a:prstGeom prst="rect">
            <a:avLst/>
          </a:prstGeom>
          <a:noFill/>
          <a:ln/>
        </p:spPr>
        <p:txBody>
          <a:bodyPr wrap="square" lIns="0" tIns="0" rIns="0" bIns="0" rtlCol="0" anchor="ctr"/>
          <a:lstStyle/>
          <a:p>
            <a:pPr marL="0" indent="0" algn="r">
              <a:buNone/>
            </a:pPr>
            <a:r>
              <a:rPr lang="en-US" sz="900" dirty="0">
                <a:solidFill>
                  <a:srgbClr val="55555C"/>
                </a:solidFill>
                <a:latin typeface="Arial" pitchFamily="34" charset="0"/>
                <a:ea typeface="Arial" pitchFamily="34" charset="-122"/>
                <a:cs typeface="Arial"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420624"/>
            <a:ext cx="10637215" cy="237744"/>
          </a:xfrm>
          <a:prstGeom prst="rect">
            <a:avLst/>
          </a:prstGeom>
          <a:noFill/>
          <a:ln/>
        </p:spPr>
        <p:txBody>
          <a:bodyPr wrap="square" lIns="0" tIns="0" rIns="0" bIns="0" rtlCol="0" anchor="ctr"/>
          <a:lstStyle/>
          <a:p>
            <a:pPr marL="0" indent="0">
              <a:buNone/>
            </a:pPr>
            <a:r>
              <a:rPr lang="en-US" sz="1050" b="1" kern="0" spc="200" dirty="0">
                <a:solidFill>
                  <a:srgbClr val="E04E39"/>
                </a:solidFill>
                <a:latin typeface="Arial" pitchFamily="34" charset="0"/>
                <a:ea typeface="Arial" pitchFamily="34" charset="-122"/>
                <a:cs typeface="Arial" pitchFamily="34" charset="-120"/>
              </a:rPr>
              <a:t>PUNTO DE PARTIDA</a:t>
            </a:r>
            <a:endParaRPr lang="en-US" sz="1050" dirty="0"/>
          </a:p>
        </p:txBody>
      </p:sp>
      <p:sp>
        <p:nvSpPr>
          <p:cNvPr id="3" name="Text 1"/>
          <p:cNvSpPr/>
          <p:nvPr/>
        </p:nvSpPr>
        <p:spPr>
          <a:xfrm>
            <a:off x="777240" y="694944"/>
            <a:ext cx="10637215" cy="566928"/>
          </a:xfrm>
          <a:prstGeom prst="rect">
            <a:avLst/>
          </a:prstGeom>
          <a:noFill/>
          <a:ln/>
        </p:spPr>
        <p:txBody>
          <a:bodyPr wrap="square" lIns="0" tIns="0" rIns="0" bIns="0" rtlCol="0" anchor="t"/>
          <a:lstStyle/>
          <a:p>
            <a:pPr marL="0" indent="0">
              <a:lnSpc>
                <a:spcPts val="3400"/>
              </a:lnSpc>
              <a:buNone/>
            </a:pPr>
            <a:r>
              <a:rPr lang="en-US" sz="3000" b="1" dirty="0">
                <a:solidFill>
                  <a:srgbClr val="111114"/>
                </a:solidFill>
                <a:latin typeface="Arial" pitchFamily="34" charset="0"/>
                <a:ea typeface="Arial" pitchFamily="34" charset="-122"/>
                <a:cs typeface="Arial" pitchFamily="34" charset="-120"/>
              </a:rPr>
              <a:t>¿Qué es, en el fondo, la IA generativa?</a:t>
            </a:r>
            <a:endParaRPr lang="en-US" sz="3000" dirty="0"/>
          </a:p>
        </p:txBody>
      </p:sp>
      <p:sp>
        <p:nvSpPr>
          <p:cNvPr id="4" name="Shape 2"/>
          <p:cNvSpPr/>
          <p:nvPr/>
        </p:nvSpPr>
        <p:spPr>
          <a:xfrm>
            <a:off x="777240" y="1536192"/>
            <a:ext cx="3291840" cy="2487168"/>
          </a:xfrm>
          <a:prstGeom prst="roundRect">
            <a:avLst>
              <a:gd name="adj" fmla="val 2206"/>
            </a:avLst>
          </a:prstGeom>
          <a:solidFill>
            <a:srgbClr val="F6F6F5"/>
          </a:solidFill>
          <a:ln w="12700">
            <a:solidFill>
              <a:srgbClr val="F6F6F5"/>
            </a:solidFill>
            <a:prstDash val="solid"/>
          </a:ln>
        </p:spPr>
        <p:txBody>
          <a:bodyPr/>
          <a:lstStyle/>
          <a:p>
            <a:endParaRPr lang="en-AR"/>
          </a:p>
        </p:txBody>
      </p:sp>
      <p:sp>
        <p:nvSpPr>
          <p:cNvPr id="5" name="Text 3"/>
          <p:cNvSpPr/>
          <p:nvPr/>
        </p:nvSpPr>
        <p:spPr>
          <a:xfrm>
            <a:off x="1097280" y="1755648"/>
            <a:ext cx="914400" cy="320040"/>
          </a:xfrm>
          <a:prstGeom prst="rect">
            <a:avLst/>
          </a:prstGeom>
          <a:noFill/>
          <a:ln/>
        </p:spPr>
        <p:txBody>
          <a:bodyPr wrap="square" lIns="0" tIns="0" rIns="0" bIns="0" rtlCol="0" anchor="ctr"/>
          <a:lstStyle/>
          <a:p>
            <a:pPr marL="0" indent="0">
              <a:buNone/>
            </a:pPr>
            <a:r>
              <a:rPr lang="en-US" sz="1300" b="1" dirty="0">
                <a:solidFill>
                  <a:srgbClr val="E04E39"/>
                </a:solidFill>
                <a:latin typeface="Arial" pitchFamily="34" charset="0"/>
                <a:ea typeface="Arial" pitchFamily="34" charset="-122"/>
                <a:cs typeface="Arial" pitchFamily="34" charset="-120"/>
              </a:rPr>
              <a:t>01</a:t>
            </a:r>
            <a:endParaRPr lang="en-US" sz="1300" dirty="0"/>
          </a:p>
        </p:txBody>
      </p:sp>
      <p:sp>
        <p:nvSpPr>
          <p:cNvPr id="6" name="Text 4"/>
          <p:cNvSpPr/>
          <p:nvPr/>
        </p:nvSpPr>
        <p:spPr>
          <a:xfrm>
            <a:off x="1097280" y="2121408"/>
            <a:ext cx="2651760" cy="365760"/>
          </a:xfrm>
          <a:prstGeom prst="rect">
            <a:avLst/>
          </a:prstGeom>
          <a:noFill/>
          <a:ln/>
        </p:spPr>
        <p:txBody>
          <a:bodyPr wrap="square" lIns="0" tIns="0" rIns="0" bIns="0" rtlCol="0" anchor="ctr"/>
          <a:lstStyle/>
          <a:p>
            <a:pPr marL="0" indent="0">
              <a:buNone/>
            </a:pPr>
            <a:r>
              <a:rPr lang="en-US" sz="1700" b="1" dirty="0">
                <a:solidFill>
                  <a:srgbClr val="111114"/>
                </a:solidFill>
                <a:latin typeface="Arial" pitchFamily="34" charset="0"/>
                <a:ea typeface="Arial" pitchFamily="34" charset="-122"/>
                <a:cs typeface="Arial" pitchFamily="34" charset="-120"/>
              </a:rPr>
              <a:t>Se entrena con datos</a:t>
            </a:r>
            <a:endParaRPr lang="en-US" sz="1700" dirty="0"/>
          </a:p>
        </p:txBody>
      </p:sp>
      <p:sp>
        <p:nvSpPr>
          <p:cNvPr id="7" name="Text 5"/>
          <p:cNvSpPr/>
          <p:nvPr/>
        </p:nvSpPr>
        <p:spPr>
          <a:xfrm>
            <a:off x="1097280" y="2578608"/>
            <a:ext cx="2651760" cy="1188720"/>
          </a:xfrm>
          <a:prstGeom prst="rect">
            <a:avLst/>
          </a:prstGeom>
          <a:noFill/>
          <a:ln/>
        </p:spPr>
        <p:txBody>
          <a:bodyPr wrap="square" lIns="0" tIns="0" rIns="0" bIns="0" rtlCol="0" anchor="t"/>
          <a:lstStyle/>
          <a:p>
            <a:pPr marL="0" indent="0">
              <a:lnSpc>
                <a:spcPts val="1650"/>
              </a:lnSpc>
              <a:buNone/>
            </a:pPr>
            <a:r>
              <a:rPr lang="en-US" sz="1200" dirty="0">
                <a:solidFill>
                  <a:srgbClr val="55555C"/>
                </a:solidFill>
                <a:latin typeface="Arial" pitchFamily="34" charset="0"/>
                <a:ea typeface="Arial" pitchFamily="34" charset="-122"/>
                <a:cs typeface="Arial" pitchFamily="34" charset="-120"/>
              </a:rPr>
              <a:t>Se le muestra casi todo lo que se escribió: internet, libros, código, papers. Le tapan la palabra que sigue, intenta adivinarla, se mide el error y se ajusta. Miles de millones de veces.</a:t>
            </a:r>
            <a:endParaRPr lang="en-US" sz="1200" dirty="0"/>
          </a:p>
        </p:txBody>
      </p:sp>
      <p:sp>
        <p:nvSpPr>
          <p:cNvPr id="8" name="Shape 6"/>
          <p:cNvSpPr/>
          <p:nvPr/>
        </p:nvSpPr>
        <p:spPr>
          <a:xfrm>
            <a:off x="4453128" y="1536192"/>
            <a:ext cx="3291840" cy="2487168"/>
          </a:xfrm>
          <a:prstGeom prst="roundRect">
            <a:avLst>
              <a:gd name="adj" fmla="val 2206"/>
            </a:avLst>
          </a:prstGeom>
          <a:solidFill>
            <a:srgbClr val="F6F6F5"/>
          </a:solidFill>
          <a:ln w="12700">
            <a:solidFill>
              <a:srgbClr val="F6F6F5"/>
            </a:solidFill>
            <a:prstDash val="solid"/>
          </a:ln>
        </p:spPr>
        <p:txBody>
          <a:bodyPr/>
          <a:lstStyle/>
          <a:p>
            <a:endParaRPr lang="en-AR"/>
          </a:p>
        </p:txBody>
      </p:sp>
      <p:sp>
        <p:nvSpPr>
          <p:cNvPr id="9" name="Text 7"/>
          <p:cNvSpPr/>
          <p:nvPr/>
        </p:nvSpPr>
        <p:spPr>
          <a:xfrm>
            <a:off x="4773168" y="1755648"/>
            <a:ext cx="914400" cy="320040"/>
          </a:xfrm>
          <a:prstGeom prst="rect">
            <a:avLst/>
          </a:prstGeom>
          <a:noFill/>
          <a:ln/>
        </p:spPr>
        <p:txBody>
          <a:bodyPr wrap="square" lIns="0" tIns="0" rIns="0" bIns="0" rtlCol="0" anchor="ctr"/>
          <a:lstStyle/>
          <a:p>
            <a:pPr marL="0" indent="0">
              <a:buNone/>
            </a:pPr>
            <a:r>
              <a:rPr lang="en-US" sz="1300" b="1" dirty="0">
                <a:solidFill>
                  <a:srgbClr val="E04E39"/>
                </a:solidFill>
                <a:latin typeface="Arial" pitchFamily="34" charset="0"/>
                <a:ea typeface="Arial" pitchFamily="34" charset="-122"/>
                <a:cs typeface="Arial" pitchFamily="34" charset="-120"/>
              </a:rPr>
              <a:t>02</a:t>
            </a:r>
            <a:endParaRPr lang="en-US" sz="1300" dirty="0"/>
          </a:p>
        </p:txBody>
      </p:sp>
      <p:sp>
        <p:nvSpPr>
          <p:cNvPr id="10" name="Text 8"/>
          <p:cNvSpPr/>
          <p:nvPr/>
        </p:nvSpPr>
        <p:spPr>
          <a:xfrm>
            <a:off x="4773168" y="2121408"/>
            <a:ext cx="2651760" cy="365760"/>
          </a:xfrm>
          <a:prstGeom prst="rect">
            <a:avLst/>
          </a:prstGeom>
          <a:noFill/>
          <a:ln/>
        </p:spPr>
        <p:txBody>
          <a:bodyPr wrap="square" lIns="0" tIns="0" rIns="0" bIns="0" rtlCol="0" anchor="ctr"/>
          <a:lstStyle/>
          <a:p>
            <a:pPr marL="0" indent="0">
              <a:buNone/>
            </a:pPr>
            <a:r>
              <a:rPr lang="en-US" sz="1700" b="1" dirty="0">
                <a:solidFill>
                  <a:srgbClr val="111114"/>
                </a:solidFill>
                <a:latin typeface="Arial" pitchFamily="34" charset="0"/>
                <a:ea typeface="Arial" pitchFamily="34" charset="-122"/>
                <a:cs typeface="Arial" pitchFamily="34" charset="-120"/>
              </a:rPr>
              <a:t>Es un predictor</a:t>
            </a:r>
            <a:endParaRPr lang="en-US" sz="1700" dirty="0"/>
          </a:p>
        </p:txBody>
      </p:sp>
      <p:sp>
        <p:nvSpPr>
          <p:cNvPr id="11" name="Text 9"/>
          <p:cNvSpPr/>
          <p:nvPr/>
        </p:nvSpPr>
        <p:spPr>
          <a:xfrm>
            <a:off x="4773168" y="2578608"/>
            <a:ext cx="2651760" cy="1188720"/>
          </a:xfrm>
          <a:prstGeom prst="rect">
            <a:avLst/>
          </a:prstGeom>
          <a:noFill/>
          <a:ln/>
        </p:spPr>
        <p:txBody>
          <a:bodyPr wrap="square" lIns="0" tIns="0" rIns="0" bIns="0" rtlCol="0" anchor="t"/>
          <a:lstStyle/>
          <a:p>
            <a:pPr marL="0" indent="0">
              <a:lnSpc>
                <a:spcPts val="1650"/>
              </a:lnSpc>
              <a:buNone/>
            </a:pPr>
            <a:r>
              <a:rPr lang="en-US" sz="1200" dirty="0">
                <a:solidFill>
                  <a:srgbClr val="55555C"/>
                </a:solidFill>
                <a:latin typeface="Arial" pitchFamily="34" charset="0"/>
                <a:ea typeface="Arial" pitchFamily="34" charset="-122"/>
                <a:cs typeface="Arial" pitchFamily="34" charset="-120"/>
              </a:rPr>
              <a:t>No consulta una base de datos ni sigue reglas que alguien escribió. Dado un texto, calcula qué fragmento de palabra es más probable que venga después. Lo agrega, y vuelve a empezar. Eso es todo lo que hace.</a:t>
            </a:r>
            <a:endParaRPr lang="en-US" sz="1200" dirty="0"/>
          </a:p>
        </p:txBody>
      </p:sp>
      <p:sp>
        <p:nvSpPr>
          <p:cNvPr id="12" name="Shape 10"/>
          <p:cNvSpPr/>
          <p:nvPr/>
        </p:nvSpPr>
        <p:spPr>
          <a:xfrm>
            <a:off x="8129016" y="1536192"/>
            <a:ext cx="3291840" cy="2487168"/>
          </a:xfrm>
          <a:prstGeom prst="roundRect">
            <a:avLst>
              <a:gd name="adj" fmla="val 2206"/>
            </a:avLst>
          </a:prstGeom>
          <a:solidFill>
            <a:srgbClr val="F6F6F5"/>
          </a:solidFill>
          <a:ln w="12700">
            <a:solidFill>
              <a:srgbClr val="F6F6F5"/>
            </a:solidFill>
            <a:prstDash val="solid"/>
          </a:ln>
        </p:spPr>
        <p:txBody>
          <a:bodyPr/>
          <a:lstStyle/>
          <a:p>
            <a:endParaRPr lang="en-AR"/>
          </a:p>
        </p:txBody>
      </p:sp>
      <p:sp>
        <p:nvSpPr>
          <p:cNvPr id="13" name="Text 11"/>
          <p:cNvSpPr/>
          <p:nvPr/>
        </p:nvSpPr>
        <p:spPr>
          <a:xfrm>
            <a:off x="8449056" y="1755648"/>
            <a:ext cx="914400" cy="320040"/>
          </a:xfrm>
          <a:prstGeom prst="rect">
            <a:avLst/>
          </a:prstGeom>
          <a:noFill/>
          <a:ln/>
        </p:spPr>
        <p:txBody>
          <a:bodyPr wrap="square" lIns="0" tIns="0" rIns="0" bIns="0" rtlCol="0" anchor="ctr"/>
          <a:lstStyle/>
          <a:p>
            <a:pPr marL="0" indent="0">
              <a:buNone/>
            </a:pPr>
            <a:r>
              <a:rPr lang="en-US" sz="1300" b="1" dirty="0">
                <a:solidFill>
                  <a:srgbClr val="E04E39"/>
                </a:solidFill>
                <a:latin typeface="Arial" pitchFamily="34" charset="0"/>
                <a:ea typeface="Arial" pitchFamily="34" charset="-122"/>
                <a:cs typeface="Arial" pitchFamily="34" charset="-120"/>
              </a:rPr>
              <a:t>03</a:t>
            </a:r>
            <a:endParaRPr lang="en-US" sz="1300" dirty="0"/>
          </a:p>
        </p:txBody>
      </p:sp>
      <p:sp>
        <p:nvSpPr>
          <p:cNvPr id="14" name="Text 12"/>
          <p:cNvSpPr/>
          <p:nvPr/>
        </p:nvSpPr>
        <p:spPr>
          <a:xfrm>
            <a:off x="8449056" y="2121408"/>
            <a:ext cx="2651760" cy="365760"/>
          </a:xfrm>
          <a:prstGeom prst="rect">
            <a:avLst/>
          </a:prstGeom>
          <a:noFill/>
          <a:ln/>
        </p:spPr>
        <p:txBody>
          <a:bodyPr wrap="square" lIns="0" tIns="0" rIns="0" bIns="0" rtlCol="0" anchor="ctr"/>
          <a:lstStyle/>
          <a:p>
            <a:pPr marL="0" indent="0">
              <a:buNone/>
            </a:pPr>
            <a:r>
              <a:rPr lang="en-US" sz="1700" b="1" dirty="0">
                <a:solidFill>
                  <a:srgbClr val="111114"/>
                </a:solidFill>
                <a:latin typeface="Arial" pitchFamily="34" charset="0"/>
                <a:ea typeface="Arial" pitchFamily="34" charset="-122"/>
                <a:cs typeface="Arial" pitchFamily="34" charset="-120"/>
              </a:rPr>
              <a:t>Se ajusta con humanos</a:t>
            </a:r>
            <a:endParaRPr lang="en-US" sz="1700" dirty="0"/>
          </a:p>
        </p:txBody>
      </p:sp>
      <p:sp>
        <p:nvSpPr>
          <p:cNvPr id="15" name="Text 13"/>
          <p:cNvSpPr/>
          <p:nvPr/>
        </p:nvSpPr>
        <p:spPr>
          <a:xfrm>
            <a:off x="8449056" y="2578608"/>
            <a:ext cx="2651760" cy="1188720"/>
          </a:xfrm>
          <a:prstGeom prst="rect">
            <a:avLst/>
          </a:prstGeom>
          <a:noFill/>
          <a:ln/>
        </p:spPr>
        <p:txBody>
          <a:bodyPr wrap="square" lIns="0" tIns="0" rIns="0" bIns="0" rtlCol="0" anchor="t"/>
          <a:lstStyle/>
          <a:p>
            <a:pPr marL="0" indent="0">
              <a:lnSpc>
                <a:spcPts val="1650"/>
              </a:lnSpc>
              <a:buNone/>
            </a:pPr>
            <a:r>
              <a:rPr lang="en-US" sz="1200" dirty="0">
                <a:solidFill>
                  <a:srgbClr val="55555C"/>
                </a:solidFill>
                <a:latin typeface="Arial" pitchFamily="34" charset="0"/>
                <a:ea typeface="Arial" pitchFamily="34" charset="-122"/>
                <a:cs typeface="Arial" pitchFamily="34" charset="-120"/>
              </a:rPr>
              <a:t>Sobre ese entrenamiento bruto, personas corrigen y puntúan sus respuestas para que sea útil, siga instrucciones y no diga cualquier cosa. Recién ahí aparece el asistente que conocemos.</a:t>
            </a:r>
            <a:endParaRPr lang="en-US" sz="1200" dirty="0"/>
          </a:p>
        </p:txBody>
      </p:sp>
      <p:sp>
        <p:nvSpPr>
          <p:cNvPr id="16" name="Shape 14"/>
          <p:cNvSpPr/>
          <p:nvPr/>
        </p:nvSpPr>
        <p:spPr>
          <a:xfrm>
            <a:off x="777240" y="4224528"/>
            <a:ext cx="10637215" cy="1783080"/>
          </a:xfrm>
          <a:prstGeom prst="roundRect">
            <a:avLst>
              <a:gd name="adj" fmla="val 3077"/>
            </a:avLst>
          </a:prstGeom>
          <a:solidFill>
            <a:srgbClr val="111114"/>
          </a:solidFill>
          <a:ln w="12700">
            <a:solidFill>
              <a:srgbClr val="111114"/>
            </a:solidFill>
            <a:prstDash val="solid"/>
          </a:ln>
        </p:spPr>
        <p:txBody>
          <a:bodyPr/>
          <a:lstStyle/>
          <a:p>
            <a:endParaRPr lang="en-AR"/>
          </a:p>
        </p:txBody>
      </p:sp>
      <p:sp>
        <p:nvSpPr>
          <p:cNvPr id="17" name="Text 15"/>
          <p:cNvSpPr/>
          <p:nvPr/>
        </p:nvSpPr>
        <p:spPr>
          <a:xfrm>
            <a:off x="1234440" y="4462272"/>
            <a:ext cx="4206240" cy="274320"/>
          </a:xfrm>
          <a:prstGeom prst="rect">
            <a:avLst/>
          </a:prstGeom>
          <a:noFill/>
          <a:ln/>
        </p:spPr>
        <p:txBody>
          <a:bodyPr wrap="square" lIns="0" tIns="0" rIns="0" bIns="0" rtlCol="0" anchor="ctr"/>
          <a:lstStyle/>
          <a:p>
            <a:pPr marL="0" indent="0">
              <a:buNone/>
            </a:pPr>
            <a:r>
              <a:rPr lang="en-US" sz="1000" b="1" kern="0" spc="150" dirty="0">
                <a:solidFill>
                  <a:srgbClr val="E04E39"/>
                </a:solidFill>
                <a:latin typeface="Arial" pitchFamily="34" charset="0"/>
                <a:ea typeface="Arial" pitchFamily="34" charset="-122"/>
                <a:cs typeface="Arial" pitchFamily="34" charset="-120"/>
              </a:rPr>
              <a:t>LO QUE NADIE ESPERABA</a:t>
            </a:r>
            <a:endParaRPr lang="en-US" sz="1000" dirty="0"/>
          </a:p>
        </p:txBody>
      </p:sp>
      <p:sp>
        <p:nvSpPr>
          <p:cNvPr id="18" name="Text 16"/>
          <p:cNvSpPr/>
          <p:nvPr/>
        </p:nvSpPr>
        <p:spPr>
          <a:xfrm>
            <a:off x="1234440" y="4809744"/>
            <a:ext cx="4663440" cy="1005840"/>
          </a:xfrm>
          <a:prstGeom prst="rect">
            <a:avLst/>
          </a:prstGeom>
          <a:noFill/>
          <a:ln/>
        </p:spPr>
        <p:txBody>
          <a:bodyPr wrap="square" lIns="0" tIns="0" rIns="0" bIns="0" rtlCol="0" anchor="t"/>
          <a:lstStyle/>
          <a:p>
            <a:pPr marL="0" indent="0">
              <a:lnSpc>
                <a:spcPts val="1900"/>
              </a:lnSpc>
              <a:buNone/>
            </a:pPr>
            <a:r>
              <a:rPr lang="en-US" sz="1350" dirty="0">
                <a:solidFill>
                  <a:srgbClr val="FFFFFF"/>
                </a:solidFill>
                <a:latin typeface="Arial" pitchFamily="34" charset="0"/>
                <a:ea typeface="Arial" pitchFamily="34" charset="-122"/>
                <a:cs typeface="Arial" pitchFamily="34" charset="-120"/>
              </a:rPr>
              <a:t>De un mecanismo tan simple —predecir lo que sigue— emergieron capacidades que nadie programó: traducir, razonar paso a paso, escribir código. Aparecieron solas, al escalar.</a:t>
            </a:r>
            <a:endParaRPr lang="en-US" sz="1350" dirty="0"/>
          </a:p>
        </p:txBody>
      </p:sp>
      <p:sp>
        <p:nvSpPr>
          <p:cNvPr id="19" name="Text 17"/>
          <p:cNvSpPr/>
          <p:nvPr/>
        </p:nvSpPr>
        <p:spPr>
          <a:xfrm>
            <a:off x="6583680" y="4462272"/>
            <a:ext cx="4206240" cy="274320"/>
          </a:xfrm>
          <a:prstGeom prst="rect">
            <a:avLst/>
          </a:prstGeom>
          <a:noFill/>
          <a:ln/>
        </p:spPr>
        <p:txBody>
          <a:bodyPr wrap="square" lIns="0" tIns="0" rIns="0" bIns="0" rtlCol="0" anchor="ctr"/>
          <a:lstStyle/>
          <a:p>
            <a:pPr marL="0" indent="0">
              <a:buNone/>
            </a:pPr>
            <a:r>
              <a:rPr lang="en-US" sz="1000" b="1" kern="0" spc="150" dirty="0">
                <a:solidFill>
                  <a:srgbClr val="E04E39"/>
                </a:solidFill>
                <a:latin typeface="Arial" pitchFamily="34" charset="0"/>
                <a:ea typeface="Arial" pitchFamily="34" charset="-122"/>
                <a:cs typeface="Arial" pitchFamily="34" charset="-120"/>
              </a:rPr>
              <a:t>Y POR QUÉ ALUCINA</a:t>
            </a:r>
            <a:endParaRPr lang="en-US" sz="1000" dirty="0"/>
          </a:p>
        </p:txBody>
      </p:sp>
      <p:sp>
        <p:nvSpPr>
          <p:cNvPr id="20" name="Text 18"/>
          <p:cNvSpPr/>
          <p:nvPr/>
        </p:nvSpPr>
        <p:spPr>
          <a:xfrm>
            <a:off x="6583680" y="4809744"/>
            <a:ext cx="4663440" cy="1005840"/>
          </a:xfrm>
          <a:prstGeom prst="rect">
            <a:avLst/>
          </a:prstGeom>
          <a:noFill/>
          <a:ln/>
        </p:spPr>
        <p:txBody>
          <a:bodyPr wrap="square" lIns="0" tIns="0" rIns="0" bIns="0" rtlCol="0" anchor="t"/>
          <a:lstStyle/>
          <a:p>
            <a:pPr marL="0" indent="0">
              <a:lnSpc>
                <a:spcPts val="1900"/>
              </a:lnSpc>
              <a:buNone/>
            </a:pPr>
            <a:r>
              <a:rPr lang="en-US" sz="1350" dirty="0">
                <a:solidFill>
                  <a:srgbClr val="FFFFFF"/>
                </a:solidFill>
                <a:latin typeface="Arial" pitchFamily="34" charset="0"/>
                <a:ea typeface="Arial" pitchFamily="34" charset="-122"/>
                <a:cs typeface="Arial" pitchFamily="34" charset="-120"/>
              </a:rPr>
              <a:t>Si siempre devuelve lo más plausible, no tiene un mecanismo propio para decir “no sé”. Una respuesta falsa y una verdadera se generan exactamente de la misma manera.</a:t>
            </a:r>
            <a:endParaRPr lang="en-US" sz="1350" dirty="0"/>
          </a:p>
        </p:txBody>
      </p:sp>
      <p:sp>
        <p:nvSpPr>
          <p:cNvPr id="21" name="Text 19"/>
          <p:cNvSpPr/>
          <p:nvPr/>
        </p:nvSpPr>
        <p:spPr>
          <a:xfrm>
            <a:off x="10865815" y="6291072"/>
            <a:ext cx="548640" cy="274320"/>
          </a:xfrm>
          <a:prstGeom prst="rect">
            <a:avLst/>
          </a:prstGeom>
          <a:noFill/>
          <a:ln/>
        </p:spPr>
        <p:txBody>
          <a:bodyPr wrap="square" lIns="0" tIns="0" rIns="0" bIns="0" rtlCol="0" anchor="ctr"/>
          <a:lstStyle/>
          <a:p>
            <a:pPr marL="0" indent="0" algn="r">
              <a:buNone/>
            </a:pPr>
            <a:r>
              <a:rPr lang="en-US" sz="900" dirty="0">
                <a:solidFill>
                  <a:srgbClr val="9A9AA0"/>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6">
    <p:bg>
      <p:bgPr>
        <a:solidFill>
          <a:srgbClr val="111114"/>
        </a:solidFill>
        <a:effectLst/>
      </p:bgPr>
    </p:bg>
    <p:spTree>
      <p:nvGrpSpPr>
        <p:cNvPr id="1" name=""/>
        <p:cNvGrpSpPr/>
        <p:nvPr/>
      </p:nvGrpSpPr>
      <p:grpSpPr>
        <a:xfrm>
          <a:off x="0" y="0"/>
          <a:ext cx="0" cy="0"/>
          <a:chOff x="0" y="0"/>
          <a:chExt cx="0" cy="0"/>
        </a:xfrm>
      </p:grpSpPr>
      <p:sp>
        <p:nvSpPr>
          <p:cNvPr id="2" name="Text 0"/>
          <p:cNvSpPr/>
          <p:nvPr/>
        </p:nvSpPr>
        <p:spPr>
          <a:xfrm>
            <a:off x="777240" y="1371600"/>
            <a:ext cx="1828800" cy="822960"/>
          </a:xfrm>
          <a:prstGeom prst="rect">
            <a:avLst/>
          </a:prstGeom>
          <a:noFill/>
          <a:ln/>
        </p:spPr>
        <p:txBody>
          <a:bodyPr wrap="square" lIns="0" tIns="0" rIns="0" bIns="0" rtlCol="0" anchor="ctr"/>
          <a:lstStyle/>
          <a:p>
            <a:pPr marL="0" indent="0">
              <a:buNone/>
            </a:pPr>
            <a:r>
              <a:rPr lang="en-US" sz="1500" b="1" kern="0" spc="300" dirty="0">
                <a:solidFill>
                  <a:srgbClr val="E04E39"/>
                </a:solidFill>
                <a:latin typeface="Arial" pitchFamily="34" charset="0"/>
                <a:ea typeface="Arial" pitchFamily="34" charset="-122"/>
                <a:cs typeface="Arial" pitchFamily="34" charset="-120"/>
              </a:rPr>
              <a:t>01</a:t>
            </a:r>
            <a:endParaRPr lang="en-US" sz="1500" dirty="0"/>
          </a:p>
        </p:txBody>
      </p:sp>
      <p:sp>
        <p:nvSpPr>
          <p:cNvPr id="3" name="Text 1"/>
          <p:cNvSpPr/>
          <p:nvPr/>
        </p:nvSpPr>
        <p:spPr>
          <a:xfrm>
            <a:off x="777240" y="1783080"/>
            <a:ext cx="7315200" cy="731520"/>
          </a:xfrm>
          <a:prstGeom prst="rect">
            <a:avLst/>
          </a:prstGeom>
          <a:noFill/>
          <a:ln/>
        </p:spPr>
        <p:txBody>
          <a:bodyPr wrap="square" lIns="0" tIns="0" rIns="0" bIns="0" rtlCol="0" anchor="ctr"/>
          <a:lstStyle/>
          <a:p>
            <a:pPr marL="0" indent="0">
              <a:buNone/>
            </a:pPr>
            <a:r>
              <a:rPr lang="en-US" sz="2000" dirty="0">
                <a:solidFill>
                  <a:srgbClr val="8A8A92"/>
                </a:solidFill>
                <a:latin typeface="Arial" pitchFamily="34" charset="0"/>
                <a:ea typeface="Arial" pitchFamily="34" charset="-122"/>
                <a:cs typeface="Arial" pitchFamily="34" charset="-120"/>
              </a:rPr>
              <a:t>El mapa</a:t>
            </a:r>
            <a:endParaRPr lang="en-US" sz="2000" dirty="0"/>
          </a:p>
        </p:txBody>
      </p:sp>
      <p:sp>
        <p:nvSpPr>
          <p:cNvPr id="4" name="Text 2"/>
          <p:cNvSpPr/>
          <p:nvPr/>
        </p:nvSpPr>
        <p:spPr>
          <a:xfrm>
            <a:off x="777240" y="2651760"/>
            <a:ext cx="9601200" cy="2194560"/>
          </a:xfrm>
          <a:prstGeom prst="rect">
            <a:avLst/>
          </a:prstGeom>
          <a:noFill/>
          <a:ln/>
        </p:spPr>
        <p:txBody>
          <a:bodyPr wrap="square" lIns="0" tIns="0" rIns="0" bIns="0" rtlCol="0" anchor="ctr"/>
          <a:lstStyle/>
          <a:p>
            <a:pPr marL="0" indent="0">
              <a:lnSpc>
                <a:spcPts val="4800"/>
              </a:lnSpc>
              <a:buNone/>
            </a:pPr>
            <a:r>
              <a:rPr lang="en-US" sz="3800" b="1" dirty="0">
                <a:solidFill>
                  <a:srgbClr val="FFFFFF"/>
                </a:solidFill>
                <a:latin typeface="Arial" pitchFamily="34" charset="0"/>
                <a:ea typeface="Arial" pitchFamily="34" charset="-122"/>
                <a:cs typeface="Arial" pitchFamily="34" charset="-120"/>
              </a:rPr>
              <a:t>“¿Cómo sabemos si esto</a:t>
            </a:r>
            <a:endParaRPr lang="en-US" sz="3800" dirty="0"/>
          </a:p>
          <a:p>
            <a:pPr marL="0" indent="0">
              <a:lnSpc>
                <a:spcPts val="4800"/>
              </a:lnSpc>
              <a:buNone/>
            </a:pPr>
            <a:r>
              <a:rPr lang="en-US" sz="3800" b="1" dirty="0">
                <a:solidFill>
                  <a:srgbClr val="FFFFFF"/>
                </a:solidFill>
                <a:latin typeface="Arial" pitchFamily="34" charset="0"/>
                <a:ea typeface="Arial" pitchFamily="34" charset="-122"/>
                <a:cs typeface="Arial" pitchFamily="34" charset="-120"/>
              </a:rPr>
              <a:t>está avanzando de verdad,</a:t>
            </a:r>
            <a:endParaRPr lang="en-US" sz="3800" dirty="0"/>
          </a:p>
          <a:p>
            <a:pPr marL="0" indent="0">
              <a:lnSpc>
                <a:spcPts val="4800"/>
              </a:lnSpc>
              <a:buNone/>
            </a:pPr>
            <a:r>
              <a:rPr lang="en-US" sz="3800" b="1" dirty="0">
                <a:solidFill>
                  <a:srgbClr val="FFFFFF"/>
                </a:solidFill>
                <a:latin typeface="Arial" pitchFamily="34" charset="0"/>
                <a:ea typeface="Arial" pitchFamily="34" charset="-122"/>
                <a:cs typeface="Arial" pitchFamily="34" charset="-120"/>
              </a:rPr>
              <a:t>o si es hype?”</a:t>
            </a:r>
            <a:endParaRPr lang="en-US" sz="3800" dirty="0"/>
          </a:p>
        </p:txBody>
      </p:sp>
      <p:sp>
        <p:nvSpPr>
          <p:cNvPr id="5" name="Text 3"/>
          <p:cNvSpPr/>
          <p:nvPr/>
        </p:nvSpPr>
        <p:spPr>
          <a:xfrm>
            <a:off x="777240" y="5029200"/>
            <a:ext cx="7315200" cy="365760"/>
          </a:xfrm>
          <a:prstGeom prst="rect">
            <a:avLst/>
          </a:prstGeom>
          <a:noFill/>
          <a:ln/>
        </p:spPr>
        <p:txBody>
          <a:bodyPr wrap="square" lIns="0" tIns="0" rIns="0" bIns="0" rtlCol="0" anchor="ctr"/>
          <a:lstStyle/>
          <a:p>
            <a:pPr marL="0" indent="0">
              <a:buNone/>
            </a:pPr>
            <a:r>
              <a:rPr lang="en-US" sz="1500" dirty="0">
                <a:solidFill>
                  <a:srgbClr val="8A8A92"/>
                </a:solidFill>
                <a:latin typeface="Arial" pitchFamily="34" charset="0"/>
                <a:ea typeface="Arial" pitchFamily="34" charset="-122"/>
                <a:cs typeface="Arial" pitchFamily="34" charset="-120"/>
              </a:rPr>
              <a:t>Necesitamos un mapa.</a:t>
            </a:r>
            <a:endParaRPr lang="en-US" sz="1500" dirty="0"/>
          </a:p>
        </p:txBody>
      </p:sp>
      <p:sp>
        <p:nvSpPr>
          <p:cNvPr id="6" name="Text 4"/>
          <p:cNvSpPr/>
          <p:nvPr/>
        </p:nvSpPr>
        <p:spPr>
          <a:xfrm>
            <a:off x="10865815" y="6291072"/>
            <a:ext cx="548640" cy="274320"/>
          </a:xfrm>
          <a:prstGeom prst="rect">
            <a:avLst/>
          </a:prstGeom>
          <a:noFill/>
          <a:ln/>
        </p:spPr>
        <p:txBody>
          <a:bodyPr wrap="square" lIns="0" tIns="0" rIns="0" bIns="0" rtlCol="0" anchor="ctr"/>
          <a:lstStyle/>
          <a:p>
            <a:pPr marL="0" indent="0" algn="r">
              <a:buNone/>
            </a:pPr>
            <a:r>
              <a:rPr lang="en-US" sz="900" dirty="0">
                <a:solidFill>
                  <a:srgbClr val="55555C"/>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420624"/>
            <a:ext cx="10637215" cy="237744"/>
          </a:xfrm>
          <a:prstGeom prst="rect">
            <a:avLst/>
          </a:prstGeom>
          <a:noFill/>
          <a:ln/>
        </p:spPr>
        <p:txBody>
          <a:bodyPr wrap="square" lIns="0" tIns="0" rIns="0" bIns="0" rtlCol="0" anchor="ctr"/>
          <a:lstStyle/>
          <a:p>
            <a:pPr marL="0" indent="0">
              <a:buNone/>
            </a:pPr>
            <a:r>
              <a:rPr lang="en-US" sz="1050" b="1" kern="0" spc="200" dirty="0">
                <a:solidFill>
                  <a:srgbClr val="E04E39"/>
                </a:solidFill>
                <a:latin typeface="Arial" pitchFamily="34" charset="0"/>
                <a:ea typeface="Arial" pitchFamily="34" charset="-122"/>
                <a:cs typeface="Arial" pitchFamily="34" charset="-120"/>
              </a:rPr>
              <a:t>JULIO 2024</a:t>
            </a:r>
            <a:endParaRPr lang="en-US" sz="1050" dirty="0"/>
          </a:p>
        </p:txBody>
      </p:sp>
      <p:sp>
        <p:nvSpPr>
          <p:cNvPr id="3" name="Text 1"/>
          <p:cNvSpPr/>
          <p:nvPr/>
        </p:nvSpPr>
        <p:spPr>
          <a:xfrm>
            <a:off x="777240" y="694944"/>
            <a:ext cx="10637215" cy="566928"/>
          </a:xfrm>
          <a:prstGeom prst="rect">
            <a:avLst/>
          </a:prstGeom>
          <a:noFill/>
          <a:ln/>
        </p:spPr>
        <p:txBody>
          <a:bodyPr wrap="square" lIns="0" tIns="0" rIns="0" bIns="0" rtlCol="0" anchor="t"/>
          <a:lstStyle/>
          <a:p>
            <a:pPr marL="0" indent="0">
              <a:lnSpc>
                <a:spcPts val="3400"/>
              </a:lnSpc>
              <a:buNone/>
            </a:pPr>
            <a:r>
              <a:rPr lang="en-US" sz="3000" b="1" dirty="0">
                <a:solidFill>
                  <a:srgbClr val="111114"/>
                </a:solidFill>
                <a:latin typeface="Arial" pitchFamily="34" charset="0"/>
                <a:ea typeface="Arial" pitchFamily="34" charset="-122"/>
                <a:cs typeface="Arial" pitchFamily="34" charset="-120"/>
              </a:rPr>
              <a:t>El mapa que se le filtró a OpenAI</a:t>
            </a:r>
            <a:endParaRPr lang="en-US" sz="3000" dirty="0"/>
          </a:p>
        </p:txBody>
      </p:sp>
      <p:sp>
        <p:nvSpPr>
          <p:cNvPr id="4" name="Text 2"/>
          <p:cNvSpPr/>
          <p:nvPr/>
        </p:nvSpPr>
        <p:spPr>
          <a:xfrm>
            <a:off x="777240" y="1536192"/>
            <a:ext cx="5577840" cy="1828800"/>
          </a:xfrm>
          <a:prstGeom prst="rect">
            <a:avLst/>
          </a:prstGeom>
          <a:noFill/>
          <a:ln/>
        </p:spPr>
        <p:txBody>
          <a:bodyPr wrap="square" lIns="0" tIns="0" rIns="0" bIns="0" rtlCol="0" anchor="t"/>
          <a:lstStyle/>
          <a:p>
            <a:pPr marL="0" indent="0">
              <a:lnSpc>
                <a:spcPts val="2248"/>
              </a:lnSpc>
              <a:buNone/>
            </a:pPr>
            <a:r>
              <a:rPr lang="en-US" sz="1550" dirty="0">
                <a:solidFill>
                  <a:srgbClr val="3A3A40"/>
                </a:solidFill>
                <a:latin typeface="Arial" pitchFamily="34" charset="0"/>
                <a:ea typeface="Arial" pitchFamily="34" charset="-122"/>
                <a:cs typeface="Arial" pitchFamily="34" charset="-120"/>
              </a:rPr>
              <a:t>El 9 de julio de 2024, OpenAI presentó puertas adentro —en una reunión general de la empresa— una escala de cinco niveles para medir su propio progreso hacia la AGI.</a:t>
            </a:r>
            <a:endParaRPr lang="en-US" sz="1550" dirty="0"/>
          </a:p>
          <a:p>
            <a:pPr marL="0" indent="0">
              <a:lnSpc>
                <a:spcPts val="2248"/>
              </a:lnSpc>
              <a:buNone/>
            </a:pPr>
            <a:endParaRPr lang="en-US" sz="1550" dirty="0"/>
          </a:p>
          <a:p>
            <a:pPr marL="0" indent="0">
              <a:lnSpc>
                <a:spcPts val="2248"/>
              </a:lnSpc>
              <a:buNone/>
            </a:pPr>
            <a:r>
              <a:rPr lang="en-US" sz="1550" dirty="0">
                <a:solidFill>
                  <a:srgbClr val="3A3A40"/>
                </a:solidFill>
                <a:latin typeface="Arial" pitchFamily="34" charset="0"/>
                <a:ea typeface="Arial" pitchFamily="34" charset="-122"/>
                <a:cs typeface="Arial" pitchFamily="34" charset="-120"/>
              </a:rPr>
              <a:t>Dos días después se filtró a Bloomberg.</a:t>
            </a:r>
            <a:endParaRPr lang="en-US" sz="1550" dirty="0"/>
          </a:p>
        </p:txBody>
      </p:sp>
      <p:sp>
        <p:nvSpPr>
          <p:cNvPr id="5" name="Shape 3"/>
          <p:cNvSpPr/>
          <p:nvPr/>
        </p:nvSpPr>
        <p:spPr>
          <a:xfrm>
            <a:off x="777240" y="3611880"/>
            <a:ext cx="5577840" cy="1691640"/>
          </a:xfrm>
          <a:prstGeom prst="roundRect">
            <a:avLst>
              <a:gd name="adj" fmla="val 3243"/>
            </a:avLst>
          </a:prstGeom>
          <a:solidFill>
            <a:srgbClr val="F6F6F5"/>
          </a:solidFill>
          <a:ln w="12700">
            <a:solidFill>
              <a:srgbClr val="F6F6F5"/>
            </a:solidFill>
            <a:prstDash val="solid"/>
          </a:ln>
        </p:spPr>
        <p:txBody>
          <a:bodyPr/>
          <a:lstStyle/>
          <a:p>
            <a:endParaRPr lang="en-AR"/>
          </a:p>
        </p:txBody>
      </p:sp>
      <p:sp>
        <p:nvSpPr>
          <p:cNvPr id="6" name="Text 4"/>
          <p:cNvSpPr/>
          <p:nvPr/>
        </p:nvSpPr>
        <p:spPr>
          <a:xfrm>
            <a:off x="1097280" y="3840480"/>
            <a:ext cx="4937760" cy="320040"/>
          </a:xfrm>
          <a:prstGeom prst="rect">
            <a:avLst/>
          </a:prstGeom>
          <a:noFill/>
          <a:ln/>
        </p:spPr>
        <p:txBody>
          <a:bodyPr wrap="square" lIns="0" tIns="0" rIns="0" bIns="0" rtlCol="0" anchor="ctr"/>
          <a:lstStyle/>
          <a:p>
            <a:pPr marL="0" indent="0">
              <a:buNone/>
            </a:pPr>
            <a:r>
              <a:rPr lang="en-US" sz="1600" b="1" dirty="0">
                <a:solidFill>
                  <a:srgbClr val="111114"/>
                </a:solidFill>
                <a:latin typeface="Arial" pitchFamily="34" charset="0"/>
                <a:ea typeface="Arial" pitchFamily="34" charset="-122"/>
                <a:cs typeface="Arial" pitchFamily="34" charset="-120"/>
              </a:rPr>
              <a:t>Nunca fue un paper.</a:t>
            </a:r>
            <a:endParaRPr lang="en-US" sz="1600" dirty="0"/>
          </a:p>
        </p:txBody>
      </p:sp>
      <p:sp>
        <p:nvSpPr>
          <p:cNvPr id="7" name="Text 5"/>
          <p:cNvSpPr/>
          <p:nvPr/>
        </p:nvSpPr>
        <p:spPr>
          <a:xfrm>
            <a:off x="1097280" y="4224528"/>
            <a:ext cx="4937760" cy="1005840"/>
          </a:xfrm>
          <a:prstGeom prst="rect">
            <a:avLst/>
          </a:prstGeom>
          <a:noFill/>
          <a:ln/>
        </p:spPr>
        <p:txBody>
          <a:bodyPr wrap="square" lIns="0" tIns="0" rIns="0" bIns="0" rtlCol="0" anchor="t"/>
          <a:lstStyle/>
          <a:p>
            <a:pPr marL="0" indent="0">
              <a:lnSpc>
                <a:spcPts val="1813"/>
              </a:lnSpc>
              <a:buNone/>
            </a:pPr>
            <a:r>
              <a:rPr lang="en-US" sz="1250" dirty="0">
                <a:solidFill>
                  <a:srgbClr val="55555C"/>
                </a:solidFill>
                <a:latin typeface="Arial" pitchFamily="34" charset="0"/>
                <a:ea typeface="Arial" pitchFamily="34" charset="-122"/>
                <a:cs typeface="Arial" pitchFamily="34" charset="-120"/>
              </a:rPr>
              <a:t>Es una taxonomía interna filtrada, presentada como borrador. Y por eso mismo vale: es el mapa mental con el que la empresa más importante del sector organizó su estrategia. Leerlo es leer la intención.</a:t>
            </a:r>
            <a:endParaRPr lang="en-US" sz="1250" dirty="0"/>
          </a:p>
        </p:txBody>
      </p:sp>
      <p:sp>
        <p:nvSpPr>
          <p:cNvPr id="8" name="Shape 6"/>
          <p:cNvSpPr/>
          <p:nvPr/>
        </p:nvSpPr>
        <p:spPr>
          <a:xfrm>
            <a:off x="6949440" y="1481328"/>
            <a:ext cx="4462272" cy="3840480"/>
          </a:xfrm>
          <a:prstGeom prst="roundRect">
            <a:avLst>
              <a:gd name="adj" fmla="val 1429"/>
            </a:avLst>
          </a:prstGeom>
          <a:solidFill>
            <a:srgbClr val="111114"/>
          </a:solidFill>
          <a:ln w="12700">
            <a:solidFill>
              <a:srgbClr val="111114"/>
            </a:solidFill>
            <a:prstDash val="solid"/>
          </a:ln>
        </p:spPr>
        <p:txBody>
          <a:bodyPr/>
          <a:lstStyle/>
          <a:p>
            <a:endParaRPr lang="en-AR"/>
          </a:p>
        </p:txBody>
      </p:sp>
      <p:sp>
        <p:nvSpPr>
          <p:cNvPr id="9" name="Text 7"/>
          <p:cNvSpPr/>
          <p:nvPr/>
        </p:nvSpPr>
        <p:spPr>
          <a:xfrm>
            <a:off x="7315200" y="1920240"/>
            <a:ext cx="3749040" cy="274320"/>
          </a:xfrm>
          <a:prstGeom prst="rect">
            <a:avLst/>
          </a:prstGeom>
          <a:noFill/>
          <a:ln/>
        </p:spPr>
        <p:txBody>
          <a:bodyPr wrap="square" lIns="0" tIns="0" rIns="0" bIns="0" rtlCol="0" anchor="ctr"/>
          <a:lstStyle/>
          <a:p>
            <a:pPr marL="0" indent="0">
              <a:buNone/>
            </a:pPr>
            <a:r>
              <a:rPr lang="en-US" sz="1000" b="1" kern="0" spc="150" dirty="0">
                <a:solidFill>
                  <a:srgbClr val="E04E39"/>
                </a:solidFill>
                <a:latin typeface="Arial" pitchFamily="34" charset="0"/>
                <a:ea typeface="Arial" pitchFamily="34" charset="-122"/>
                <a:cs typeface="Arial" pitchFamily="34" charset="-120"/>
              </a:rPr>
              <a:t>BLOOMBERG · 11 JUL 2024</a:t>
            </a:r>
            <a:endParaRPr lang="en-US" sz="1000" dirty="0"/>
          </a:p>
        </p:txBody>
      </p:sp>
      <p:sp>
        <p:nvSpPr>
          <p:cNvPr id="10" name="Text 8"/>
          <p:cNvSpPr/>
          <p:nvPr/>
        </p:nvSpPr>
        <p:spPr>
          <a:xfrm>
            <a:off x="7315200" y="2331720"/>
            <a:ext cx="3749040" cy="1645920"/>
          </a:xfrm>
          <a:prstGeom prst="rect">
            <a:avLst/>
          </a:prstGeom>
          <a:noFill/>
          <a:ln/>
        </p:spPr>
        <p:txBody>
          <a:bodyPr wrap="square" lIns="0" tIns="0" rIns="0" bIns="0" rtlCol="0" anchor="ctr"/>
          <a:lstStyle/>
          <a:p>
            <a:pPr marL="0" indent="0">
              <a:lnSpc>
                <a:spcPts val="2800"/>
              </a:lnSpc>
              <a:buNone/>
            </a:pPr>
            <a:r>
              <a:rPr lang="en-US" sz="2200" b="1" dirty="0">
                <a:solidFill>
                  <a:srgbClr val="FFFFFF"/>
                </a:solidFill>
                <a:latin typeface="Arial" pitchFamily="34" charset="0"/>
                <a:ea typeface="Arial" pitchFamily="34" charset="-122"/>
                <a:cs typeface="Arial" pitchFamily="34" charset="-120"/>
              </a:rPr>
              <a:t>“OpenAI Sets Levels to Track Progress Toward Superintelligent AI”</a:t>
            </a:r>
            <a:endParaRPr lang="en-US" sz="2200" dirty="0"/>
          </a:p>
        </p:txBody>
      </p:sp>
      <p:sp>
        <p:nvSpPr>
          <p:cNvPr id="11" name="Text 9"/>
          <p:cNvSpPr/>
          <p:nvPr/>
        </p:nvSpPr>
        <p:spPr>
          <a:xfrm>
            <a:off x="7315200" y="4160520"/>
            <a:ext cx="3749040" cy="1005840"/>
          </a:xfrm>
          <a:prstGeom prst="rect">
            <a:avLst/>
          </a:prstGeom>
          <a:noFill/>
          <a:ln/>
        </p:spPr>
        <p:txBody>
          <a:bodyPr wrap="square" lIns="0" tIns="0" rIns="0" bIns="0" rtlCol="0" anchor="ctr"/>
          <a:lstStyle/>
          <a:p>
            <a:pPr marL="0" indent="0">
              <a:lnSpc>
                <a:spcPts val="1600"/>
              </a:lnSpc>
              <a:buNone/>
            </a:pPr>
            <a:r>
              <a:rPr lang="en-US" sz="1200" dirty="0">
                <a:solidFill>
                  <a:srgbClr val="9A9AA2"/>
                </a:solidFill>
                <a:latin typeface="Arial" pitchFamily="34" charset="0"/>
                <a:ea typeface="Arial" pitchFamily="34" charset="-122"/>
                <a:cs typeface="Arial" pitchFamily="34" charset="-120"/>
              </a:rPr>
              <a:t>Una vocera confirmó que la escala se había presentado internamente el martes anterior, como trabajo en progreso.</a:t>
            </a:r>
            <a:endParaRPr lang="en-US" sz="1200" dirty="0"/>
          </a:p>
        </p:txBody>
      </p:sp>
      <p:sp>
        <p:nvSpPr>
          <p:cNvPr id="12" name="Text 10"/>
          <p:cNvSpPr/>
          <p:nvPr/>
        </p:nvSpPr>
        <p:spPr>
          <a:xfrm>
            <a:off x="10865815" y="6291072"/>
            <a:ext cx="548640" cy="274320"/>
          </a:xfrm>
          <a:prstGeom prst="rect">
            <a:avLst/>
          </a:prstGeom>
          <a:noFill/>
          <a:ln/>
        </p:spPr>
        <p:txBody>
          <a:bodyPr wrap="square" lIns="0" tIns="0" rIns="0" bIns="0" rtlCol="0" anchor="ctr"/>
          <a:lstStyle/>
          <a:p>
            <a:pPr marL="0" indent="0" algn="r">
              <a:buNone/>
            </a:pPr>
            <a:r>
              <a:rPr lang="en-US" sz="900" dirty="0">
                <a:solidFill>
                  <a:srgbClr val="9A9AA0"/>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420624"/>
            <a:ext cx="10637215" cy="237744"/>
          </a:xfrm>
          <a:prstGeom prst="rect">
            <a:avLst/>
          </a:prstGeom>
          <a:noFill/>
          <a:ln/>
        </p:spPr>
        <p:txBody>
          <a:bodyPr wrap="square" lIns="0" tIns="0" rIns="0" bIns="0" rtlCol="0" anchor="ctr"/>
          <a:lstStyle/>
          <a:p>
            <a:pPr marL="0" indent="0">
              <a:buNone/>
            </a:pPr>
            <a:r>
              <a:rPr lang="en-US" sz="1050" b="1" kern="0" spc="200" dirty="0">
                <a:solidFill>
                  <a:srgbClr val="E04E39"/>
                </a:solidFill>
                <a:latin typeface="Arial" pitchFamily="34" charset="0"/>
                <a:ea typeface="Arial" pitchFamily="34" charset="-122"/>
                <a:cs typeface="Arial" pitchFamily="34" charset="-120"/>
              </a:rPr>
              <a:t>EL MARCO</a:t>
            </a:r>
            <a:endParaRPr lang="en-US" sz="1050" dirty="0"/>
          </a:p>
        </p:txBody>
      </p:sp>
      <p:sp>
        <p:nvSpPr>
          <p:cNvPr id="3" name="Text 1"/>
          <p:cNvSpPr/>
          <p:nvPr/>
        </p:nvSpPr>
        <p:spPr>
          <a:xfrm>
            <a:off x="777240" y="694944"/>
            <a:ext cx="10637215" cy="566928"/>
          </a:xfrm>
          <a:prstGeom prst="rect">
            <a:avLst/>
          </a:prstGeom>
          <a:noFill/>
          <a:ln/>
        </p:spPr>
        <p:txBody>
          <a:bodyPr wrap="square" lIns="0" tIns="0" rIns="0" bIns="0" rtlCol="0" anchor="t"/>
          <a:lstStyle/>
          <a:p>
            <a:pPr marL="0" indent="0">
              <a:lnSpc>
                <a:spcPts val="3400"/>
              </a:lnSpc>
              <a:buNone/>
            </a:pPr>
            <a:r>
              <a:rPr lang="en-US" sz="3000" b="1" dirty="0">
                <a:solidFill>
                  <a:srgbClr val="111114"/>
                </a:solidFill>
                <a:latin typeface="Arial" pitchFamily="34" charset="0"/>
                <a:ea typeface="Arial" pitchFamily="34" charset="-122"/>
                <a:cs typeface="Arial" pitchFamily="34" charset="-120"/>
              </a:rPr>
              <a:t>Los cinco niveles, en las palabras originales</a:t>
            </a:r>
            <a:endParaRPr lang="en-US" sz="3000" dirty="0"/>
          </a:p>
        </p:txBody>
      </p:sp>
      <p:sp>
        <p:nvSpPr>
          <p:cNvPr id="4" name="Shape 2"/>
          <p:cNvSpPr/>
          <p:nvPr/>
        </p:nvSpPr>
        <p:spPr>
          <a:xfrm>
            <a:off x="777240" y="1572768"/>
            <a:ext cx="10637215" cy="713232"/>
          </a:xfrm>
          <a:prstGeom prst="roundRect">
            <a:avLst>
              <a:gd name="adj" fmla="val 7692"/>
            </a:avLst>
          </a:prstGeom>
          <a:solidFill>
            <a:srgbClr val="F6F6F5"/>
          </a:solidFill>
          <a:ln w="12700">
            <a:solidFill>
              <a:srgbClr val="F6F6F5"/>
            </a:solidFill>
            <a:prstDash val="solid"/>
          </a:ln>
        </p:spPr>
        <p:txBody>
          <a:bodyPr/>
          <a:lstStyle/>
          <a:p>
            <a:endParaRPr lang="en-AR"/>
          </a:p>
        </p:txBody>
      </p:sp>
      <p:sp>
        <p:nvSpPr>
          <p:cNvPr id="5" name="Text 3"/>
          <p:cNvSpPr/>
          <p:nvPr/>
        </p:nvSpPr>
        <p:spPr>
          <a:xfrm>
            <a:off x="1069848" y="1719072"/>
            <a:ext cx="457200" cy="420624"/>
          </a:xfrm>
          <a:prstGeom prst="rect">
            <a:avLst/>
          </a:prstGeom>
          <a:noFill/>
          <a:ln/>
        </p:spPr>
        <p:txBody>
          <a:bodyPr wrap="square" lIns="0" tIns="0" rIns="0" bIns="0" rtlCol="0" anchor="ctr"/>
          <a:lstStyle/>
          <a:p>
            <a:pPr marL="0" indent="0">
              <a:buNone/>
            </a:pPr>
            <a:r>
              <a:rPr lang="en-US" sz="2200" b="1" dirty="0">
                <a:solidFill>
                  <a:srgbClr val="E04E39"/>
                </a:solidFill>
                <a:latin typeface="Arial" pitchFamily="34" charset="0"/>
                <a:ea typeface="Arial" pitchFamily="34" charset="-122"/>
                <a:cs typeface="Arial" pitchFamily="34" charset="-120"/>
              </a:rPr>
              <a:t>1</a:t>
            </a:r>
            <a:endParaRPr lang="en-US" sz="2200" dirty="0"/>
          </a:p>
        </p:txBody>
      </p:sp>
      <p:sp>
        <p:nvSpPr>
          <p:cNvPr id="6" name="Text 4"/>
          <p:cNvSpPr/>
          <p:nvPr/>
        </p:nvSpPr>
        <p:spPr>
          <a:xfrm>
            <a:off x="1645920" y="1773936"/>
            <a:ext cx="2103120" cy="329184"/>
          </a:xfrm>
          <a:prstGeom prst="rect">
            <a:avLst/>
          </a:prstGeom>
          <a:noFill/>
          <a:ln/>
        </p:spPr>
        <p:txBody>
          <a:bodyPr wrap="square" lIns="0" tIns="0" rIns="0" bIns="0" rtlCol="0" anchor="ctr"/>
          <a:lstStyle/>
          <a:p>
            <a:pPr marL="0" indent="0">
              <a:buNone/>
            </a:pPr>
            <a:r>
              <a:rPr lang="en-US" sz="1700" b="1" dirty="0">
                <a:solidFill>
                  <a:srgbClr val="111114"/>
                </a:solidFill>
                <a:latin typeface="Arial" pitchFamily="34" charset="0"/>
                <a:ea typeface="Arial" pitchFamily="34" charset="-122"/>
                <a:cs typeface="Arial" pitchFamily="34" charset="-120"/>
              </a:rPr>
              <a:t>Chatbots</a:t>
            </a:r>
            <a:endParaRPr lang="en-US" sz="1700" dirty="0"/>
          </a:p>
        </p:txBody>
      </p:sp>
      <p:sp>
        <p:nvSpPr>
          <p:cNvPr id="7" name="Text 5"/>
          <p:cNvSpPr/>
          <p:nvPr/>
        </p:nvSpPr>
        <p:spPr>
          <a:xfrm>
            <a:off x="3840480" y="1792224"/>
            <a:ext cx="7253935" cy="329184"/>
          </a:xfrm>
          <a:prstGeom prst="rect">
            <a:avLst/>
          </a:prstGeom>
          <a:noFill/>
          <a:ln/>
        </p:spPr>
        <p:txBody>
          <a:bodyPr wrap="square" lIns="0" tIns="0" rIns="0" bIns="0" rtlCol="0" anchor="ctr"/>
          <a:lstStyle/>
          <a:p>
            <a:pPr marL="0" indent="0">
              <a:buNone/>
            </a:pPr>
            <a:r>
              <a:rPr lang="en-US" sz="1350" dirty="0">
                <a:solidFill>
                  <a:srgbClr val="3A3A40"/>
                </a:solidFill>
                <a:latin typeface="Arial" pitchFamily="34" charset="0"/>
                <a:ea typeface="Arial" pitchFamily="34" charset="-122"/>
                <a:cs typeface="Arial" pitchFamily="34" charset="-120"/>
              </a:rPr>
              <a:t>IA que interactúa en lenguaje conversacional con las personas</a:t>
            </a:r>
            <a:endParaRPr lang="en-US" sz="1350" dirty="0"/>
          </a:p>
        </p:txBody>
      </p:sp>
      <p:sp>
        <p:nvSpPr>
          <p:cNvPr id="8" name="Shape 6"/>
          <p:cNvSpPr/>
          <p:nvPr/>
        </p:nvSpPr>
        <p:spPr>
          <a:xfrm>
            <a:off x="777240" y="2377440"/>
            <a:ext cx="10637215" cy="713232"/>
          </a:xfrm>
          <a:prstGeom prst="roundRect">
            <a:avLst>
              <a:gd name="adj" fmla="val 7692"/>
            </a:avLst>
          </a:prstGeom>
          <a:solidFill>
            <a:srgbClr val="F6F6F5"/>
          </a:solidFill>
          <a:ln w="12700">
            <a:solidFill>
              <a:srgbClr val="F6F6F5"/>
            </a:solidFill>
            <a:prstDash val="solid"/>
          </a:ln>
        </p:spPr>
        <p:txBody>
          <a:bodyPr/>
          <a:lstStyle/>
          <a:p>
            <a:endParaRPr lang="en-AR"/>
          </a:p>
        </p:txBody>
      </p:sp>
      <p:sp>
        <p:nvSpPr>
          <p:cNvPr id="9" name="Text 7"/>
          <p:cNvSpPr/>
          <p:nvPr/>
        </p:nvSpPr>
        <p:spPr>
          <a:xfrm>
            <a:off x="1069848" y="2523744"/>
            <a:ext cx="457200" cy="420624"/>
          </a:xfrm>
          <a:prstGeom prst="rect">
            <a:avLst/>
          </a:prstGeom>
          <a:noFill/>
          <a:ln/>
        </p:spPr>
        <p:txBody>
          <a:bodyPr wrap="square" lIns="0" tIns="0" rIns="0" bIns="0" rtlCol="0" anchor="ctr"/>
          <a:lstStyle/>
          <a:p>
            <a:pPr marL="0" indent="0">
              <a:buNone/>
            </a:pPr>
            <a:r>
              <a:rPr lang="en-US" sz="2200" b="1" dirty="0">
                <a:solidFill>
                  <a:srgbClr val="E04E39"/>
                </a:solidFill>
                <a:latin typeface="Arial" pitchFamily="34" charset="0"/>
                <a:ea typeface="Arial" pitchFamily="34" charset="-122"/>
                <a:cs typeface="Arial" pitchFamily="34" charset="-120"/>
              </a:rPr>
              <a:t>2</a:t>
            </a:r>
            <a:endParaRPr lang="en-US" sz="2200" dirty="0"/>
          </a:p>
        </p:txBody>
      </p:sp>
      <p:sp>
        <p:nvSpPr>
          <p:cNvPr id="10" name="Text 8"/>
          <p:cNvSpPr/>
          <p:nvPr/>
        </p:nvSpPr>
        <p:spPr>
          <a:xfrm>
            <a:off x="1645920" y="2578608"/>
            <a:ext cx="2103120" cy="329184"/>
          </a:xfrm>
          <a:prstGeom prst="rect">
            <a:avLst/>
          </a:prstGeom>
          <a:noFill/>
          <a:ln/>
        </p:spPr>
        <p:txBody>
          <a:bodyPr wrap="square" lIns="0" tIns="0" rIns="0" bIns="0" rtlCol="0" anchor="ctr"/>
          <a:lstStyle/>
          <a:p>
            <a:pPr marL="0" indent="0">
              <a:buNone/>
            </a:pPr>
            <a:r>
              <a:rPr lang="en-US" sz="1700" b="1" dirty="0">
                <a:solidFill>
                  <a:srgbClr val="111114"/>
                </a:solidFill>
                <a:latin typeface="Arial" pitchFamily="34" charset="0"/>
                <a:ea typeface="Arial" pitchFamily="34" charset="-122"/>
                <a:cs typeface="Arial" pitchFamily="34" charset="-120"/>
              </a:rPr>
              <a:t>Reasoners</a:t>
            </a:r>
            <a:endParaRPr lang="en-US" sz="1700" dirty="0"/>
          </a:p>
        </p:txBody>
      </p:sp>
      <p:sp>
        <p:nvSpPr>
          <p:cNvPr id="11" name="Text 9"/>
          <p:cNvSpPr/>
          <p:nvPr/>
        </p:nvSpPr>
        <p:spPr>
          <a:xfrm>
            <a:off x="3840480" y="2596896"/>
            <a:ext cx="7253935" cy="329184"/>
          </a:xfrm>
          <a:prstGeom prst="rect">
            <a:avLst/>
          </a:prstGeom>
          <a:noFill/>
          <a:ln/>
        </p:spPr>
        <p:txBody>
          <a:bodyPr wrap="square" lIns="0" tIns="0" rIns="0" bIns="0" rtlCol="0" anchor="ctr"/>
          <a:lstStyle/>
          <a:p>
            <a:pPr marL="0" indent="0">
              <a:buNone/>
            </a:pPr>
            <a:r>
              <a:rPr lang="en-US" sz="1350" dirty="0">
                <a:solidFill>
                  <a:srgbClr val="3A3A40"/>
                </a:solidFill>
                <a:latin typeface="Arial" pitchFamily="34" charset="0"/>
                <a:ea typeface="Arial" pitchFamily="34" charset="-122"/>
                <a:cs typeface="Arial" pitchFamily="34" charset="-120"/>
              </a:rPr>
              <a:t>Resuelve problemas al nivel de un doctorado, sin acceso a herramientas</a:t>
            </a:r>
            <a:endParaRPr lang="en-US" sz="1350" dirty="0"/>
          </a:p>
        </p:txBody>
      </p:sp>
      <p:sp>
        <p:nvSpPr>
          <p:cNvPr id="12" name="Shape 10"/>
          <p:cNvSpPr/>
          <p:nvPr/>
        </p:nvSpPr>
        <p:spPr>
          <a:xfrm>
            <a:off x="777240" y="3182112"/>
            <a:ext cx="10637215" cy="713232"/>
          </a:xfrm>
          <a:prstGeom prst="roundRect">
            <a:avLst>
              <a:gd name="adj" fmla="val 7692"/>
            </a:avLst>
          </a:prstGeom>
          <a:solidFill>
            <a:srgbClr val="F6F6F5"/>
          </a:solidFill>
          <a:ln w="12700">
            <a:solidFill>
              <a:srgbClr val="F6F6F5"/>
            </a:solidFill>
            <a:prstDash val="solid"/>
          </a:ln>
        </p:spPr>
        <p:txBody>
          <a:bodyPr/>
          <a:lstStyle/>
          <a:p>
            <a:endParaRPr lang="en-AR"/>
          </a:p>
        </p:txBody>
      </p:sp>
      <p:sp>
        <p:nvSpPr>
          <p:cNvPr id="13" name="Text 11"/>
          <p:cNvSpPr/>
          <p:nvPr/>
        </p:nvSpPr>
        <p:spPr>
          <a:xfrm>
            <a:off x="1069848" y="3328416"/>
            <a:ext cx="457200" cy="420624"/>
          </a:xfrm>
          <a:prstGeom prst="rect">
            <a:avLst/>
          </a:prstGeom>
          <a:noFill/>
          <a:ln/>
        </p:spPr>
        <p:txBody>
          <a:bodyPr wrap="square" lIns="0" tIns="0" rIns="0" bIns="0" rtlCol="0" anchor="ctr"/>
          <a:lstStyle/>
          <a:p>
            <a:pPr marL="0" indent="0">
              <a:buNone/>
            </a:pPr>
            <a:r>
              <a:rPr lang="en-US" sz="2200" b="1" dirty="0">
                <a:solidFill>
                  <a:srgbClr val="E04E39"/>
                </a:solidFill>
                <a:latin typeface="Arial" pitchFamily="34" charset="0"/>
                <a:ea typeface="Arial" pitchFamily="34" charset="-122"/>
                <a:cs typeface="Arial" pitchFamily="34" charset="-120"/>
              </a:rPr>
              <a:t>3</a:t>
            </a:r>
            <a:endParaRPr lang="en-US" sz="2200" dirty="0"/>
          </a:p>
        </p:txBody>
      </p:sp>
      <p:sp>
        <p:nvSpPr>
          <p:cNvPr id="14" name="Text 12"/>
          <p:cNvSpPr/>
          <p:nvPr/>
        </p:nvSpPr>
        <p:spPr>
          <a:xfrm>
            <a:off x="1645920" y="3383280"/>
            <a:ext cx="2103120" cy="329184"/>
          </a:xfrm>
          <a:prstGeom prst="rect">
            <a:avLst/>
          </a:prstGeom>
          <a:noFill/>
          <a:ln/>
        </p:spPr>
        <p:txBody>
          <a:bodyPr wrap="square" lIns="0" tIns="0" rIns="0" bIns="0" rtlCol="0" anchor="ctr"/>
          <a:lstStyle/>
          <a:p>
            <a:pPr marL="0" indent="0">
              <a:buNone/>
            </a:pPr>
            <a:r>
              <a:rPr lang="en-US" sz="1700" b="1" dirty="0">
                <a:solidFill>
                  <a:srgbClr val="111114"/>
                </a:solidFill>
                <a:latin typeface="Arial" pitchFamily="34" charset="0"/>
                <a:ea typeface="Arial" pitchFamily="34" charset="-122"/>
                <a:cs typeface="Arial" pitchFamily="34" charset="-120"/>
              </a:rPr>
              <a:t>Agents</a:t>
            </a:r>
            <a:endParaRPr lang="en-US" sz="1700" dirty="0"/>
          </a:p>
        </p:txBody>
      </p:sp>
      <p:sp>
        <p:nvSpPr>
          <p:cNvPr id="15" name="Text 13"/>
          <p:cNvSpPr/>
          <p:nvPr/>
        </p:nvSpPr>
        <p:spPr>
          <a:xfrm>
            <a:off x="3840480" y="3401568"/>
            <a:ext cx="7253935" cy="329184"/>
          </a:xfrm>
          <a:prstGeom prst="rect">
            <a:avLst/>
          </a:prstGeom>
          <a:noFill/>
          <a:ln/>
        </p:spPr>
        <p:txBody>
          <a:bodyPr wrap="square" lIns="0" tIns="0" rIns="0" bIns="0" rtlCol="0" anchor="ctr"/>
          <a:lstStyle/>
          <a:p>
            <a:pPr marL="0" indent="0">
              <a:buNone/>
            </a:pPr>
            <a:r>
              <a:rPr lang="en-US" sz="1350" dirty="0">
                <a:solidFill>
                  <a:srgbClr val="3A3A40"/>
                </a:solidFill>
                <a:latin typeface="Arial" pitchFamily="34" charset="0"/>
                <a:ea typeface="Arial" pitchFamily="34" charset="-122"/>
                <a:cs typeface="Arial" pitchFamily="34" charset="-120"/>
              </a:rPr>
              <a:t>Puede pasar varios días tomando acciones en nombre de un usuario</a:t>
            </a:r>
            <a:endParaRPr lang="en-US" sz="1350" dirty="0"/>
          </a:p>
        </p:txBody>
      </p:sp>
      <p:sp>
        <p:nvSpPr>
          <p:cNvPr id="16" name="Text 14"/>
          <p:cNvSpPr/>
          <p:nvPr/>
        </p:nvSpPr>
        <p:spPr>
          <a:xfrm>
            <a:off x="1069848" y="4133088"/>
            <a:ext cx="457200" cy="420624"/>
          </a:xfrm>
          <a:prstGeom prst="rect">
            <a:avLst/>
          </a:prstGeom>
          <a:noFill/>
          <a:ln/>
        </p:spPr>
        <p:txBody>
          <a:bodyPr wrap="square" lIns="0" tIns="0" rIns="0" bIns="0" rtlCol="0" anchor="ctr"/>
          <a:lstStyle/>
          <a:p>
            <a:pPr marL="0" indent="0">
              <a:buNone/>
            </a:pPr>
            <a:r>
              <a:rPr lang="en-US" sz="2200" b="1" dirty="0">
                <a:solidFill>
                  <a:srgbClr val="C4C4C8"/>
                </a:solidFill>
                <a:latin typeface="Arial" pitchFamily="34" charset="0"/>
                <a:ea typeface="Arial" pitchFamily="34" charset="-122"/>
                <a:cs typeface="Arial" pitchFamily="34" charset="-120"/>
              </a:rPr>
              <a:t>4</a:t>
            </a:r>
            <a:endParaRPr lang="en-US" sz="2200" dirty="0"/>
          </a:p>
        </p:txBody>
      </p:sp>
      <p:sp>
        <p:nvSpPr>
          <p:cNvPr id="17" name="Text 15"/>
          <p:cNvSpPr/>
          <p:nvPr/>
        </p:nvSpPr>
        <p:spPr>
          <a:xfrm>
            <a:off x="1645920" y="4187952"/>
            <a:ext cx="2103120" cy="329184"/>
          </a:xfrm>
          <a:prstGeom prst="rect">
            <a:avLst/>
          </a:prstGeom>
          <a:noFill/>
          <a:ln/>
        </p:spPr>
        <p:txBody>
          <a:bodyPr wrap="square" lIns="0" tIns="0" rIns="0" bIns="0" rtlCol="0" anchor="ctr"/>
          <a:lstStyle/>
          <a:p>
            <a:pPr marL="0" indent="0">
              <a:buNone/>
            </a:pPr>
            <a:r>
              <a:rPr lang="en-US" sz="1700" b="1" dirty="0">
                <a:solidFill>
                  <a:srgbClr val="9A9AA0"/>
                </a:solidFill>
                <a:latin typeface="Arial" pitchFamily="34" charset="0"/>
                <a:ea typeface="Arial" pitchFamily="34" charset="-122"/>
                <a:cs typeface="Arial" pitchFamily="34" charset="-120"/>
              </a:rPr>
              <a:t>Innovators</a:t>
            </a:r>
            <a:endParaRPr lang="en-US" sz="1700" dirty="0"/>
          </a:p>
        </p:txBody>
      </p:sp>
      <p:sp>
        <p:nvSpPr>
          <p:cNvPr id="18" name="Text 16"/>
          <p:cNvSpPr/>
          <p:nvPr/>
        </p:nvSpPr>
        <p:spPr>
          <a:xfrm>
            <a:off x="3840480" y="4206240"/>
            <a:ext cx="7253935" cy="329184"/>
          </a:xfrm>
          <a:prstGeom prst="rect">
            <a:avLst/>
          </a:prstGeom>
          <a:noFill/>
          <a:ln/>
        </p:spPr>
        <p:txBody>
          <a:bodyPr wrap="square" lIns="0" tIns="0" rIns="0" bIns="0" rtlCol="0" anchor="ctr"/>
          <a:lstStyle/>
          <a:p>
            <a:pPr marL="0" indent="0">
              <a:buNone/>
            </a:pPr>
            <a:r>
              <a:rPr lang="en-US" sz="1350" dirty="0">
                <a:solidFill>
                  <a:srgbClr val="9A9AA0"/>
                </a:solidFill>
                <a:latin typeface="Arial" pitchFamily="34" charset="0"/>
                <a:ea typeface="Arial" pitchFamily="34" charset="-122"/>
                <a:cs typeface="Arial" pitchFamily="34" charset="-120"/>
              </a:rPr>
              <a:t>Genera innovaciones nuevas: descubre, no solo ejecuta</a:t>
            </a:r>
            <a:endParaRPr lang="en-US" sz="1350" dirty="0"/>
          </a:p>
        </p:txBody>
      </p:sp>
      <p:sp>
        <p:nvSpPr>
          <p:cNvPr id="19" name="Text 17"/>
          <p:cNvSpPr/>
          <p:nvPr/>
        </p:nvSpPr>
        <p:spPr>
          <a:xfrm>
            <a:off x="1069848" y="4937760"/>
            <a:ext cx="457200" cy="420624"/>
          </a:xfrm>
          <a:prstGeom prst="rect">
            <a:avLst/>
          </a:prstGeom>
          <a:noFill/>
          <a:ln/>
        </p:spPr>
        <p:txBody>
          <a:bodyPr wrap="square" lIns="0" tIns="0" rIns="0" bIns="0" rtlCol="0" anchor="ctr"/>
          <a:lstStyle/>
          <a:p>
            <a:pPr marL="0" indent="0">
              <a:buNone/>
            </a:pPr>
            <a:r>
              <a:rPr lang="en-US" sz="2200" b="1" dirty="0">
                <a:solidFill>
                  <a:srgbClr val="C4C4C8"/>
                </a:solidFill>
                <a:latin typeface="Arial" pitchFamily="34" charset="0"/>
                <a:ea typeface="Arial" pitchFamily="34" charset="-122"/>
                <a:cs typeface="Arial" pitchFamily="34" charset="-120"/>
              </a:rPr>
              <a:t>5</a:t>
            </a:r>
            <a:endParaRPr lang="en-US" sz="2200" dirty="0"/>
          </a:p>
        </p:txBody>
      </p:sp>
      <p:sp>
        <p:nvSpPr>
          <p:cNvPr id="20" name="Text 18"/>
          <p:cNvSpPr/>
          <p:nvPr/>
        </p:nvSpPr>
        <p:spPr>
          <a:xfrm>
            <a:off x="1645920" y="4992624"/>
            <a:ext cx="2103120" cy="329184"/>
          </a:xfrm>
          <a:prstGeom prst="rect">
            <a:avLst/>
          </a:prstGeom>
          <a:noFill/>
          <a:ln/>
        </p:spPr>
        <p:txBody>
          <a:bodyPr wrap="square" lIns="0" tIns="0" rIns="0" bIns="0" rtlCol="0" anchor="ctr"/>
          <a:lstStyle/>
          <a:p>
            <a:pPr marL="0" indent="0">
              <a:buNone/>
            </a:pPr>
            <a:r>
              <a:rPr lang="en-US" sz="1700" b="1" dirty="0">
                <a:solidFill>
                  <a:srgbClr val="9A9AA0"/>
                </a:solidFill>
                <a:latin typeface="Arial" pitchFamily="34" charset="0"/>
                <a:ea typeface="Arial" pitchFamily="34" charset="-122"/>
                <a:cs typeface="Arial" pitchFamily="34" charset="-120"/>
              </a:rPr>
              <a:t>Organizations</a:t>
            </a:r>
            <a:endParaRPr lang="en-US" sz="1700" dirty="0"/>
          </a:p>
        </p:txBody>
      </p:sp>
      <p:sp>
        <p:nvSpPr>
          <p:cNvPr id="21" name="Text 19"/>
          <p:cNvSpPr/>
          <p:nvPr/>
        </p:nvSpPr>
        <p:spPr>
          <a:xfrm>
            <a:off x="3840480" y="5010912"/>
            <a:ext cx="7253935" cy="329184"/>
          </a:xfrm>
          <a:prstGeom prst="rect">
            <a:avLst/>
          </a:prstGeom>
          <a:noFill/>
          <a:ln/>
        </p:spPr>
        <p:txBody>
          <a:bodyPr wrap="square" lIns="0" tIns="0" rIns="0" bIns="0" rtlCol="0" anchor="ctr"/>
          <a:lstStyle/>
          <a:p>
            <a:pPr marL="0" indent="0">
              <a:buNone/>
            </a:pPr>
            <a:r>
              <a:rPr lang="en-US" sz="1350" dirty="0">
                <a:solidFill>
                  <a:srgbClr val="9A9AA0"/>
                </a:solidFill>
                <a:latin typeface="Arial" pitchFamily="34" charset="0"/>
                <a:ea typeface="Arial" pitchFamily="34" charset="-122"/>
                <a:cs typeface="Arial" pitchFamily="34" charset="-120"/>
              </a:rPr>
              <a:t>Hace el trabajo de una organización entera</a:t>
            </a:r>
            <a:endParaRPr lang="en-US" sz="1350" dirty="0"/>
          </a:p>
        </p:txBody>
      </p:sp>
      <p:sp>
        <p:nvSpPr>
          <p:cNvPr id="22" name="Text 20"/>
          <p:cNvSpPr/>
          <p:nvPr/>
        </p:nvSpPr>
        <p:spPr>
          <a:xfrm>
            <a:off x="777240" y="5715000"/>
            <a:ext cx="10637215" cy="320040"/>
          </a:xfrm>
          <a:prstGeom prst="rect">
            <a:avLst/>
          </a:prstGeom>
          <a:noFill/>
          <a:ln/>
        </p:spPr>
        <p:txBody>
          <a:bodyPr wrap="square" lIns="0" tIns="0" rIns="0" bIns="0" rtlCol="0" anchor="ctr"/>
          <a:lstStyle/>
          <a:p>
            <a:pPr marL="0" indent="0">
              <a:buNone/>
            </a:pPr>
            <a:r>
              <a:rPr lang="en-US" sz="1350" i="1" dirty="0">
                <a:solidFill>
                  <a:srgbClr val="6E6E73"/>
                </a:solidFill>
                <a:latin typeface="Arial" pitchFamily="34" charset="0"/>
                <a:ea typeface="Arial" pitchFamily="34" charset="-122"/>
                <a:cs typeface="Arial" pitchFamily="34" charset="-120"/>
              </a:rPr>
              <a:t>En julio de 2024, OpenAI se ubicaba en el nivel 1, “acercándose al 2”.</a:t>
            </a:r>
            <a:endParaRPr lang="en-US" sz="1350" dirty="0"/>
          </a:p>
        </p:txBody>
      </p:sp>
      <p:sp>
        <p:nvSpPr>
          <p:cNvPr id="23" name="Text 21"/>
          <p:cNvSpPr/>
          <p:nvPr/>
        </p:nvSpPr>
        <p:spPr>
          <a:xfrm>
            <a:off x="10865815" y="6291072"/>
            <a:ext cx="548640" cy="274320"/>
          </a:xfrm>
          <a:prstGeom prst="rect">
            <a:avLst/>
          </a:prstGeom>
          <a:noFill/>
          <a:ln/>
        </p:spPr>
        <p:txBody>
          <a:bodyPr wrap="square" lIns="0" tIns="0" rIns="0" bIns="0" rtlCol="0" anchor="ctr"/>
          <a:lstStyle/>
          <a:p>
            <a:pPr marL="0" indent="0" algn="r">
              <a:buNone/>
            </a:pPr>
            <a:r>
              <a:rPr lang="en-US" sz="900" dirty="0">
                <a:solidFill>
                  <a:srgbClr val="9A9AA0"/>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420624"/>
            <a:ext cx="10637215" cy="237744"/>
          </a:xfrm>
          <a:prstGeom prst="rect">
            <a:avLst/>
          </a:prstGeom>
          <a:noFill/>
          <a:ln/>
        </p:spPr>
        <p:txBody>
          <a:bodyPr wrap="square" lIns="0" tIns="0" rIns="0" bIns="0" rtlCol="0" anchor="ctr"/>
          <a:lstStyle/>
          <a:p>
            <a:pPr marL="0" indent="0">
              <a:buNone/>
            </a:pPr>
            <a:r>
              <a:rPr lang="en-US" sz="1050" b="1" kern="0" spc="200" dirty="0">
                <a:solidFill>
                  <a:srgbClr val="E04E39"/>
                </a:solidFill>
                <a:latin typeface="Arial" pitchFamily="34" charset="0"/>
                <a:ea typeface="Arial" pitchFamily="34" charset="-122"/>
                <a:cs typeface="Arial" pitchFamily="34" charset="-120"/>
              </a:rPr>
              <a:t>EL ASCENSO</a:t>
            </a:r>
            <a:endParaRPr lang="en-US" sz="1050" dirty="0"/>
          </a:p>
        </p:txBody>
      </p:sp>
      <p:sp>
        <p:nvSpPr>
          <p:cNvPr id="3" name="Text 1"/>
          <p:cNvSpPr/>
          <p:nvPr/>
        </p:nvSpPr>
        <p:spPr>
          <a:xfrm>
            <a:off x="777240" y="694944"/>
            <a:ext cx="10637215" cy="566928"/>
          </a:xfrm>
          <a:prstGeom prst="rect">
            <a:avLst/>
          </a:prstGeom>
          <a:noFill/>
          <a:ln/>
        </p:spPr>
        <p:txBody>
          <a:bodyPr wrap="square" lIns="0" tIns="0" rIns="0" bIns="0" rtlCol="0" anchor="t"/>
          <a:lstStyle/>
          <a:p>
            <a:pPr marL="0" indent="0">
              <a:lnSpc>
                <a:spcPts val="3400"/>
              </a:lnSpc>
              <a:buNone/>
            </a:pPr>
            <a:r>
              <a:rPr lang="en-US" sz="3000" b="1" dirty="0">
                <a:solidFill>
                  <a:srgbClr val="111114"/>
                </a:solidFill>
                <a:latin typeface="Arial" pitchFamily="34" charset="0"/>
                <a:ea typeface="Arial" pitchFamily="34" charset="-122"/>
                <a:cs typeface="Arial" pitchFamily="34" charset="-120"/>
              </a:rPr>
              <a:t>Media escalera en veinticuatro meses</a:t>
            </a:r>
            <a:endParaRPr lang="en-US" sz="3000" dirty="0"/>
          </a:p>
        </p:txBody>
      </p:sp>
      <p:sp>
        <p:nvSpPr>
          <p:cNvPr id="4" name="Shape 2"/>
          <p:cNvSpPr/>
          <p:nvPr/>
        </p:nvSpPr>
        <p:spPr>
          <a:xfrm>
            <a:off x="777240" y="2286000"/>
            <a:ext cx="10637215" cy="13716"/>
          </a:xfrm>
          <a:prstGeom prst="rect">
            <a:avLst/>
          </a:prstGeom>
          <a:solidFill>
            <a:srgbClr val="E4E4E6"/>
          </a:solidFill>
          <a:ln w="12700">
            <a:solidFill>
              <a:srgbClr val="333333"/>
            </a:solidFill>
            <a:prstDash val="solid"/>
          </a:ln>
        </p:spPr>
        <p:txBody>
          <a:bodyPr/>
          <a:lstStyle/>
          <a:p>
            <a:endParaRPr lang="en-AR"/>
          </a:p>
        </p:txBody>
      </p:sp>
      <p:sp>
        <p:nvSpPr>
          <p:cNvPr id="5" name="Shape 3"/>
          <p:cNvSpPr/>
          <p:nvPr/>
        </p:nvSpPr>
        <p:spPr>
          <a:xfrm>
            <a:off x="777240" y="2194560"/>
            <a:ext cx="219456" cy="219456"/>
          </a:xfrm>
          <a:prstGeom prst="ellipse">
            <a:avLst/>
          </a:prstGeom>
          <a:solidFill>
            <a:srgbClr val="111114"/>
          </a:solidFill>
          <a:ln w="12700">
            <a:solidFill>
              <a:srgbClr val="333333"/>
            </a:solidFill>
            <a:prstDash val="solid"/>
          </a:ln>
        </p:spPr>
        <p:txBody>
          <a:bodyPr/>
          <a:lstStyle/>
          <a:p>
            <a:endParaRPr lang="en-AR"/>
          </a:p>
        </p:txBody>
      </p:sp>
      <p:sp>
        <p:nvSpPr>
          <p:cNvPr id="6" name="Text 4"/>
          <p:cNvSpPr/>
          <p:nvPr/>
        </p:nvSpPr>
        <p:spPr>
          <a:xfrm>
            <a:off x="777240" y="1691640"/>
            <a:ext cx="2487168" cy="274320"/>
          </a:xfrm>
          <a:prstGeom prst="rect">
            <a:avLst/>
          </a:prstGeom>
          <a:noFill/>
          <a:ln/>
        </p:spPr>
        <p:txBody>
          <a:bodyPr wrap="square" lIns="0" tIns="0" rIns="0" bIns="0" rtlCol="0" anchor="ctr"/>
          <a:lstStyle/>
          <a:p>
            <a:pPr marL="0" indent="0">
              <a:buNone/>
            </a:pPr>
            <a:r>
              <a:rPr lang="en-US" sz="1050" b="1" kern="0" spc="150" dirty="0">
                <a:solidFill>
                  <a:srgbClr val="6E6E73"/>
                </a:solidFill>
                <a:latin typeface="Arial" pitchFamily="34" charset="0"/>
                <a:ea typeface="Arial" pitchFamily="34" charset="-122"/>
                <a:cs typeface="Arial" pitchFamily="34" charset="-120"/>
              </a:rPr>
              <a:t>JUL 2024</a:t>
            </a:r>
            <a:endParaRPr lang="en-US" sz="1050" dirty="0"/>
          </a:p>
        </p:txBody>
      </p:sp>
      <p:sp>
        <p:nvSpPr>
          <p:cNvPr id="7" name="Text 5"/>
          <p:cNvSpPr/>
          <p:nvPr/>
        </p:nvSpPr>
        <p:spPr>
          <a:xfrm>
            <a:off x="777240" y="2606040"/>
            <a:ext cx="2487168" cy="777240"/>
          </a:xfrm>
          <a:prstGeom prst="rect">
            <a:avLst/>
          </a:prstGeom>
          <a:noFill/>
          <a:ln/>
        </p:spPr>
        <p:txBody>
          <a:bodyPr wrap="square" lIns="0" tIns="0" rIns="0" bIns="0" rtlCol="0" anchor="t"/>
          <a:lstStyle/>
          <a:p>
            <a:pPr marL="0" indent="0">
              <a:lnSpc>
                <a:spcPts val="2300"/>
              </a:lnSpc>
              <a:buNone/>
            </a:pPr>
            <a:r>
              <a:rPr lang="en-US" sz="1900" b="1" dirty="0">
                <a:solidFill>
                  <a:srgbClr val="111114"/>
                </a:solidFill>
                <a:latin typeface="Arial" pitchFamily="34" charset="0"/>
                <a:ea typeface="Arial" pitchFamily="34" charset="-122"/>
                <a:cs typeface="Arial" pitchFamily="34" charset="-120"/>
              </a:rPr>
              <a:t>Nivel 1,</a:t>
            </a:r>
            <a:endParaRPr lang="en-US" sz="1900" dirty="0"/>
          </a:p>
          <a:p>
            <a:pPr marL="0" indent="0">
              <a:lnSpc>
                <a:spcPts val="2300"/>
              </a:lnSpc>
              <a:buNone/>
            </a:pPr>
            <a:r>
              <a:rPr lang="en-US" sz="1900" b="1" dirty="0">
                <a:solidFill>
                  <a:srgbClr val="111114"/>
                </a:solidFill>
                <a:latin typeface="Arial" pitchFamily="34" charset="0"/>
                <a:ea typeface="Arial" pitchFamily="34" charset="-122"/>
                <a:cs typeface="Arial" pitchFamily="34" charset="-120"/>
              </a:rPr>
              <a:t>acercándose al 2</a:t>
            </a:r>
            <a:endParaRPr lang="en-US" sz="1900" dirty="0"/>
          </a:p>
        </p:txBody>
      </p:sp>
      <p:sp>
        <p:nvSpPr>
          <p:cNvPr id="8" name="Text 6"/>
          <p:cNvSpPr/>
          <p:nvPr/>
        </p:nvSpPr>
        <p:spPr>
          <a:xfrm>
            <a:off x="777240" y="3520440"/>
            <a:ext cx="2350008" cy="1188720"/>
          </a:xfrm>
          <a:prstGeom prst="rect">
            <a:avLst/>
          </a:prstGeom>
          <a:noFill/>
          <a:ln/>
        </p:spPr>
        <p:txBody>
          <a:bodyPr wrap="square" lIns="0" tIns="0" rIns="0" bIns="0" rtlCol="0" anchor="t"/>
          <a:lstStyle/>
          <a:p>
            <a:pPr marL="0" indent="0">
              <a:lnSpc>
                <a:spcPts val="1650"/>
              </a:lnSpc>
              <a:buNone/>
            </a:pPr>
            <a:r>
              <a:rPr lang="en-US" sz="1200" dirty="0">
                <a:solidFill>
                  <a:srgbClr val="55555C"/>
                </a:solidFill>
                <a:latin typeface="Arial" pitchFamily="34" charset="0"/>
                <a:ea typeface="Arial" pitchFamily="34" charset="-122"/>
                <a:cs typeface="Arial" pitchFamily="34" charset="-120"/>
              </a:rPr>
              <a:t>Se filtra la escala</a:t>
            </a:r>
            <a:endParaRPr lang="en-US" sz="1200" dirty="0"/>
          </a:p>
        </p:txBody>
      </p:sp>
      <p:sp>
        <p:nvSpPr>
          <p:cNvPr id="9" name="Shape 7"/>
          <p:cNvSpPr/>
          <p:nvPr/>
        </p:nvSpPr>
        <p:spPr>
          <a:xfrm>
            <a:off x="3483864" y="2194560"/>
            <a:ext cx="219456" cy="219456"/>
          </a:xfrm>
          <a:prstGeom prst="ellipse">
            <a:avLst/>
          </a:prstGeom>
          <a:solidFill>
            <a:srgbClr val="111114"/>
          </a:solidFill>
          <a:ln w="12700">
            <a:solidFill>
              <a:srgbClr val="333333"/>
            </a:solidFill>
            <a:prstDash val="solid"/>
          </a:ln>
        </p:spPr>
        <p:txBody>
          <a:bodyPr/>
          <a:lstStyle/>
          <a:p>
            <a:endParaRPr lang="en-AR"/>
          </a:p>
        </p:txBody>
      </p:sp>
      <p:sp>
        <p:nvSpPr>
          <p:cNvPr id="10" name="Text 8"/>
          <p:cNvSpPr/>
          <p:nvPr/>
        </p:nvSpPr>
        <p:spPr>
          <a:xfrm>
            <a:off x="3483864" y="1691640"/>
            <a:ext cx="2487168" cy="274320"/>
          </a:xfrm>
          <a:prstGeom prst="rect">
            <a:avLst/>
          </a:prstGeom>
          <a:noFill/>
          <a:ln/>
        </p:spPr>
        <p:txBody>
          <a:bodyPr wrap="square" lIns="0" tIns="0" rIns="0" bIns="0" rtlCol="0" anchor="ctr"/>
          <a:lstStyle/>
          <a:p>
            <a:pPr marL="0" indent="0">
              <a:buNone/>
            </a:pPr>
            <a:r>
              <a:rPr lang="en-US" sz="1050" b="1" kern="0" spc="150" dirty="0">
                <a:solidFill>
                  <a:srgbClr val="6E6E73"/>
                </a:solidFill>
                <a:latin typeface="Arial" pitchFamily="34" charset="0"/>
                <a:ea typeface="Arial" pitchFamily="34" charset="-122"/>
                <a:cs typeface="Arial" pitchFamily="34" charset="-120"/>
              </a:rPr>
              <a:t>SEP 2024</a:t>
            </a:r>
            <a:endParaRPr lang="en-US" sz="1050" dirty="0"/>
          </a:p>
        </p:txBody>
      </p:sp>
      <p:sp>
        <p:nvSpPr>
          <p:cNvPr id="11" name="Text 9"/>
          <p:cNvSpPr/>
          <p:nvPr/>
        </p:nvSpPr>
        <p:spPr>
          <a:xfrm>
            <a:off x="3483864" y="2606040"/>
            <a:ext cx="2487168" cy="777240"/>
          </a:xfrm>
          <a:prstGeom prst="rect">
            <a:avLst/>
          </a:prstGeom>
          <a:noFill/>
          <a:ln/>
        </p:spPr>
        <p:txBody>
          <a:bodyPr wrap="square" lIns="0" tIns="0" rIns="0" bIns="0" rtlCol="0" anchor="t"/>
          <a:lstStyle/>
          <a:p>
            <a:pPr marL="0" indent="0">
              <a:lnSpc>
                <a:spcPts val="2300"/>
              </a:lnSpc>
              <a:buNone/>
            </a:pPr>
            <a:r>
              <a:rPr lang="en-US" sz="1900" b="1" dirty="0">
                <a:solidFill>
                  <a:srgbClr val="111114"/>
                </a:solidFill>
                <a:latin typeface="Arial" pitchFamily="34" charset="0"/>
                <a:ea typeface="Arial" pitchFamily="34" charset="-122"/>
                <a:cs typeface="Arial" pitchFamily="34" charset="-120"/>
              </a:rPr>
              <a:t>Nivel 2</a:t>
            </a:r>
            <a:endParaRPr lang="en-US" sz="1900" dirty="0"/>
          </a:p>
          <a:p>
            <a:pPr marL="0" indent="0">
              <a:lnSpc>
                <a:spcPts val="2300"/>
              </a:lnSpc>
              <a:buNone/>
            </a:pPr>
            <a:r>
              <a:rPr lang="en-US" sz="1900" b="1" dirty="0">
                <a:solidFill>
                  <a:srgbClr val="111114"/>
                </a:solidFill>
                <a:latin typeface="Arial" pitchFamily="34" charset="0"/>
                <a:ea typeface="Arial" pitchFamily="34" charset="-122"/>
                <a:cs typeface="Arial" pitchFamily="34" charset="-120"/>
              </a:rPr>
              <a:t>alcanzado</a:t>
            </a:r>
            <a:endParaRPr lang="en-US" sz="1900" dirty="0"/>
          </a:p>
        </p:txBody>
      </p:sp>
      <p:sp>
        <p:nvSpPr>
          <p:cNvPr id="12" name="Text 10"/>
          <p:cNvSpPr/>
          <p:nvPr/>
        </p:nvSpPr>
        <p:spPr>
          <a:xfrm>
            <a:off x="3483864" y="3520440"/>
            <a:ext cx="2350008" cy="1188720"/>
          </a:xfrm>
          <a:prstGeom prst="rect">
            <a:avLst/>
          </a:prstGeom>
          <a:noFill/>
          <a:ln/>
        </p:spPr>
        <p:txBody>
          <a:bodyPr wrap="square" lIns="0" tIns="0" rIns="0" bIns="0" rtlCol="0" anchor="t"/>
          <a:lstStyle/>
          <a:p>
            <a:pPr marL="0" indent="0">
              <a:lnSpc>
                <a:spcPts val="1650"/>
              </a:lnSpc>
              <a:buNone/>
            </a:pPr>
            <a:r>
              <a:rPr lang="en-US" sz="1200" dirty="0">
                <a:solidFill>
                  <a:srgbClr val="55555C"/>
                </a:solidFill>
                <a:latin typeface="Arial" pitchFamily="34" charset="0"/>
                <a:ea typeface="Arial" pitchFamily="34" charset="-122"/>
                <a:cs typeface="Arial" pitchFamily="34" charset="-120"/>
              </a:rPr>
              <a:t>Con o1, Altman lo declara públicamente. Dice que el 3 llega “relativamente rápido”</a:t>
            </a:r>
            <a:endParaRPr lang="en-US" sz="1200" dirty="0"/>
          </a:p>
        </p:txBody>
      </p:sp>
      <p:sp>
        <p:nvSpPr>
          <p:cNvPr id="13" name="Shape 11"/>
          <p:cNvSpPr/>
          <p:nvPr/>
        </p:nvSpPr>
        <p:spPr>
          <a:xfrm>
            <a:off x="6190488" y="2194560"/>
            <a:ext cx="219456" cy="219456"/>
          </a:xfrm>
          <a:prstGeom prst="ellipse">
            <a:avLst/>
          </a:prstGeom>
          <a:solidFill>
            <a:srgbClr val="111114"/>
          </a:solidFill>
          <a:ln w="12700">
            <a:solidFill>
              <a:srgbClr val="333333"/>
            </a:solidFill>
            <a:prstDash val="solid"/>
          </a:ln>
        </p:spPr>
        <p:txBody>
          <a:bodyPr/>
          <a:lstStyle/>
          <a:p>
            <a:endParaRPr lang="en-AR"/>
          </a:p>
        </p:txBody>
      </p:sp>
      <p:sp>
        <p:nvSpPr>
          <p:cNvPr id="14" name="Text 12"/>
          <p:cNvSpPr/>
          <p:nvPr/>
        </p:nvSpPr>
        <p:spPr>
          <a:xfrm>
            <a:off x="6190488" y="1691640"/>
            <a:ext cx="2487168" cy="274320"/>
          </a:xfrm>
          <a:prstGeom prst="rect">
            <a:avLst/>
          </a:prstGeom>
          <a:noFill/>
          <a:ln/>
        </p:spPr>
        <p:txBody>
          <a:bodyPr wrap="square" lIns="0" tIns="0" rIns="0" bIns="0" rtlCol="0" anchor="ctr"/>
          <a:lstStyle/>
          <a:p>
            <a:pPr marL="0" indent="0">
              <a:buNone/>
            </a:pPr>
            <a:r>
              <a:rPr lang="en-US" sz="1050" b="1" kern="0" spc="150" dirty="0">
                <a:solidFill>
                  <a:srgbClr val="6E6E73"/>
                </a:solidFill>
                <a:latin typeface="Arial" pitchFamily="34" charset="0"/>
                <a:ea typeface="Arial" pitchFamily="34" charset="-122"/>
                <a:cs typeface="Arial" pitchFamily="34" charset="-120"/>
              </a:rPr>
              <a:t>JUN 2025</a:t>
            </a:r>
            <a:endParaRPr lang="en-US" sz="1050" dirty="0"/>
          </a:p>
        </p:txBody>
      </p:sp>
      <p:sp>
        <p:nvSpPr>
          <p:cNvPr id="15" name="Text 13"/>
          <p:cNvSpPr/>
          <p:nvPr/>
        </p:nvSpPr>
        <p:spPr>
          <a:xfrm>
            <a:off x="6190488" y="2606040"/>
            <a:ext cx="2487168" cy="777240"/>
          </a:xfrm>
          <a:prstGeom prst="rect">
            <a:avLst/>
          </a:prstGeom>
          <a:noFill/>
          <a:ln/>
        </p:spPr>
        <p:txBody>
          <a:bodyPr wrap="square" lIns="0" tIns="0" rIns="0" bIns="0" rtlCol="0" anchor="t"/>
          <a:lstStyle/>
          <a:p>
            <a:pPr marL="0" indent="0">
              <a:lnSpc>
                <a:spcPts val="2300"/>
              </a:lnSpc>
              <a:buNone/>
            </a:pPr>
            <a:r>
              <a:rPr lang="en-US" sz="1900" b="1" dirty="0">
                <a:solidFill>
                  <a:srgbClr val="111114"/>
                </a:solidFill>
                <a:latin typeface="Arial" pitchFamily="34" charset="0"/>
                <a:ea typeface="Arial" pitchFamily="34" charset="-122"/>
                <a:cs typeface="Arial" pitchFamily="34" charset="-120"/>
              </a:rPr>
              <a:t>Nivel 3</a:t>
            </a:r>
            <a:endParaRPr lang="en-US" sz="1900" dirty="0"/>
          </a:p>
          <a:p>
            <a:pPr marL="0" indent="0">
              <a:lnSpc>
                <a:spcPts val="2300"/>
              </a:lnSpc>
              <a:buNone/>
            </a:pPr>
            <a:r>
              <a:rPr lang="en-US" sz="1900" b="1" dirty="0">
                <a:solidFill>
                  <a:srgbClr val="111114"/>
                </a:solidFill>
                <a:latin typeface="Arial" pitchFamily="34" charset="0"/>
                <a:ea typeface="Arial" pitchFamily="34" charset="-122"/>
                <a:cs typeface="Arial" pitchFamily="34" charset="-120"/>
              </a:rPr>
              <a:t>en curso</a:t>
            </a:r>
            <a:endParaRPr lang="en-US" sz="1900" dirty="0"/>
          </a:p>
        </p:txBody>
      </p:sp>
      <p:sp>
        <p:nvSpPr>
          <p:cNvPr id="16" name="Text 14"/>
          <p:cNvSpPr/>
          <p:nvPr/>
        </p:nvSpPr>
        <p:spPr>
          <a:xfrm>
            <a:off x="6190488" y="3520440"/>
            <a:ext cx="2350008" cy="1188720"/>
          </a:xfrm>
          <a:prstGeom prst="rect">
            <a:avLst/>
          </a:prstGeom>
          <a:noFill/>
          <a:ln/>
        </p:spPr>
        <p:txBody>
          <a:bodyPr wrap="square" lIns="0" tIns="0" rIns="0" bIns="0" rtlCol="0" anchor="t"/>
          <a:lstStyle/>
          <a:p>
            <a:pPr marL="0" indent="0">
              <a:lnSpc>
                <a:spcPts val="1650"/>
              </a:lnSpc>
              <a:buNone/>
            </a:pPr>
            <a:r>
              <a:rPr lang="en-US" sz="1200" dirty="0">
                <a:solidFill>
                  <a:srgbClr val="55555C"/>
                </a:solidFill>
                <a:latin typeface="Arial" pitchFamily="34" charset="0"/>
                <a:ea typeface="Arial" pitchFamily="34" charset="-122"/>
                <a:cs typeface="Arial" pitchFamily="34" charset="-120"/>
              </a:rPr>
              <a:t>“2025 vio la llegada de agentes que hacen trabajo cognitivo real”</a:t>
            </a:r>
            <a:endParaRPr lang="en-US" sz="1200" dirty="0"/>
          </a:p>
        </p:txBody>
      </p:sp>
      <p:sp>
        <p:nvSpPr>
          <p:cNvPr id="17" name="Shape 15"/>
          <p:cNvSpPr/>
          <p:nvPr/>
        </p:nvSpPr>
        <p:spPr>
          <a:xfrm>
            <a:off x="8897112" y="2194560"/>
            <a:ext cx="219456" cy="219456"/>
          </a:xfrm>
          <a:prstGeom prst="ellipse">
            <a:avLst/>
          </a:prstGeom>
          <a:solidFill>
            <a:srgbClr val="E04E39"/>
          </a:solidFill>
          <a:ln w="12700">
            <a:solidFill>
              <a:srgbClr val="333333"/>
            </a:solidFill>
            <a:prstDash val="solid"/>
          </a:ln>
        </p:spPr>
        <p:txBody>
          <a:bodyPr/>
          <a:lstStyle/>
          <a:p>
            <a:endParaRPr lang="en-AR"/>
          </a:p>
        </p:txBody>
      </p:sp>
      <p:sp>
        <p:nvSpPr>
          <p:cNvPr id="18" name="Text 16"/>
          <p:cNvSpPr/>
          <p:nvPr/>
        </p:nvSpPr>
        <p:spPr>
          <a:xfrm>
            <a:off x="8897112" y="1691640"/>
            <a:ext cx="2487168" cy="274320"/>
          </a:xfrm>
          <a:prstGeom prst="rect">
            <a:avLst/>
          </a:prstGeom>
          <a:noFill/>
          <a:ln/>
        </p:spPr>
        <p:txBody>
          <a:bodyPr wrap="square" lIns="0" tIns="0" rIns="0" bIns="0" rtlCol="0" anchor="ctr"/>
          <a:lstStyle/>
          <a:p>
            <a:pPr marL="0" indent="0">
              <a:buNone/>
            </a:pPr>
            <a:r>
              <a:rPr lang="en-US" sz="1050" b="1" kern="0" spc="150" dirty="0">
                <a:solidFill>
                  <a:srgbClr val="E04E39"/>
                </a:solidFill>
                <a:latin typeface="Arial" pitchFamily="34" charset="0"/>
                <a:ea typeface="Arial" pitchFamily="34" charset="-122"/>
                <a:cs typeface="Arial" pitchFamily="34" charset="-120"/>
              </a:rPr>
              <a:t>AGO 2026</a:t>
            </a:r>
            <a:endParaRPr lang="en-US" sz="1050" dirty="0"/>
          </a:p>
        </p:txBody>
      </p:sp>
      <p:sp>
        <p:nvSpPr>
          <p:cNvPr id="19" name="Text 17"/>
          <p:cNvSpPr/>
          <p:nvPr/>
        </p:nvSpPr>
        <p:spPr>
          <a:xfrm>
            <a:off x="8897112" y="2606040"/>
            <a:ext cx="2487168" cy="777240"/>
          </a:xfrm>
          <a:prstGeom prst="rect">
            <a:avLst/>
          </a:prstGeom>
          <a:noFill/>
          <a:ln/>
        </p:spPr>
        <p:txBody>
          <a:bodyPr wrap="square" lIns="0" tIns="0" rIns="0" bIns="0" rtlCol="0" anchor="t"/>
          <a:lstStyle/>
          <a:p>
            <a:pPr marL="0" indent="0">
              <a:lnSpc>
                <a:spcPts val="2300"/>
              </a:lnSpc>
              <a:buNone/>
            </a:pPr>
            <a:r>
              <a:rPr lang="en-US" sz="1900" b="1" dirty="0">
                <a:solidFill>
                  <a:srgbClr val="111114"/>
                </a:solidFill>
                <a:latin typeface="Arial" pitchFamily="34" charset="0"/>
                <a:ea typeface="Arial" pitchFamily="34" charset="-122"/>
                <a:cs typeface="Arial" pitchFamily="34" charset="-120"/>
              </a:rPr>
              <a:t>¿Nivel 4?</a:t>
            </a:r>
            <a:endParaRPr lang="en-US" sz="1900" dirty="0"/>
          </a:p>
        </p:txBody>
      </p:sp>
      <p:sp>
        <p:nvSpPr>
          <p:cNvPr id="20" name="Text 18"/>
          <p:cNvSpPr/>
          <p:nvPr/>
        </p:nvSpPr>
        <p:spPr>
          <a:xfrm>
            <a:off x="8897112" y="3520440"/>
            <a:ext cx="2350008" cy="1188720"/>
          </a:xfrm>
          <a:prstGeom prst="rect">
            <a:avLst/>
          </a:prstGeom>
          <a:noFill/>
          <a:ln/>
        </p:spPr>
        <p:txBody>
          <a:bodyPr wrap="square" lIns="0" tIns="0" rIns="0" bIns="0" rtlCol="0" anchor="t"/>
          <a:lstStyle/>
          <a:p>
            <a:pPr marL="0" indent="0">
              <a:lnSpc>
                <a:spcPts val="1650"/>
              </a:lnSpc>
              <a:buNone/>
            </a:pPr>
            <a:r>
              <a:rPr lang="en-US" sz="1200" dirty="0">
                <a:solidFill>
                  <a:srgbClr val="55555C"/>
                </a:solidFill>
                <a:latin typeface="Arial" pitchFamily="34" charset="0"/>
                <a:ea typeface="Arial" pitchFamily="34" charset="-122"/>
                <a:cs typeface="Arial" pitchFamily="34" charset="-120"/>
              </a:rPr>
              <a:t>“2026 probablemente vea sistemas capaces de descubrir insights novedosos”</a:t>
            </a:r>
            <a:endParaRPr lang="en-US" sz="1200" dirty="0"/>
          </a:p>
        </p:txBody>
      </p:sp>
      <p:sp>
        <p:nvSpPr>
          <p:cNvPr id="21" name="Shape 19"/>
          <p:cNvSpPr/>
          <p:nvPr/>
        </p:nvSpPr>
        <p:spPr>
          <a:xfrm>
            <a:off x="777240" y="4937760"/>
            <a:ext cx="10637215" cy="1051560"/>
          </a:xfrm>
          <a:prstGeom prst="roundRect">
            <a:avLst>
              <a:gd name="adj" fmla="val 5217"/>
            </a:avLst>
          </a:prstGeom>
          <a:solidFill>
            <a:srgbClr val="111114"/>
          </a:solidFill>
          <a:ln w="12700">
            <a:solidFill>
              <a:srgbClr val="111114"/>
            </a:solidFill>
            <a:prstDash val="solid"/>
          </a:ln>
        </p:spPr>
        <p:txBody>
          <a:bodyPr/>
          <a:lstStyle/>
          <a:p>
            <a:endParaRPr lang="en-AR"/>
          </a:p>
        </p:txBody>
      </p:sp>
      <p:sp>
        <p:nvSpPr>
          <p:cNvPr id="22" name="Text 20"/>
          <p:cNvSpPr/>
          <p:nvPr/>
        </p:nvSpPr>
        <p:spPr>
          <a:xfrm>
            <a:off x="1143000" y="5193792"/>
            <a:ext cx="9905695" cy="548640"/>
          </a:xfrm>
          <a:prstGeom prst="rect">
            <a:avLst/>
          </a:prstGeom>
          <a:noFill/>
          <a:ln/>
        </p:spPr>
        <p:txBody>
          <a:bodyPr wrap="square" lIns="0" tIns="0" rIns="0" bIns="0" rtlCol="0" anchor="ctr"/>
          <a:lstStyle/>
          <a:p>
            <a:pPr marL="0" indent="0">
              <a:buNone/>
            </a:pPr>
            <a:r>
              <a:rPr lang="en-US" sz="1550" dirty="0">
                <a:solidFill>
                  <a:srgbClr val="FFFFFF"/>
                </a:solidFill>
                <a:latin typeface="Arial" pitchFamily="34" charset="0"/>
                <a:ea typeface="Arial" pitchFamily="34" charset="-122"/>
                <a:cs typeface="Arial" pitchFamily="34" charset="-120"/>
              </a:rPr>
              <a:t>El punto no es si Altman acertó. El punto es que una escala que en 2024 parecía ciencia ficción se recorrió hasta la mitad en dos años.</a:t>
            </a:r>
            <a:endParaRPr lang="en-US" sz="1550" dirty="0"/>
          </a:p>
        </p:txBody>
      </p:sp>
      <p:sp>
        <p:nvSpPr>
          <p:cNvPr id="23" name="Text 21"/>
          <p:cNvSpPr/>
          <p:nvPr/>
        </p:nvSpPr>
        <p:spPr>
          <a:xfrm>
            <a:off x="10865815" y="6291072"/>
            <a:ext cx="548640" cy="274320"/>
          </a:xfrm>
          <a:prstGeom prst="rect">
            <a:avLst/>
          </a:prstGeom>
          <a:noFill/>
          <a:ln/>
        </p:spPr>
        <p:txBody>
          <a:bodyPr wrap="square" lIns="0" tIns="0" rIns="0" bIns="0" rtlCol="0" anchor="ctr"/>
          <a:lstStyle/>
          <a:p>
            <a:pPr marL="0" indent="0" algn="r">
              <a:buNone/>
            </a:pPr>
            <a:r>
              <a:rPr lang="en-US" sz="900" dirty="0">
                <a:solidFill>
                  <a:srgbClr val="9A9AA0"/>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420624"/>
            <a:ext cx="10637215" cy="237744"/>
          </a:xfrm>
          <a:prstGeom prst="rect">
            <a:avLst/>
          </a:prstGeom>
          <a:noFill/>
          <a:ln/>
        </p:spPr>
        <p:txBody>
          <a:bodyPr wrap="square" lIns="0" tIns="0" rIns="0" bIns="0" rtlCol="0" anchor="ctr"/>
          <a:lstStyle/>
          <a:p>
            <a:pPr marL="0" indent="0">
              <a:buNone/>
            </a:pPr>
            <a:r>
              <a:rPr lang="en-US" sz="1050" b="1" kern="0" spc="200" dirty="0">
                <a:solidFill>
                  <a:srgbClr val="E04E39"/>
                </a:solidFill>
                <a:latin typeface="Arial" pitchFamily="34" charset="0"/>
                <a:ea typeface="Arial" pitchFamily="34" charset="-122"/>
                <a:cs typeface="Arial" pitchFamily="34" charset="-120"/>
              </a:rPr>
              <a:t>PRONÓSTICOS</a:t>
            </a:r>
            <a:endParaRPr lang="en-US" sz="1050" dirty="0"/>
          </a:p>
        </p:txBody>
      </p:sp>
      <p:sp>
        <p:nvSpPr>
          <p:cNvPr id="3" name="Text 1"/>
          <p:cNvSpPr/>
          <p:nvPr/>
        </p:nvSpPr>
        <p:spPr>
          <a:xfrm>
            <a:off x="777240" y="694944"/>
            <a:ext cx="10637215" cy="566928"/>
          </a:xfrm>
          <a:prstGeom prst="rect">
            <a:avLst/>
          </a:prstGeom>
          <a:noFill/>
          <a:ln/>
        </p:spPr>
        <p:txBody>
          <a:bodyPr wrap="square" lIns="0" tIns="0" rIns="0" bIns="0" rtlCol="0" anchor="t"/>
          <a:lstStyle/>
          <a:p>
            <a:pPr marL="0" indent="0">
              <a:lnSpc>
                <a:spcPts val="3400"/>
              </a:lnSpc>
              <a:buNone/>
            </a:pPr>
            <a:r>
              <a:rPr lang="en-US" sz="3000" dirty="0"/>
              <a:t>Los </a:t>
            </a:r>
            <a:r>
              <a:rPr lang="en-US" sz="3000" dirty="0" err="1"/>
              <a:t>lideres</a:t>
            </a:r>
            <a:r>
              <a:rPr lang="en-US" sz="3000" dirty="0"/>
              <a:t> de la </a:t>
            </a:r>
            <a:r>
              <a:rPr lang="en-US" sz="3000" dirty="0" err="1"/>
              <a:t>industria</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77240" y="1572768"/>
          <a:ext cx="10634472" cy="3078480"/>
        </p:xfrm>
        <a:graphic>
          <a:graphicData uri="http://schemas.openxmlformats.org/drawingml/2006/table">
            <a:tbl>
              <a:tblPr/>
              <a:tblGrid>
                <a:gridCol w="2834640">
                  <a:extLst>
                    <a:ext uri="{9D8B030D-6E8A-4147-A177-3AD203B41FA5}">
                      <a16:colId xmlns:a16="http://schemas.microsoft.com/office/drawing/2014/main" val="20000"/>
                    </a:ext>
                  </a:extLst>
                </a:gridCol>
                <a:gridCol w="6062472">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tblGrid>
              <a:tr h="0">
                <a:tc>
                  <a:txBody>
                    <a:bodyPr/>
                    <a:lstStyle/>
                    <a:p>
                      <a:pPr marL="0" indent="0">
                        <a:buNone/>
                      </a:pPr>
                      <a:r>
                        <a:rPr lang="en-US" sz="950" b="1" kern="0" spc="100" dirty="0">
                          <a:solidFill>
                            <a:srgbClr val="6E6E73"/>
                          </a:solidFill>
                          <a:latin typeface="Arial" pitchFamily="34" charset="0"/>
                          <a:ea typeface="Arial" pitchFamily="34" charset="-122"/>
                          <a:cs typeface="Arial" pitchFamily="34" charset="-120"/>
                        </a:rPr>
                        <a:t>QUIÉN</a:t>
                      </a:r>
                      <a:endParaRPr lang="en-US" sz="950" dirty="0">
                        <a:latin typeface="Arial" charset="0"/>
                        <a:ea typeface="Arial" charset="0"/>
                        <a:cs typeface="Arial" charset="0"/>
                      </a:endParaRPr>
                    </a:p>
                  </a:txBody>
                  <a:tcPr marL="0" marR="76200" marT="50800" marB="88900" anchor="b">
                    <a:lnL w="0" cap="flat" cmpd="sng" algn="ctr">
                      <a:noFill/>
                    </a:lnL>
                    <a:lnR w="0" cap="flat" cmpd="sng" algn="ctr">
                      <a:noFill/>
                    </a:lnR>
                    <a:lnT w="0" cap="flat" cmpd="sng" algn="ctr">
                      <a:noFill/>
                    </a:lnT>
                    <a:lnB w="15240" cap="flat" cmpd="sng" algn="ctr">
                      <a:solidFill>
                        <a:srgbClr val="111114"/>
                      </a:solidFill>
                      <a:prstDash val="solid"/>
                      <a:round/>
                      <a:headEnd type="none" w="med" len="med"/>
                      <a:tailEnd type="none" w="med" len="med"/>
                    </a:lnB>
                    <a:solidFill>
                      <a:srgbClr val="FFFFFF"/>
                    </a:solidFill>
                  </a:tcPr>
                </a:tc>
                <a:tc>
                  <a:txBody>
                    <a:bodyPr/>
                    <a:lstStyle/>
                    <a:p>
                      <a:pPr marL="0" indent="0">
                        <a:buNone/>
                      </a:pPr>
                      <a:r>
                        <a:rPr lang="en-US" sz="950" b="1" kern="0" spc="100" dirty="0">
                          <a:solidFill>
                            <a:srgbClr val="6E6E73"/>
                          </a:solidFill>
                          <a:latin typeface="Arial" pitchFamily="34" charset="0"/>
                          <a:ea typeface="Arial" pitchFamily="34" charset="-122"/>
                          <a:cs typeface="Arial" pitchFamily="34" charset="-120"/>
                        </a:rPr>
                        <a:t>QUÉ DICE</a:t>
                      </a:r>
                      <a:endParaRPr lang="en-US" sz="950" dirty="0">
                        <a:latin typeface="Arial" charset="0"/>
                        <a:ea typeface="Arial" charset="0"/>
                        <a:cs typeface="Arial" charset="0"/>
                      </a:endParaRPr>
                    </a:p>
                  </a:txBody>
                  <a:tcPr marL="0" marR="76200" marT="50800" marB="88900" anchor="b">
                    <a:lnL w="0" cap="flat" cmpd="sng" algn="ctr">
                      <a:noFill/>
                    </a:lnL>
                    <a:lnR w="0" cap="flat" cmpd="sng" algn="ctr">
                      <a:noFill/>
                    </a:lnR>
                    <a:lnT w="0" cap="flat" cmpd="sng" algn="ctr">
                      <a:noFill/>
                    </a:lnT>
                    <a:lnB w="15240" cap="flat" cmpd="sng" algn="ctr">
                      <a:solidFill>
                        <a:srgbClr val="111114"/>
                      </a:solidFill>
                      <a:prstDash val="solid"/>
                      <a:round/>
                      <a:headEnd type="none" w="med" len="med"/>
                      <a:tailEnd type="none" w="med" len="med"/>
                    </a:lnB>
                    <a:solidFill>
                      <a:srgbClr val="FFFFFF"/>
                    </a:solidFill>
                  </a:tcPr>
                </a:tc>
                <a:tc>
                  <a:txBody>
                    <a:bodyPr/>
                    <a:lstStyle/>
                    <a:p>
                      <a:pPr marL="0" indent="0">
                        <a:buNone/>
                      </a:pPr>
                      <a:r>
                        <a:rPr lang="en-US" sz="950" b="1" kern="0" spc="100" dirty="0">
                          <a:solidFill>
                            <a:srgbClr val="6E6E73"/>
                          </a:solidFill>
                          <a:latin typeface="Arial" pitchFamily="34" charset="0"/>
                          <a:ea typeface="Arial" pitchFamily="34" charset="-122"/>
                          <a:cs typeface="Arial" pitchFamily="34" charset="-120"/>
                        </a:rPr>
                        <a:t>CUÁNDO</a:t>
                      </a:r>
                      <a:endParaRPr lang="en-US" sz="950" dirty="0">
                        <a:latin typeface="Arial" charset="0"/>
                        <a:ea typeface="Arial" charset="0"/>
                        <a:cs typeface="Arial" charset="0"/>
                      </a:endParaRPr>
                    </a:p>
                  </a:txBody>
                  <a:tcPr marL="0" marR="76200" marT="50800" marB="88900" anchor="b">
                    <a:lnL w="0" cap="flat" cmpd="sng" algn="ctr">
                      <a:noFill/>
                    </a:lnL>
                    <a:lnR w="0" cap="flat" cmpd="sng" algn="ctr">
                      <a:noFill/>
                    </a:lnR>
                    <a:lnT w="0" cap="flat" cmpd="sng" algn="ctr">
                      <a:noFill/>
                    </a:lnT>
                    <a:lnB w="15240" cap="flat" cmpd="sng" algn="ctr">
                      <a:solidFill>
                        <a:srgbClr val="111114"/>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0">
                <a:tc>
                  <a:txBody>
                    <a:bodyPr/>
                    <a:lstStyle/>
                    <a:p>
                      <a:pPr marL="0" indent="0">
                        <a:buNone/>
                      </a:pPr>
                      <a:r>
                        <a:rPr lang="en-US" sz="1250" b="1" dirty="0">
                          <a:solidFill>
                            <a:srgbClr val="111114"/>
                          </a:solidFill>
                          <a:latin typeface="Arial" pitchFamily="34" charset="0"/>
                          <a:ea typeface="Arial" pitchFamily="34" charset="-122"/>
                          <a:cs typeface="Arial" pitchFamily="34" charset="-120"/>
                        </a:rPr>
                        <a:t>Demis Hassabis</a:t>
                      </a:r>
                      <a:endParaRPr lang="en-US" sz="1250" dirty="0">
                        <a:latin typeface="Arial" charset="0"/>
                        <a:ea typeface="Arial" charset="0"/>
                        <a:cs typeface="Arial" charset="0"/>
                      </a:endParaRPr>
                    </a:p>
                    <a:p>
                      <a:pPr marL="0" indent="0">
                        <a:buNone/>
                      </a:pPr>
                      <a:r>
                        <a:rPr lang="en-US" sz="1250" b="1" dirty="0">
                          <a:solidFill>
                            <a:srgbClr val="111114"/>
                          </a:solidFill>
                          <a:latin typeface="Arial" pitchFamily="34" charset="0"/>
                          <a:ea typeface="Arial" pitchFamily="34" charset="-122"/>
                          <a:cs typeface="Arial" pitchFamily="34" charset="-120"/>
                        </a:rPr>
                        <a:t>Google DeepMind</a:t>
                      </a:r>
                      <a:endParaRPr lang="en-US" sz="1250" dirty="0">
                        <a:latin typeface="Arial" charset="0"/>
                        <a:ea typeface="Arial" charset="0"/>
                        <a:cs typeface="Arial" charset="0"/>
                      </a:endParaRPr>
                    </a:p>
                  </a:txBody>
                  <a:tcPr marL="0" marR="76200" marT="88900" marB="88900" anchor="ctr">
                    <a:lnL w="0" cap="flat" cmpd="sng" algn="ctr">
                      <a:noFill/>
                    </a:lnL>
                    <a:lnR w="0" cap="flat" cmpd="sng" algn="ctr">
                      <a:noFill/>
                    </a:lnR>
                    <a:lnT w="15240" cap="flat" cmpd="sng" algn="ctr">
                      <a:solidFill>
                        <a:srgbClr val="111114"/>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tc>
                  <a:txBody>
                    <a:bodyPr/>
                    <a:lstStyle/>
                    <a:p>
                      <a:pPr marL="0" indent="0">
                        <a:buNone/>
                      </a:pPr>
                      <a:r>
                        <a:rPr lang="en-US" sz="1250" dirty="0">
                          <a:solidFill>
                            <a:srgbClr val="3A3A40"/>
                          </a:solidFill>
                          <a:latin typeface="Arial" pitchFamily="34" charset="0"/>
                          <a:ea typeface="Arial" pitchFamily="34" charset="-122"/>
                          <a:cs typeface="Arial" pitchFamily="34" charset="-120"/>
                        </a:rPr>
                        <a:t>AGI hacia 2030, “más o menos un año”</a:t>
                      </a:r>
                      <a:endParaRPr lang="en-US" sz="1250" dirty="0">
                        <a:latin typeface="Arial" charset="0"/>
                        <a:ea typeface="Arial" charset="0"/>
                        <a:cs typeface="Arial" charset="0"/>
                      </a:endParaRPr>
                    </a:p>
                  </a:txBody>
                  <a:tcPr marL="0" marR="76200" marT="88900" marB="88900" anchor="ctr">
                    <a:lnL w="0" cap="flat" cmpd="sng" algn="ctr">
                      <a:noFill/>
                    </a:lnL>
                    <a:lnR w="0" cap="flat" cmpd="sng" algn="ctr">
                      <a:noFill/>
                    </a:lnR>
                    <a:lnT w="15240" cap="flat" cmpd="sng" algn="ctr">
                      <a:solidFill>
                        <a:srgbClr val="111114"/>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tc>
                  <a:txBody>
                    <a:bodyPr/>
                    <a:lstStyle/>
                    <a:p>
                      <a:pPr marL="0" indent="0">
                        <a:buNone/>
                      </a:pPr>
                      <a:r>
                        <a:rPr lang="en-US" sz="1250" dirty="0">
                          <a:solidFill>
                            <a:srgbClr val="3A3A40"/>
                          </a:solidFill>
                          <a:latin typeface="Arial" pitchFamily="34" charset="0"/>
                          <a:ea typeface="Arial" pitchFamily="34" charset="-122"/>
                          <a:cs typeface="Arial" pitchFamily="34" charset="-120"/>
                        </a:rPr>
                        <a:t>May 2026</a:t>
                      </a:r>
                      <a:endParaRPr lang="en-US" sz="1250" dirty="0">
                        <a:latin typeface="Arial" charset="0"/>
                        <a:ea typeface="Arial" charset="0"/>
                        <a:cs typeface="Arial" charset="0"/>
                      </a:endParaRPr>
                    </a:p>
                  </a:txBody>
                  <a:tcPr marL="0" marR="76200" marT="88900" marB="88900" anchor="ctr">
                    <a:lnL w="0" cap="flat" cmpd="sng" algn="ctr">
                      <a:noFill/>
                    </a:lnL>
                    <a:lnR w="0" cap="flat" cmpd="sng" algn="ctr">
                      <a:noFill/>
                    </a:lnR>
                    <a:lnT w="15240" cap="flat" cmpd="sng" algn="ctr">
                      <a:solidFill>
                        <a:srgbClr val="111114"/>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50" b="1" dirty="0">
                          <a:solidFill>
                            <a:srgbClr val="111114"/>
                          </a:solidFill>
                          <a:latin typeface="Arial" pitchFamily="34" charset="0"/>
                          <a:ea typeface="Arial" pitchFamily="34" charset="-122"/>
                          <a:cs typeface="Arial" pitchFamily="34" charset="-120"/>
                        </a:rPr>
                        <a:t>Dario Amodei</a:t>
                      </a:r>
                      <a:endParaRPr lang="en-US" sz="1250" dirty="0">
                        <a:latin typeface="Arial" charset="0"/>
                        <a:ea typeface="Arial" charset="0"/>
                        <a:cs typeface="Arial" charset="0"/>
                      </a:endParaRPr>
                    </a:p>
                    <a:p>
                      <a:pPr marL="0" indent="0">
                        <a:buNone/>
                      </a:pPr>
                      <a:r>
                        <a:rPr lang="en-US" sz="1250" b="1" dirty="0">
                          <a:solidFill>
                            <a:srgbClr val="111114"/>
                          </a:solidFill>
                          <a:latin typeface="Arial" pitchFamily="34" charset="0"/>
                          <a:ea typeface="Arial" pitchFamily="34" charset="-122"/>
                          <a:cs typeface="Arial" pitchFamily="34" charset="-120"/>
                        </a:rPr>
                        <a:t>Anthropic</a:t>
                      </a:r>
                      <a:endParaRPr lang="en-US" sz="12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tc>
                  <a:txBody>
                    <a:bodyPr/>
                    <a:lstStyle/>
                    <a:p>
                      <a:pPr marL="0" indent="0">
                        <a:buNone/>
                      </a:pPr>
                      <a:r>
                        <a:rPr lang="en-US" sz="1250" dirty="0">
                          <a:solidFill>
                            <a:srgbClr val="3A3A40"/>
                          </a:solidFill>
                          <a:latin typeface="Arial" pitchFamily="34" charset="0"/>
                          <a:ea typeface="Arial" pitchFamily="34" charset="-122"/>
                          <a:cs typeface="Arial" pitchFamily="34" charset="-120"/>
                        </a:rPr>
                        <a:t>IA superhumana posible en 2027. “La amenaza de seguridad nacional más seria del último siglo”</a:t>
                      </a:r>
                      <a:endParaRPr lang="en-US" sz="12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tc>
                  <a:txBody>
                    <a:bodyPr/>
                    <a:lstStyle/>
                    <a:p>
                      <a:pPr marL="0" indent="0">
                        <a:buNone/>
                      </a:pPr>
                      <a:r>
                        <a:rPr lang="en-US" sz="1250" dirty="0">
                          <a:solidFill>
                            <a:srgbClr val="3A3A40"/>
                          </a:solidFill>
                          <a:latin typeface="Arial" pitchFamily="34" charset="0"/>
                          <a:ea typeface="Arial" pitchFamily="34" charset="-122"/>
                          <a:cs typeface="Arial" pitchFamily="34" charset="-120"/>
                        </a:rPr>
                        <a:t>Ene 2026</a:t>
                      </a:r>
                      <a:endParaRPr lang="en-US" sz="12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250" b="1" dirty="0">
                          <a:solidFill>
                            <a:srgbClr val="111114"/>
                          </a:solidFill>
                          <a:latin typeface="Arial" pitchFamily="34" charset="0"/>
                          <a:ea typeface="Arial" pitchFamily="34" charset="-122"/>
                          <a:cs typeface="Arial" pitchFamily="34" charset="-120"/>
                        </a:rPr>
                        <a:t>Sam Altman</a:t>
                      </a:r>
                      <a:endParaRPr lang="en-US" sz="1250" dirty="0">
                        <a:latin typeface="Arial" charset="0"/>
                        <a:ea typeface="Arial" charset="0"/>
                        <a:cs typeface="Arial" charset="0"/>
                      </a:endParaRPr>
                    </a:p>
                    <a:p>
                      <a:pPr marL="0" indent="0">
                        <a:buNone/>
                      </a:pPr>
                      <a:r>
                        <a:rPr lang="en-US" sz="1250" b="1" dirty="0">
                          <a:solidFill>
                            <a:srgbClr val="111114"/>
                          </a:solidFill>
                          <a:latin typeface="Arial" pitchFamily="34" charset="0"/>
                          <a:ea typeface="Arial" pitchFamily="34" charset="-122"/>
                          <a:cs typeface="Arial" pitchFamily="34" charset="-120"/>
                        </a:rPr>
                        <a:t>OpenAI</a:t>
                      </a:r>
                      <a:endParaRPr lang="en-US" sz="12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tc>
                  <a:txBody>
                    <a:bodyPr/>
                    <a:lstStyle/>
                    <a:p>
                      <a:pPr marL="0" indent="0">
                        <a:buNone/>
                      </a:pPr>
                      <a:r>
                        <a:rPr lang="en-US" sz="1250" dirty="0">
                          <a:solidFill>
                            <a:srgbClr val="3A3A40"/>
                          </a:solidFill>
                          <a:latin typeface="Arial" pitchFamily="34" charset="0"/>
                          <a:ea typeface="Arial" pitchFamily="34" charset="-122"/>
                          <a:cs typeface="Arial" pitchFamily="34" charset="-120"/>
                        </a:rPr>
                        <a:t>2026: sistemas que descubren insights novedosos. 2027: robots en el mundo real</a:t>
                      </a:r>
                      <a:endParaRPr lang="en-US" sz="12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tc>
                  <a:txBody>
                    <a:bodyPr/>
                    <a:lstStyle/>
                    <a:p>
                      <a:pPr marL="0" indent="0">
                        <a:buNone/>
                      </a:pPr>
                      <a:r>
                        <a:rPr lang="en-US" sz="1250" dirty="0">
                          <a:solidFill>
                            <a:srgbClr val="3A3A40"/>
                          </a:solidFill>
                          <a:latin typeface="Arial" pitchFamily="34" charset="0"/>
                          <a:ea typeface="Arial" pitchFamily="34" charset="-122"/>
                          <a:cs typeface="Arial" pitchFamily="34" charset="-120"/>
                        </a:rPr>
                        <a:t>Jun 2025</a:t>
                      </a:r>
                      <a:endParaRPr lang="en-US" sz="12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250" b="1" dirty="0">
                          <a:solidFill>
                            <a:srgbClr val="111114"/>
                          </a:solidFill>
                          <a:latin typeface="Arial" pitchFamily="34" charset="0"/>
                          <a:ea typeface="Arial" pitchFamily="34" charset="-122"/>
                          <a:cs typeface="Arial" pitchFamily="34" charset="-120"/>
                        </a:rPr>
                        <a:t>Yann LeCun</a:t>
                      </a:r>
                      <a:endParaRPr lang="en-US" sz="1250" dirty="0">
                        <a:latin typeface="Arial" charset="0"/>
                        <a:ea typeface="Arial" charset="0"/>
                        <a:cs typeface="Arial" charset="0"/>
                      </a:endParaRPr>
                    </a:p>
                    <a:p>
                      <a:pPr marL="0" indent="0">
                        <a:buNone/>
                      </a:pPr>
                      <a:r>
                        <a:rPr lang="en-US" sz="1250" b="1" dirty="0">
                          <a:solidFill>
                            <a:srgbClr val="111114"/>
                          </a:solidFill>
                          <a:latin typeface="Arial" pitchFamily="34" charset="0"/>
                          <a:ea typeface="Arial" pitchFamily="34" charset="-122"/>
                          <a:cs typeface="Arial" pitchFamily="34" charset="-120"/>
                        </a:rPr>
                        <a:t>ex-Meta, AMI Labs</a:t>
                      </a:r>
                      <a:endParaRPr lang="en-US" sz="12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tc>
                  <a:txBody>
                    <a:bodyPr/>
                    <a:lstStyle/>
                    <a:p>
                      <a:pPr marL="0" indent="0">
                        <a:buNone/>
                      </a:pPr>
                      <a:r>
                        <a:rPr lang="en-US" sz="1250" dirty="0">
                          <a:solidFill>
                            <a:srgbClr val="3A3A40"/>
                          </a:solidFill>
                          <a:latin typeface="Arial" pitchFamily="34" charset="0"/>
                          <a:ea typeface="Arial" pitchFamily="34" charset="-122"/>
                          <a:cs typeface="Arial" pitchFamily="34" charset="-120"/>
                        </a:rPr>
                        <a:t>Los LLM son un callejón sin salida. Levantó ~US$1.000M para construir otra cosa</a:t>
                      </a:r>
                      <a:endParaRPr lang="en-US" sz="12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tc>
                  <a:txBody>
                    <a:bodyPr/>
                    <a:lstStyle/>
                    <a:p>
                      <a:pPr marL="0" indent="0">
                        <a:buNone/>
                      </a:pPr>
                      <a:r>
                        <a:rPr lang="en-US" sz="1250" dirty="0">
                          <a:solidFill>
                            <a:srgbClr val="3A3A40"/>
                          </a:solidFill>
                          <a:latin typeface="Arial" pitchFamily="34" charset="0"/>
                          <a:ea typeface="Arial" pitchFamily="34" charset="-122"/>
                          <a:cs typeface="Arial" pitchFamily="34" charset="-120"/>
                        </a:rPr>
                        <a:t>2026</a:t>
                      </a:r>
                      <a:endParaRPr lang="en-US" sz="12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250" b="1" dirty="0">
                          <a:solidFill>
                            <a:srgbClr val="111114"/>
                          </a:solidFill>
                          <a:latin typeface="Arial" pitchFamily="34" charset="0"/>
                          <a:ea typeface="Arial" pitchFamily="34" charset="-122"/>
                          <a:cs typeface="Arial" pitchFamily="34" charset="-120"/>
                        </a:rPr>
                        <a:t>Gary Marcus y otros</a:t>
                      </a:r>
                      <a:endParaRPr lang="en-US" sz="1250" dirty="0">
                        <a:latin typeface="Arial" charset="0"/>
                        <a:ea typeface="Arial" charset="0"/>
                        <a:cs typeface="Arial" charset="0"/>
                      </a:endParaRPr>
                    </a:p>
                    <a:p>
                      <a:pPr marL="0" indent="0">
                        <a:buNone/>
                      </a:pPr>
                      <a:r>
                        <a:rPr lang="en-US" sz="1250" b="1" dirty="0">
                          <a:solidFill>
                            <a:srgbClr val="111114"/>
                          </a:solidFill>
                          <a:latin typeface="Arial" pitchFamily="34" charset="0"/>
                          <a:ea typeface="Arial" pitchFamily="34" charset="-122"/>
                          <a:cs typeface="Arial" pitchFamily="34" charset="-120"/>
                        </a:rPr>
                        <a:t>escépticos</a:t>
                      </a:r>
                      <a:endParaRPr lang="en-US" sz="12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tc>
                  <a:txBody>
                    <a:bodyPr/>
                    <a:lstStyle/>
                    <a:p>
                      <a:pPr marL="0" indent="0">
                        <a:buNone/>
                      </a:pPr>
                      <a:r>
                        <a:rPr lang="en-US" sz="1250" dirty="0">
                          <a:solidFill>
                            <a:srgbClr val="3A3A40"/>
                          </a:solidFill>
                          <a:latin typeface="Arial" pitchFamily="34" charset="0"/>
                          <a:ea typeface="Arial" pitchFamily="34" charset="-122"/>
                          <a:cs typeface="Arial" pitchFamily="34" charset="-120"/>
                        </a:rPr>
                        <a:t>Rendimientos decrecientes del escalado. La economía no cierra</a:t>
                      </a:r>
                      <a:endParaRPr lang="en-US" sz="12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tc>
                  <a:txBody>
                    <a:bodyPr/>
                    <a:lstStyle/>
                    <a:p>
                      <a:pPr marL="0" indent="0">
                        <a:buNone/>
                      </a:pPr>
                      <a:r>
                        <a:rPr lang="en-US" sz="1250" dirty="0">
                          <a:solidFill>
                            <a:srgbClr val="3A3A40"/>
                          </a:solidFill>
                          <a:latin typeface="Arial" pitchFamily="34" charset="0"/>
                          <a:ea typeface="Arial" pitchFamily="34" charset="-122"/>
                          <a:cs typeface="Arial" pitchFamily="34" charset="-120"/>
                        </a:rPr>
                        <a:t>Continuo</a:t>
                      </a:r>
                      <a:endParaRPr lang="en-US" sz="12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2"/>
          <p:cNvSpPr/>
          <p:nvPr/>
        </p:nvSpPr>
        <p:spPr>
          <a:xfrm>
            <a:off x="777240" y="5532120"/>
            <a:ext cx="10637215" cy="777240"/>
          </a:xfrm>
          <a:prstGeom prst="roundRect">
            <a:avLst>
              <a:gd name="adj" fmla="val 7059"/>
            </a:avLst>
          </a:prstGeom>
          <a:solidFill>
            <a:srgbClr val="F6F6F5"/>
          </a:solidFill>
          <a:ln w="12700">
            <a:solidFill>
              <a:srgbClr val="F6F6F5"/>
            </a:solidFill>
            <a:prstDash val="solid"/>
          </a:ln>
        </p:spPr>
        <p:txBody>
          <a:bodyPr/>
          <a:lstStyle/>
          <a:p>
            <a:endParaRPr lang="en-AR"/>
          </a:p>
        </p:txBody>
      </p:sp>
      <p:sp>
        <p:nvSpPr>
          <p:cNvPr id="6" name="Text 3"/>
          <p:cNvSpPr/>
          <p:nvPr/>
        </p:nvSpPr>
        <p:spPr>
          <a:xfrm>
            <a:off x="1143000" y="5742432"/>
            <a:ext cx="9905695" cy="365760"/>
          </a:xfrm>
          <a:prstGeom prst="rect">
            <a:avLst/>
          </a:prstGeom>
          <a:noFill/>
          <a:ln/>
        </p:spPr>
        <p:txBody>
          <a:bodyPr wrap="square" lIns="0" tIns="0" rIns="0" bIns="0" rtlCol="0" anchor="ctr"/>
          <a:lstStyle/>
          <a:p>
            <a:pPr marL="0" indent="0">
              <a:buNone/>
            </a:pPr>
            <a:r>
              <a:rPr lang="en-US" sz="1300" i="1" dirty="0">
                <a:solidFill>
                  <a:srgbClr val="3A3A40"/>
                </a:solidFill>
                <a:latin typeface="Arial" pitchFamily="34" charset="0"/>
                <a:ea typeface="Arial" pitchFamily="34" charset="-122"/>
                <a:cs typeface="Arial" pitchFamily="34" charset="-120"/>
              </a:rPr>
              <a:t>Cuatro personas con acceso a la mejor información del planeta discrepan en un factor de diez sobre los tiempos. Esa incertidumbre es un dato, no un defecto de la presentación.</a:t>
            </a:r>
            <a:endParaRPr lang="en-US" sz="1300" dirty="0"/>
          </a:p>
        </p:txBody>
      </p:sp>
      <p:sp>
        <p:nvSpPr>
          <p:cNvPr id="7" name="Text 4"/>
          <p:cNvSpPr/>
          <p:nvPr/>
        </p:nvSpPr>
        <p:spPr>
          <a:xfrm>
            <a:off x="10865815" y="6291072"/>
            <a:ext cx="548640" cy="274320"/>
          </a:xfrm>
          <a:prstGeom prst="rect">
            <a:avLst/>
          </a:prstGeom>
          <a:noFill/>
          <a:ln/>
        </p:spPr>
        <p:txBody>
          <a:bodyPr wrap="square" lIns="0" tIns="0" rIns="0" bIns="0" rtlCol="0" anchor="ctr"/>
          <a:lstStyle/>
          <a:p>
            <a:pPr marL="0" indent="0" algn="r">
              <a:buNone/>
            </a:pPr>
            <a:r>
              <a:rPr lang="en-US" sz="900" dirty="0">
                <a:solidFill>
                  <a:srgbClr val="9A9AA0"/>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420624"/>
            <a:ext cx="10637215" cy="237744"/>
          </a:xfrm>
          <a:prstGeom prst="rect">
            <a:avLst/>
          </a:prstGeom>
          <a:noFill/>
          <a:ln/>
        </p:spPr>
        <p:txBody>
          <a:bodyPr wrap="square" lIns="0" tIns="0" rIns="0" bIns="0" rtlCol="0" anchor="ctr"/>
          <a:lstStyle/>
          <a:p>
            <a:pPr marL="0" indent="0">
              <a:buNone/>
            </a:pPr>
            <a:r>
              <a:rPr lang="en-US" sz="1050" b="1" kern="0" spc="200" dirty="0">
                <a:solidFill>
                  <a:srgbClr val="E04E39"/>
                </a:solidFill>
                <a:latin typeface="Arial" pitchFamily="34" charset="0"/>
                <a:ea typeface="Arial" pitchFamily="34" charset="-122"/>
                <a:cs typeface="Arial" pitchFamily="34" charset="-120"/>
              </a:rPr>
              <a:t>LA MEJOR MÉTRICA</a:t>
            </a:r>
            <a:endParaRPr lang="en-US" sz="1050" dirty="0"/>
          </a:p>
        </p:txBody>
      </p:sp>
      <p:sp>
        <p:nvSpPr>
          <p:cNvPr id="3" name="Text 1"/>
          <p:cNvSpPr/>
          <p:nvPr/>
        </p:nvSpPr>
        <p:spPr>
          <a:xfrm>
            <a:off x="777240" y="694944"/>
            <a:ext cx="10637215" cy="566928"/>
          </a:xfrm>
          <a:prstGeom prst="rect">
            <a:avLst/>
          </a:prstGeom>
          <a:noFill/>
          <a:ln/>
        </p:spPr>
        <p:txBody>
          <a:bodyPr wrap="square" lIns="0" tIns="0" rIns="0" bIns="0" rtlCol="0" anchor="t"/>
          <a:lstStyle/>
          <a:p>
            <a:pPr marL="0" indent="0">
              <a:lnSpc>
                <a:spcPts val="3400"/>
              </a:lnSpc>
              <a:buNone/>
            </a:pPr>
            <a:r>
              <a:rPr lang="en-US" sz="3000" b="1" dirty="0">
                <a:solidFill>
                  <a:srgbClr val="111114"/>
                </a:solidFill>
                <a:latin typeface="Arial" pitchFamily="34" charset="0"/>
                <a:ea typeface="Arial" pitchFamily="34" charset="-122"/>
                <a:cs typeface="Arial" pitchFamily="34" charset="-120"/>
              </a:rPr>
              <a:t>¿Cuán larga es la tarea que puede hacer sola?</a:t>
            </a:r>
            <a:endParaRPr lang="en-US" sz="3000" dirty="0"/>
          </a:p>
        </p:txBody>
      </p:sp>
      <p:sp>
        <p:nvSpPr>
          <p:cNvPr id="4" name="Text 2"/>
          <p:cNvSpPr/>
          <p:nvPr/>
        </p:nvSpPr>
        <p:spPr>
          <a:xfrm>
            <a:off x="777240" y="1517904"/>
            <a:ext cx="6583680" cy="548640"/>
          </a:xfrm>
          <a:prstGeom prst="rect">
            <a:avLst/>
          </a:prstGeom>
          <a:noFill/>
          <a:ln/>
        </p:spPr>
        <p:txBody>
          <a:bodyPr wrap="square" lIns="0" tIns="0" rIns="0" bIns="0" rtlCol="0" anchor="t"/>
          <a:lstStyle/>
          <a:p>
            <a:pPr marL="0" indent="0">
              <a:lnSpc>
                <a:spcPts val="2103"/>
              </a:lnSpc>
              <a:buNone/>
            </a:pPr>
            <a:r>
              <a:rPr lang="en-US" sz="1450" dirty="0">
                <a:solidFill>
                  <a:srgbClr val="3A3A40"/>
                </a:solidFill>
                <a:latin typeface="Arial" pitchFamily="34" charset="0"/>
                <a:ea typeface="Arial" pitchFamily="34" charset="-122"/>
                <a:cs typeface="Arial" pitchFamily="34" charset="-120"/>
              </a:rPr>
              <a:t>METR no toma examen. Mide otra cosa: la duración de la tarea que un modelo completa por su cuenta con 50% de éxito.</a:t>
            </a:r>
            <a:endParaRPr lang="en-US" sz="1450" dirty="0"/>
          </a:p>
        </p:txBody>
      </p:sp>
      <p:sp>
        <p:nvSpPr>
          <p:cNvPr id="5" name="Shape 3"/>
          <p:cNvSpPr/>
          <p:nvPr/>
        </p:nvSpPr>
        <p:spPr>
          <a:xfrm>
            <a:off x="777240" y="4937760"/>
            <a:ext cx="1463040" cy="457200"/>
          </a:xfrm>
          <a:prstGeom prst="rect">
            <a:avLst/>
          </a:prstGeom>
          <a:solidFill>
            <a:srgbClr val="111114"/>
          </a:solidFill>
          <a:ln w="12700">
            <a:solidFill>
              <a:srgbClr val="333333"/>
            </a:solidFill>
            <a:prstDash val="solid"/>
          </a:ln>
        </p:spPr>
        <p:txBody>
          <a:bodyPr/>
          <a:lstStyle/>
          <a:p>
            <a:endParaRPr lang="en-AR"/>
          </a:p>
        </p:txBody>
      </p:sp>
      <p:sp>
        <p:nvSpPr>
          <p:cNvPr id="6" name="Text 4"/>
          <p:cNvSpPr/>
          <p:nvPr/>
        </p:nvSpPr>
        <p:spPr>
          <a:xfrm>
            <a:off x="777240" y="4480560"/>
            <a:ext cx="1463040" cy="384048"/>
          </a:xfrm>
          <a:prstGeom prst="rect">
            <a:avLst/>
          </a:prstGeom>
          <a:noFill/>
          <a:ln/>
        </p:spPr>
        <p:txBody>
          <a:bodyPr wrap="square" lIns="0" tIns="0" rIns="0" bIns="0" rtlCol="0" anchor="b"/>
          <a:lstStyle/>
          <a:p>
            <a:pPr marL="0" indent="0" algn="ctr">
              <a:buNone/>
            </a:pPr>
            <a:r>
              <a:rPr lang="en-US" sz="1900" b="1" dirty="0">
                <a:solidFill>
                  <a:srgbClr val="111114"/>
                </a:solidFill>
                <a:latin typeface="Arial" pitchFamily="34" charset="0"/>
                <a:ea typeface="Arial" pitchFamily="34" charset="-122"/>
                <a:cs typeface="Arial" pitchFamily="34" charset="-120"/>
              </a:rPr>
              <a:t>3,5 min</a:t>
            </a:r>
            <a:endParaRPr lang="en-US" sz="1900" dirty="0"/>
          </a:p>
        </p:txBody>
      </p:sp>
      <p:sp>
        <p:nvSpPr>
          <p:cNvPr id="7" name="Text 5"/>
          <p:cNvSpPr/>
          <p:nvPr/>
        </p:nvSpPr>
        <p:spPr>
          <a:xfrm>
            <a:off x="640080" y="5504688"/>
            <a:ext cx="1737360" cy="502920"/>
          </a:xfrm>
          <a:prstGeom prst="rect">
            <a:avLst/>
          </a:prstGeom>
          <a:noFill/>
          <a:ln/>
        </p:spPr>
        <p:txBody>
          <a:bodyPr wrap="square" lIns="0" tIns="0" rIns="0" bIns="0" rtlCol="0" anchor="t"/>
          <a:lstStyle/>
          <a:p>
            <a:pPr marL="0" indent="0" algn="ctr">
              <a:lnSpc>
                <a:spcPts val="1300"/>
              </a:lnSpc>
              <a:buNone/>
            </a:pPr>
            <a:r>
              <a:rPr lang="en-US" sz="1050" b="1" dirty="0">
                <a:solidFill>
                  <a:srgbClr val="3A3A40"/>
                </a:solidFill>
                <a:latin typeface="Arial" pitchFamily="34" charset="0"/>
                <a:ea typeface="Arial" pitchFamily="34" charset="-122"/>
                <a:cs typeface="Arial" pitchFamily="34" charset="-120"/>
              </a:rPr>
              <a:t>GPT-4</a:t>
            </a:r>
            <a:endParaRPr lang="en-US" sz="1050" dirty="0"/>
          </a:p>
          <a:p>
            <a:pPr marL="0" indent="0" algn="ctr">
              <a:lnSpc>
                <a:spcPts val="1300"/>
              </a:lnSpc>
              <a:buNone/>
            </a:pPr>
            <a:r>
              <a:rPr lang="en-US" sz="1050" dirty="0">
                <a:solidFill>
                  <a:srgbClr val="9A9AA0"/>
                </a:solidFill>
                <a:latin typeface="Arial" pitchFamily="34" charset="0"/>
                <a:ea typeface="Arial" pitchFamily="34" charset="-122"/>
                <a:cs typeface="Arial" pitchFamily="34" charset="-120"/>
              </a:rPr>
              <a:t>2023</a:t>
            </a:r>
            <a:endParaRPr lang="en-US" sz="1050" dirty="0"/>
          </a:p>
        </p:txBody>
      </p:sp>
      <p:sp>
        <p:nvSpPr>
          <p:cNvPr id="8" name="Shape 6"/>
          <p:cNvSpPr/>
          <p:nvPr/>
        </p:nvSpPr>
        <p:spPr>
          <a:xfrm>
            <a:off x="2606040" y="3931920"/>
            <a:ext cx="1463040" cy="1463040"/>
          </a:xfrm>
          <a:prstGeom prst="rect">
            <a:avLst/>
          </a:prstGeom>
          <a:solidFill>
            <a:srgbClr val="111114"/>
          </a:solidFill>
          <a:ln w="12700">
            <a:solidFill>
              <a:srgbClr val="333333"/>
            </a:solidFill>
            <a:prstDash val="solid"/>
          </a:ln>
        </p:spPr>
        <p:txBody>
          <a:bodyPr/>
          <a:lstStyle/>
          <a:p>
            <a:endParaRPr lang="en-AR"/>
          </a:p>
        </p:txBody>
      </p:sp>
      <p:sp>
        <p:nvSpPr>
          <p:cNvPr id="9" name="Text 7"/>
          <p:cNvSpPr/>
          <p:nvPr/>
        </p:nvSpPr>
        <p:spPr>
          <a:xfrm>
            <a:off x="2606040" y="3474720"/>
            <a:ext cx="1463040" cy="384048"/>
          </a:xfrm>
          <a:prstGeom prst="rect">
            <a:avLst/>
          </a:prstGeom>
          <a:noFill/>
          <a:ln/>
        </p:spPr>
        <p:txBody>
          <a:bodyPr wrap="square" lIns="0" tIns="0" rIns="0" bIns="0" rtlCol="0" anchor="b"/>
          <a:lstStyle/>
          <a:p>
            <a:pPr marL="0" indent="0" algn="ctr">
              <a:buNone/>
            </a:pPr>
            <a:r>
              <a:rPr lang="en-US" sz="1900" b="1" dirty="0">
                <a:solidFill>
                  <a:srgbClr val="111114"/>
                </a:solidFill>
                <a:latin typeface="Arial" pitchFamily="34" charset="0"/>
                <a:ea typeface="Arial" pitchFamily="34" charset="-122"/>
                <a:cs typeface="Arial" pitchFamily="34" charset="-120"/>
              </a:rPr>
              <a:t>2 horas</a:t>
            </a:r>
            <a:endParaRPr lang="en-US" sz="1900" dirty="0"/>
          </a:p>
        </p:txBody>
      </p:sp>
      <p:sp>
        <p:nvSpPr>
          <p:cNvPr id="10" name="Text 8"/>
          <p:cNvSpPr/>
          <p:nvPr/>
        </p:nvSpPr>
        <p:spPr>
          <a:xfrm>
            <a:off x="2468880" y="5504688"/>
            <a:ext cx="1737360" cy="502920"/>
          </a:xfrm>
          <a:prstGeom prst="rect">
            <a:avLst/>
          </a:prstGeom>
          <a:noFill/>
          <a:ln/>
        </p:spPr>
        <p:txBody>
          <a:bodyPr wrap="square" lIns="0" tIns="0" rIns="0" bIns="0" rtlCol="0" anchor="t"/>
          <a:lstStyle/>
          <a:p>
            <a:pPr marL="0" indent="0" algn="ctr">
              <a:lnSpc>
                <a:spcPts val="1300"/>
              </a:lnSpc>
              <a:buNone/>
            </a:pPr>
            <a:r>
              <a:rPr lang="en-US" sz="1050" b="1" dirty="0">
                <a:solidFill>
                  <a:srgbClr val="3A3A40"/>
                </a:solidFill>
                <a:latin typeface="Arial" pitchFamily="34" charset="0"/>
                <a:ea typeface="Arial" pitchFamily="34" charset="-122"/>
                <a:cs typeface="Arial" pitchFamily="34" charset="-120"/>
              </a:rPr>
              <a:t>o3</a:t>
            </a:r>
            <a:endParaRPr lang="en-US" sz="1050" dirty="0"/>
          </a:p>
          <a:p>
            <a:pPr marL="0" indent="0" algn="ctr">
              <a:lnSpc>
                <a:spcPts val="1300"/>
              </a:lnSpc>
              <a:buNone/>
            </a:pPr>
            <a:r>
              <a:rPr lang="en-US" sz="1050" dirty="0">
                <a:solidFill>
                  <a:srgbClr val="9A9AA0"/>
                </a:solidFill>
                <a:latin typeface="Arial" pitchFamily="34" charset="0"/>
                <a:ea typeface="Arial" pitchFamily="34" charset="-122"/>
                <a:cs typeface="Arial" pitchFamily="34" charset="-120"/>
              </a:rPr>
              <a:t>2025</a:t>
            </a:r>
            <a:endParaRPr lang="en-US" sz="1050" dirty="0"/>
          </a:p>
        </p:txBody>
      </p:sp>
      <p:sp>
        <p:nvSpPr>
          <p:cNvPr id="11" name="Shape 9"/>
          <p:cNvSpPr/>
          <p:nvPr/>
        </p:nvSpPr>
        <p:spPr>
          <a:xfrm>
            <a:off x="4434840" y="3154680"/>
            <a:ext cx="1463040" cy="2240280"/>
          </a:xfrm>
          <a:prstGeom prst="rect">
            <a:avLst/>
          </a:prstGeom>
          <a:solidFill>
            <a:srgbClr val="111114"/>
          </a:solidFill>
          <a:ln w="12700">
            <a:solidFill>
              <a:srgbClr val="333333"/>
            </a:solidFill>
            <a:prstDash val="solid"/>
          </a:ln>
        </p:spPr>
        <p:txBody>
          <a:bodyPr/>
          <a:lstStyle/>
          <a:p>
            <a:endParaRPr lang="en-AR"/>
          </a:p>
        </p:txBody>
      </p:sp>
      <p:sp>
        <p:nvSpPr>
          <p:cNvPr id="12" name="Text 10"/>
          <p:cNvSpPr/>
          <p:nvPr/>
        </p:nvSpPr>
        <p:spPr>
          <a:xfrm>
            <a:off x="4434840" y="2697480"/>
            <a:ext cx="1463040" cy="384048"/>
          </a:xfrm>
          <a:prstGeom prst="rect">
            <a:avLst/>
          </a:prstGeom>
          <a:noFill/>
          <a:ln/>
        </p:spPr>
        <p:txBody>
          <a:bodyPr wrap="square" lIns="0" tIns="0" rIns="0" bIns="0" rtlCol="0" anchor="b"/>
          <a:lstStyle/>
          <a:p>
            <a:pPr marL="0" indent="0" algn="ctr">
              <a:buNone/>
            </a:pPr>
            <a:r>
              <a:rPr lang="en-US" sz="1900" b="1" dirty="0">
                <a:solidFill>
                  <a:srgbClr val="111114"/>
                </a:solidFill>
                <a:latin typeface="Arial" pitchFamily="34" charset="0"/>
                <a:ea typeface="Arial" pitchFamily="34" charset="-122"/>
                <a:cs typeface="Arial" pitchFamily="34" charset="-120"/>
              </a:rPr>
              <a:t>5,3 h</a:t>
            </a:r>
            <a:endParaRPr lang="en-US" sz="1900" dirty="0"/>
          </a:p>
        </p:txBody>
      </p:sp>
      <p:sp>
        <p:nvSpPr>
          <p:cNvPr id="13" name="Text 11"/>
          <p:cNvSpPr/>
          <p:nvPr/>
        </p:nvSpPr>
        <p:spPr>
          <a:xfrm>
            <a:off x="4297680" y="5504688"/>
            <a:ext cx="1737360" cy="502920"/>
          </a:xfrm>
          <a:prstGeom prst="rect">
            <a:avLst/>
          </a:prstGeom>
          <a:noFill/>
          <a:ln/>
        </p:spPr>
        <p:txBody>
          <a:bodyPr wrap="square" lIns="0" tIns="0" rIns="0" bIns="0" rtlCol="0" anchor="t"/>
          <a:lstStyle/>
          <a:p>
            <a:pPr marL="0" indent="0" algn="ctr">
              <a:lnSpc>
                <a:spcPts val="1300"/>
              </a:lnSpc>
              <a:buNone/>
            </a:pPr>
            <a:r>
              <a:rPr lang="en-US" sz="1050" b="1" dirty="0">
                <a:solidFill>
                  <a:srgbClr val="3A3A40"/>
                </a:solidFill>
                <a:latin typeface="Arial" pitchFamily="34" charset="0"/>
                <a:ea typeface="Arial" pitchFamily="34" charset="-122"/>
                <a:cs typeface="Arial" pitchFamily="34" charset="-120"/>
              </a:rPr>
              <a:t>Claude Opus 4.5</a:t>
            </a:r>
            <a:endParaRPr lang="en-US" sz="1050" dirty="0"/>
          </a:p>
          <a:p>
            <a:pPr marL="0" indent="0" algn="ctr">
              <a:lnSpc>
                <a:spcPts val="1300"/>
              </a:lnSpc>
              <a:buNone/>
            </a:pPr>
            <a:r>
              <a:rPr lang="en-US" sz="1050" dirty="0">
                <a:solidFill>
                  <a:srgbClr val="9A9AA0"/>
                </a:solidFill>
                <a:latin typeface="Arial" pitchFamily="34" charset="0"/>
                <a:ea typeface="Arial" pitchFamily="34" charset="-122"/>
                <a:cs typeface="Arial" pitchFamily="34" charset="-120"/>
              </a:rPr>
              <a:t>Ene 2026</a:t>
            </a:r>
            <a:endParaRPr lang="en-US" sz="1050" dirty="0"/>
          </a:p>
        </p:txBody>
      </p:sp>
      <p:sp>
        <p:nvSpPr>
          <p:cNvPr id="14" name="Shape 12"/>
          <p:cNvSpPr/>
          <p:nvPr/>
        </p:nvSpPr>
        <p:spPr>
          <a:xfrm>
            <a:off x="6263640" y="2331720"/>
            <a:ext cx="1463040" cy="3063240"/>
          </a:xfrm>
          <a:prstGeom prst="rect">
            <a:avLst/>
          </a:prstGeom>
          <a:solidFill>
            <a:srgbClr val="F3D6D1"/>
          </a:solidFill>
          <a:ln w="12700">
            <a:solidFill>
              <a:srgbClr val="333333"/>
            </a:solidFill>
            <a:prstDash val="solid"/>
          </a:ln>
        </p:spPr>
        <p:txBody>
          <a:bodyPr/>
          <a:lstStyle/>
          <a:p>
            <a:endParaRPr lang="en-AR"/>
          </a:p>
        </p:txBody>
      </p:sp>
      <p:sp>
        <p:nvSpPr>
          <p:cNvPr id="15" name="Text 13"/>
          <p:cNvSpPr/>
          <p:nvPr/>
        </p:nvSpPr>
        <p:spPr>
          <a:xfrm>
            <a:off x="6263640" y="1874520"/>
            <a:ext cx="1463040" cy="384048"/>
          </a:xfrm>
          <a:prstGeom prst="rect">
            <a:avLst/>
          </a:prstGeom>
          <a:noFill/>
          <a:ln/>
        </p:spPr>
        <p:txBody>
          <a:bodyPr wrap="square" lIns="0" tIns="0" rIns="0" bIns="0" rtlCol="0" anchor="b"/>
          <a:lstStyle/>
          <a:p>
            <a:pPr marL="0" indent="0" algn="ctr">
              <a:buNone/>
            </a:pPr>
            <a:r>
              <a:rPr lang="en-US" sz="1900" b="1" dirty="0">
                <a:solidFill>
                  <a:srgbClr val="E04E39"/>
                </a:solidFill>
                <a:latin typeface="Arial" pitchFamily="34" charset="0"/>
                <a:ea typeface="Arial" pitchFamily="34" charset="-122"/>
                <a:cs typeface="Arial" pitchFamily="34" charset="-120"/>
              </a:rPr>
              <a:t>?</a:t>
            </a:r>
            <a:endParaRPr lang="en-US" sz="1900" dirty="0"/>
          </a:p>
        </p:txBody>
      </p:sp>
      <p:sp>
        <p:nvSpPr>
          <p:cNvPr id="16" name="Text 14"/>
          <p:cNvSpPr/>
          <p:nvPr/>
        </p:nvSpPr>
        <p:spPr>
          <a:xfrm>
            <a:off x="6126480" y="5504688"/>
            <a:ext cx="1737360" cy="502920"/>
          </a:xfrm>
          <a:prstGeom prst="rect">
            <a:avLst/>
          </a:prstGeom>
          <a:noFill/>
          <a:ln/>
        </p:spPr>
        <p:txBody>
          <a:bodyPr wrap="square" lIns="0" tIns="0" rIns="0" bIns="0" rtlCol="0" anchor="t"/>
          <a:lstStyle/>
          <a:p>
            <a:pPr marL="0" indent="0" algn="ctr">
              <a:lnSpc>
                <a:spcPts val="1300"/>
              </a:lnSpc>
              <a:buNone/>
            </a:pPr>
            <a:r>
              <a:rPr lang="en-US" sz="1050" b="1" dirty="0">
                <a:solidFill>
                  <a:srgbClr val="3A3A40"/>
                </a:solidFill>
                <a:latin typeface="Arial" pitchFamily="34" charset="0"/>
                <a:ea typeface="Arial" pitchFamily="34" charset="-122"/>
                <a:cs typeface="Arial" pitchFamily="34" charset="-120"/>
              </a:rPr>
              <a:t>Hoy</a:t>
            </a:r>
            <a:endParaRPr lang="en-US" sz="1050" dirty="0"/>
          </a:p>
          <a:p>
            <a:pPr marL="0" indent="0" algn="ctr">
              <a:lnSpc>
                <a:spcPts val="1300"/>
              </a:lnSpc>
              <a:buNone/>
            </a:pPr>
            <a:r>
              <a:rPr lang="en-US" sz="1050" dirty="0">
                <a:solidFill>
                  <a:srgbClr val="9A9AA0"/>
                </a:solidFill>
                <a:latin typeface="Arial" pitchFamily="34" charset="0"/>
                <a:ea typeface="Arial" pitchFamily="34" charset="-122"/>
                <a:cs typeface="Arial" pitchFamily="34" charset="-120"/>
              </a:rPr>
              <a:t>Ago 2026</a:t>
            </a:r>
            <a:endParaRPr lang="en-US" sz="1050" dirty="0"/>
          </a:p>
        </p:txBody>
      </p:sp>
      <p:sp>
        <p:nvSpPr>
          <p:cNvPr id="17" name="Shape 15"/>
          <p:cNvSpPr/>
          <p:nvPr/>
        </p:nvSpPr>
        <p:spPr>
          <a:xfrm>
            <a:off x="8138160" y="1481328"/>
            <a:ext cx="3273552" cy="3703320"/>
          </a:xfrm>
          <a:prstGeom prst="roundRect">
            <a:avLst>
              <a:gd name="adj" fmla="val 1676"/>
            </a:avLst>
          </a:prstGeom>
          <a:solidFill>
            <a:srgbClr val="F6F6F5"/>
          </a:solidFill>
          <a:ln w="12700">
            <a:solidFill>
              <a:srgbClr val="F6F6F5"/>
            </a:solidFill>
            <a:prstDash val="solid"/>
          </a:ln>
        </p:spPr>
        <p:txBody>
          <a:bodyPr/>
          <a:lstStyle/>
          <a:p>
            <a:endParaRPr lang="en-AR"/>
          </a:p>
        </p:txBody>
      </p:sp>
      <p:sp>
        <p:nvSpPr>
          <p:cNvPr id="18" name="Text 16"/>
          <p:cNvSpPr/>
          <p:nvPr/>
        </p:nvSpPr>
        <p:spPr>
          <a:xfrm>
            <a:off x="8458200" y="1783080"/>
            <a:ext cx="2743200" cy="274320"/>
          </a:xfrm>
          <a:prstGeom prst="rect">
            <a:avLst/>
          </a:prstGeom>
          <a:noFill/>
          <a:ln/>
        </p:spPr>
        <p:txBody>
          <a:bodyPr wrap="square" lIns="0" tIns="0" rIns="0" bIns="0" rtlCol="0" anchor="ctr"/>
          <a:lstStyle/>
          <a:p>
            <a:pPr marL="0" indent="0">
              <a:buNone/>
            </a:pPr>
            <a:r>
              <a:rPr lang="en-US" sz="1000" b="1" kern="0" spc="150" dirty="0">
                <a:solidFill>
                  <a:srgbClr val="E04E39"/>
                </a:solidFill>
                <a:latin typeface="Arial" pitchFamily="34" charset="0"/>
                <a:ea typeface="Arial" pitchFamily="34" charset="-122"/>
                <a:cs typeface="Arial" pitchFamily="34" charset="-120"/>
              </a:rPr>
              <a:t>SE ESTÁ ACELERANDO</a:t>
            </a:r>
            <a:endParaRPr lang="en-US" sz="1000" dirty="0"/>
          </a:p>
        </p:txBody>
      </p:sp>
      <p:sp>
        <p:nvSpPr>
          <p:cNvPr id="19" name="Text 17"/>
          <p:cNvSpPr/>
          <p:nvPr/>
        </p:nvSpPr>
        <p:spPr>
          <a:xfrm>
            <a:off x="8458200" y="2148840"/>
            <a:ext cx="2697480" cy="777240"/>
          </a:xfrm>
          <a:prstGeom prst="rect">
            <a:avLst/>
          </a:prstGeom>
          <a:noFill/>
          <a:ln/>
        </p:spPr>
        <p:txBody>
          <a:bodyPr wrap="square" lIns="0" tIns="0" rIns="0" bIns="0" rtlCol="0" anchor="t"/>
          <a:lstStyle/>
          <a:p>
            <a:pPr marL="0" indent="0">
              <a:buNone/>
            </a:pPr>
            <a:r>
              <a:rPr lang="en-US" sz="5200" b="1" dirty="0">
                <a:solidFill>
                  <a:srgbClr val="111114"/>
                </a:solidFill>
                <a:latin typeface="Arial" pitchFamily="34" charset="0"/>
                <a:ea typeface="Arial" pitchFamily="34" charset="-122"/>
                <a:cs typeface="Arial" pitchFamily="34" charset="-120"/>
              </a:rPr>
              <a:t>89</a:t>
            </a:r>
            <a:endParaRPr lang="en-US" sz="5200" dirty="0"/>
          </a:p>
        </p:txBody>
      </p:sp>
      <p:sp>
        <p:nvSpPr>
          <p:cNvPr id="20" name="Text 18"/>
          <p:cNvSpPr/>
          <p:nvPr/>
        </p:nvSpPr>
        <p:spPr>
          <a:xfrm>
            <a:off x="8458200" y="3017520"/>
            <a:ext cx="2697480" cy="1005840"/>
          </a:xfrm>
          <a:prstGeom prst="rect">
            <a:avLst/>
          </a:prstGeom>
          <a:noFill/>
          <a:ln/>
        </p:spPr>
        <p:txBody>
          <a:bodyPr wrap="square" lIns="0" tIns="0" rIns="0" bIns="0" rtlCol="0" anchor="t"/>
          <a:lstStyle/>
          <a:p>
            <a:pPr marL="0" indent="0">
              <a:lnSpc>
                <a:spcPts val="1800"/>
              </a:lnSpc>
              <a:buNone/>
            </a:pPr>
            <a:r>
              <a:rPr lang="en-US" sz="1300" dirty="0">
                <a:solidFill>
                  <a:srgbClr val="3A3A40"/>
                </a:solidFill>
                <a:latin typeface="Arial" pitchFamily="34" charset="0"/>
                <a:ea typeface="Arial" pitchFamily="34" charset="-122"/>
                <a:cs typeface="Arial" pitchFamily="34" charset="-120"/>
              </a:rPr>
              <a:t>días es hoy el tiempo en que se duplica ese horizonte, si se mide sólo desde 2024.</a:t>
            </a:r>
            <a:endParaRPr lang="en-US" sz="1300" dirty="0"/>
          </a:p>
        </p:txBody>
      </p:sp>
      <p:sp>
        <p:nvSpPr>
          <p:cNvPr id="21" name="Text 19"/>
          <p:cNvSpPr/>
          <p:nvPr/>
        </p:nvSpPr>
        <p:spPr>
          <a:xfrm>
            <a:off x="8458200" y="4206240"/>
            <a:ext cx="2697480" cy="731520"/>
          </a:xfrm>
          <a:prstGeom prst="rect">
            <a:avLst/>
          </a:prstGeom>
          <a:noFill/>
          <a:ln/>
        </p:spPr>
        <p:txBody>
          <a:bodyPr wrap="square" lIns="0" tIns="0" rIns="0" bIns="0" rtlCol="0" anchor="t"/>
          <a:lstStyle/>
          <a:p>
            <a:pPr marL="0" indent="0">
              <a:lnSpc>
                <a:spcPts val="1700"/>
              </a:lnSpc>
              <a:buNone/>
            </a:pPr>
            <a:r>
              <a:rPr lang="en-US" sz="1250" dirty="0">
                <a:solidFill>
                  <a:srgbClr val="6E6E73"/>
                </a:solidFill>
                <a:latin typeface="Arial" pitchFamily="34" charset="0"/>
                <a:ea typeface="Arial" pitchFamily="34" charset="-122"/>
                <a:cs typeface="Arial" pitchFamily="34" charset="-120"/>
              </a:rPr>
              <a:t>En la serie histórica larga eran siete meses.</a:t>
            </a:r>
            <a:endParaRPr lang="en-US" sz="1250" dirty="0"/>
          </a:p>
        </p:txBody>
      </p:sp>
      <p:sp>
        <p:nvSpPr>
          <p:cNvPr id="22" name="Text 20"/>
          <p:cNvSpPr/>
          <p:nvPr/>
        </p:nvSpPr>
        <p:spPr>
          <a:xfrm>
            <a:off x="777240" y="6254496"/>
            <a:ext cx="9905695" cy="310896"/>
          </a:xfrm>
          <a:prstGeom prst="rect">
            <a:avLst/>
          </a:prstGeom>
          <a:noFill/>
          <a:ln/>
        </p:spPr>
        <p:txBody>
          <a:bodyPr wrap="square" lIns="0" tIns="0" rIns="0" bIns="0" rtlCol="0" anchor="t"/>
          <a:lstStyle/>
          <a:p>
            <a:pPr marL="0" indent="0">
              <a:buNone/>
            </a:pPr>
            <a:r>
              <a:rPr lang="en-US" sz="900" i="1" dirty="0">
                <a:solidFill>
                  <a:srgbClr val="9A9AA0"/>
                </a:solidFill>
                <a:latin typeface="Arial" pitchFamily="34" charset="0"/>
                <a:ea typeface="Arial" pitchFamily="34" charset="-122"/>
                <a:cs typeface="Arial" pitchFamily="34" charset="-120"/>
              </a:rPr>
              <a:t>METR, Time Horizon 1.1 (enero 2026). No hay medición pública para los modelos de agosto de 2026.</a:t>
            </a:r>
            <a:endParaRPr lang="en-US" sz="900" dirty="0"/>
          </a:p>
        </p:txBody>
      </p:sp>
      <p:sp>
        <p:nvSpPr>
          <p:cNvPr id="23" name="Text 21"/>
          <p:cNvSpPr/>
          <p:nvPr/>
        </p:nvSpPr>
        <p:spPr>
          <a:xfrm>
            <a:off x="10865815" y="6291072"/>
            <a:ext cx="548640" cy="274320"/>
          </a:xfrm>
          <a:prstGeom prst="rect">
            <a:avLst/>
          </a:prstGeom>
          <a:noFill/>
          <a:ln/>
        </p:spPr>
        <p:txBody>
          <a:bodyPr wrap="square" lIns="0" tIns="0" rIns="0" bIns="0" rtlCol="0" anchor="ctr"/>
          <a:lstStyle/>
          <a:p>
            <a:pPr marL="0" indent="0" algn="r">
              <a:buNone/>
            </a:pPr>
            <a:r>
              <a:rPr lang="en-US" sz="900" dirty="0">
                <a:solidFill>
                  <a:srgbClr val="9A9AA0"/>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420624"/>
            <a:ext cx="10637215" cy="237744"/>
          </a:xfrm>
          <a:prstGeom prst="rect">
            <a:avLst/>
          </a:prstGeom>
          <a:noFill/>
          <a:ln/>
        </p:spPr>
        <p:txBody>
          <a:bodyPr wrap="square" lIns="0" tIns="0" rIns="0" bIns="0" rtlCol="0" anchor="ctr"/>
          <a:lstStyle/>
          <a:p>
            <a:pPr marL="0" indent="0">
              <a:buNone/>
            </a:pPr>
            <a:r>
              <a:rPr lang="en-US" sz="1050" b="1" kern="0" spc="200" dirty="0">
                <a:solidFill>
                  <a:srgbClr val="E04E39"/>
                </a:solidFill>
                <a:latin typeface="Arial" pitchFamily="34" charset="0"/>
                <a:ea typeface="Arial" pitchFamily="34" charset="-122"/>
                <a:cs typeface="Arial" pitchFamily="34" charset="-120"/>
              </a:rPr>
              <a:t>VEREDICTO</a:t>
            </a:r>
            <a:endParaRPr lang="en-US" sz="1050" dirty="0"/>
          </a:p>
        </p:txBody>
      </p:sp>
      <p:sp>
        <p:nvSpPr>
          <p:cNvPr id="3" name="Text 1"/>
          <p:cNvSpPr/>
          <p:nvPr/>
        </p:nvSpPr>
        <p:spPr>
          <a:xfrm>
            <a:off x="777240" y="694944"/>
            <a:ext cx="10637215" cy="566928"/>
          </a:xfrm>
          <a:prstGeom prst="rect">
            <a:avLst/>
          </a:prstGeom>
          <a:noFill/>
          <a:ln/>
        </p:spPr>
        <p:txBody>
          <a:bodyPr wrap="square" lIns="0" tIns="0" rIns="0" bIns="0" rtlCol="0" anchor="t"/>
          <a:lstStyle/>
          <a:p>
            <a:pPr marL="0" indent="0">
              <a:lnSpc>
                <a:spcPts val="3400"/>
              </a:lnSpc>
              <a:buNone/>
            </a:pPr>
            <a:r>
              <a:rPr lang="en-US" sz="3000" b="1" dirty="0">
                <a:solidFill>
                  <a:srgbClr val="111114"/>
                </a:solidFill>
                <a:latin typeface="Arial" pitchFamily="34" charset="0"/>
                <a:ea typeface="Arial" pitchFamily="34" charset="-122"/>
                <a:cs typeface="Arial" pitchFamily="34" charset="-120"/>
              </a:rPr>
              <a:t>Entonces, ¿en qué nivel estamos?</a:t>
            </a:r>
            <a:endParaRPr lang="en-US" sz="3000" dirty="0"/>
          </a:p>
        </p:txBody>
      </p:sp>
      <p:sp>
        <p:nvSpPr>
          <p:cNvPr id="4" name="Text 2"/>
          <p:cNvSpPr/>
          <p:nvPr/>
        </p:nvSpPr>
        <p:spPr>
          <a:xfrm>
            <a:off x="777240" y="1600200"/>
            <a:ext cx="3291840" cy="365760"/>
          </a:xfrm>
          <a:prstGeom prst="rect">
            <a:avLst/>
          </a:prstGeom>
          <a:noFill/>
          <a:ln/>
        </p:spPr>
        <p:txBody>
          <a:bodyPr wrap="square" lIns="0" tIns="0" rIns="0" bIns="0" rtlCol="0" anchor="ctr"/>
          <a:lstStyle/>
          <a:p>
            <a:pPr marL="0" indent="0">
              <a:buNone/>
            </a:pPr>
            <a:r>
              <a:rPr lang="en-US" sz="1800" b="1" dirty="0">
                <a:solidFill>
                  <a:srgbClr val="111114"/>
                </a:solidFill>
                <a:latin typeface="Arial" pitchFamily="34" charset="0"/>
                <a:ea typeface="Arial" pitchFamily="34" charset="-122"/>
                <a:cs typeface="Arial" pitchFamily="34" charset="-120"/>
              </a:rPr>
              <a:t>Nivel 3 · Agentes</a:t>
            </a:r>
            <a:endParaRPr lang="en-US" sz="1800" dirty="0"/>
          </a:p>
        </p:txBody>
      </p:sp>
      <p:sp>
        <p:nvSpPr>
          <p:cNvPr id="5" name="Text 3"/>
          <p:cNvSpPr/>
          <p:nvPr/>
        </p:nvSpPr>
        <p:spPr>
          <a:xfrm>
            <a:off x="4206240" y="1655064"/>
            <a:ext cx="1371600" cy="274320"/>
          </a:xfrm>
          <a:prstGeom prst="rect">
            <a:avLst/>
          </a:prstGeom>
          <a:noFill/>
          <a:ln/>
        </p:spPr>
        <p:txBody>
          <a:bodyPr wrap="square" lIns="0" tIns="0" rIns="0" bIns="0" rtlCol="0" anchor="ctr"/>
          <a:lstStyle/>
          <a:p>
            <a:pPr marL="0" indent="0">
              <a:buNone/>
            </a:pPr>
            <a:r>
              <a:rPr lang="en-US" sz="1100" b="1" kern="0" spc="200" dirty="0">
                <a:solidFill>
                  <a:srgbClr val="E04E39"/>
                </a:solidFill>
                <a:latin typeface="Arial" pitchFamily="34" charset="0"/>
                <a:ea typeface="Arial" pitchFamily="34" charset="-122"/>
                <a:cs typeface="Arial" pitchFamily="34" charset="-120"/>
              </a:rPr>
              <a:t>PARCIAL</a:t>
            </a:r>
            <a:endParaRPr lang="en-US" sz="1100" dirty="0"/>
          </a:p>
        </p:txBody>
      </p:sp>
      <p:sp>
        <p:nvSpPr>
          <p:cNvPr id="6" name="Text 4"/>
          <p:cNvSpPr/>
          <p:nvPr/>
        </p:nvSpPr>
        <p:spPr>
          <a:xfrm>
            <a:off x="5806440" y="1618488"/>
            <a:ext cx="5608015" cy="685800"/>
          </a:xfrm>
          <a:prstGeom prst="rect">
            <a:avLst/>
          </a:prstGeom>
          <a:noFill/>
          <a:ln/>
        </p:spPr>
        <p:txBody>
          <a:bodyPr wrap="square" lIns="0" tIns="0" rIns="0" bIns="0" rtlCol="0" anchor="t"/>
          <a:lstStyle/>
          <a:p>
            <a:pPr marL="0" indent="0">
              <a:lnSpc>
                <a:spcPts val="1900"/>
              </a:lnSpc>
              <a:buNone/>
            </a:pPr>
            <a:r>
              <a:rPr lang="en-US" sz="1350" dirty="0">
                <a:solidFill>
                  <a:srgbClr val="3A3A40"/>
                </a:solidFill>
                <a:latin typeface="Arial" pitchFamily="34" charset="0"/>
                <a:ea typeface="Arial" pitchFamily="34" charset="-122"/>
                <a:cs typeface="Arial" pitchFamily="34" charset="-120"/>
              </a:rPr>
              <a:t>Tenemos agentes de horas, no de “varios días” como pedía la definición original.</a:t>
            </a:r>
            <a:endParaRPr lang="en-US" sz="1350" dirty="0"/>
          </a:p>
        </p:txBody>
      </p:sp>
      <p:sp>
        <p:nvSpPr>
          <p:cNvPr id="7" name="Shape 5"/>
          <p:cNvSpPr/>
          <p:nvPr/>
        </p:nvSpPr>
        <p:spPr>
          <a:xfrm>
            <a:off x="777240" y="2450592"/>
            <a:ext cx="10637215" cy="10973"/>
          </a:xfrm>
          <a:prstGeom prst="rect">
            <a:avLst/>
          </a:prstGeom>
          <a:solidFill>
            <a:srgbClr val="E4E4E6"/>
          </a:solidFill>
          <a:ln w="12700">
            <a:solidFill>
              <a:srgbClr val="333333"/>
            </a:solidFill>
            <a:prstDash val="solid"/>
          </a:ln>
        </p:spPr>
        <p:txBody>
          <a:bodyPr/>
          <a:lstStyle/>
          <a:p>
            <a:endParaRPr lang="en-AR"/>
          </a:p>
        </p:txBody>
      </p:sp>
      <p:sp>
        <p:nvSpPr>
          <p:cNvPr id="8" name="Text 6"/>
          <p:cNvSpPr/>
          <p:nvPr/>
        </p:nvSpPr>
        <p:spPr>
          <a:xfrm>
            <a:off x="777240" y="2651760"/>
            <a:ext cx="3291840" cy="365760"/>
          </a:xfrm>
          <a:prstGeom prst="rect">
            <a:avLst/>
          </a:prstGeom>
          <a:noFill/>
          <a:ln/>
        </p:spPr>
        <p:txBody>
          <a:bodyPr wrap="square" lIns="0" tIns="0" rIns="0" bIns="0" rtlCol="0" anchor="ctr"/>
          <a:lstStyle/>
          <a:p>
            <a:pPr marL="0" indent="0">
              <a:buNone/>
            </a:pPr>
            <a:r>
              <a:rPr lang="en-US" sz="1800" b="1" dirty="0">
                <a:solidFill>
                  <a:srgbClr val="111114"/>
                </a:solidFill>
                <a:latin typeface="Arial" pitchFamily="34" charset="0"/>
                <a:ea typeface="Arial" pitchFamily="34" charset="-122"/>
                <a:cs typeface="Arial" pitchFamily="34" charset="-120"/>
              </a:rPr>
              <a:t>Nivel 4 · Innovadores</a:t>
            </a:r>
            <a:endParaRPr lang="en-US" sz="1800" dirty="0"/>
          </a:p>
        </p:txBody>
      </p:sp>
      <p:sp>
        <p:nvSpPr>
          <p:cNvPr id="9" name="Text 7"/>
          <p:cNvSpPr/>
          <p:nvPr/>
        </p:nvSpPr>
        <p:spPr>
          <a:xfrm>
            <a:off x="4206240" y="2706624"/>
            <a:ext cx="1371600" cy="274320"/>
          </a:xfrm>
          <a:prstGeom prst="rect">
            <a:avLst/>
          </a:prstGeom>
          <a:noFill/>
          <a:ln/>
        </p:spPr>
        <p:txBody>
          <a:bodyPr wrap="square" lIns="0" tIns="0" rIns="0" bIns="0" rtlCol="0" anchor="ctr"/>
          <a:lstStyle/>
          <a:p>
            <a:pPr marL="0" indent="0">
              <a:buNone/>
            </a:pPr>
            <a:r>
              <a:rPr lang="en-US" sz="1100" b="1" kern="0" spc="200" dirty="0">
                <a:solidFill>
                  <a:srgbClr val="8A8A92"/>
                </a:solidFill>
                <a:latin typeface="Arial" pitchFamily="34" charset="0"/>
                <a:ea typeface="Arial" pitchFamily="34" charset="-122"/>
                <a:cs typeface="Arial" pitchFamily="34" charset="-120"/>
              </a:rPr>
              <a:t>ASOMOS</a:t>
            </a:r>
            <a:endParaRPr lang="en-US" sz="1100" dirty="0"/>
          </a:p>
        </p:txBody>
      </p:sp>
      <p:sp>
        <p:nvSpPr>
          <p:cNvPr id="10" name="Text 8"/>
          <p:cNvSpPr/>
          <p:nvPr/>
        </p:nvSpPr>
        <p:spPr>
          <a:xfrm>
            <a:off x="5806440" y="2670048"/>
            <a:ext cx="5608015" cy="685800"/>
          </a:xfrm>
          <a:prstGeom prst="rect">
            <a:avLst/>
          </a:prstGeom>
          <a:noFill/>
          <a:ln/>
        </p:spPr>
        <p:txBody>
          <a:bodyPr wrap="square" lIns="0" tIns="0" rIns="0" bIns="0" rtlCol="0" anchor="t"/>
          <a:lstStyle/>
          <a:p>
            <a:pPr marL="0" indent="0">
              <a:lnSpc>
                <a:spcPts val="1900"/>
              </a:lnSpc>
              <a:buNone/>
            </a:pPr>
            <a:r>
              <a:rPr lang="en-US" sz="1350" dirty="0">
                <a:solidFill>
                  <a:srgbClr val="3A3A40"/>
                </a:solidFill>
                <a:latin typeface="Arial" pitchFamily="34" charset="0"/>
                <a:ea typeface="Arial" pitchFamily="34" charset="-122"/>
                <a:cs typeface="Arial" pitchFamily="34" charset="-120"/>
              </a:rPr>
              <a:t>Ya hay resultados científicos originales producidos por IA. Con una tasa de acierto baja y verificación humana obligatoria.</a:t>
            </a:r>
            <a:endParaRPr lang="en-US" sz="1350" dirty="0"/>
          </a:p>
        </p:txBody>
      </p:sp>
      <p:sp>
        <p:nvSpPr>
          <p:cNvPr id="11" name="Shape 9"/>
          <p:cNvSpPr/>
          <p:nvPr/>
        </p:nvSpPr>
        <p:spPr>
          <a:xfrm>
            <a:off x="777240" y="3502152"/>
            <a:ext cx="10637215" cy="10973"/>
          </a:xfrm>
          <a:prstGeom prst="rect">
            <a:avLst/>
          </a:prstGeom>
          <a:solidFill>
            <a:srgbClr val="E4E4E6"/>
          </a:solidFill>
          <a:ln w="12700">
            <a:solidFill>
              <a:srgbClr val="333333"/>
            </a:solidFill>
            <a:prstDash val="solid"/>
          </a:ln>
        </p:spPr>
        <p:txBody>
          <a:bodyPr/>
          <a:lstStyle/>
          <a:p>
            <a:endParaRPr lang="en-AR"/>
          </a:p>
        </p:txBody>
      </p:sp>
      <p:sp>
        <p:nvSpPr>
          <p:cNvPr id="12" name="Text 10"/>
          <p:cNvSpPr/>
          <p:nvPr/>
        </p:nvSpPr>
        <p:spPr>
          <a:xfrm>
            <a:off x="777240" y="3703320"/>
            <a:ext cx="3291840" cy="365760"/>
          </a:xfrm>
          <a:prstGeom prst="rect">
            <a:avLst/>
          </a:prstGeom>
          <a:noFill/>
          <a:ln/>
        </p:spPr>
        <p:txBody>
          <a:bodyPr wrap="square" lIns="0" tIns="0" rIns="0" bIns="0" rtlCol="0" anchor="ctr"/>
          <a:lstStyle/>
          <a:p>
            <a:pPr marL="0" indent="0">
              <a:buNone/>
            </a:pPr>
            <a:r>
              <a:rPr lang="en-US" sz="1800" b="1" dirty="0">
                <a:solidFill>
                  <a:srgbClr val="111114"/>
                </a:solidFill>
                <a:latin typeface="Arial" pitchFamily="34" charset="0"/>
                <a:ea typeface="Arial" pitchFamily="34" charset="-122"/>
                <a:cs typeface="Arial" pitchFamily="34" charset="-120"/>
              </a:rPr>
              <a:t>Nivel 5 · Organizaciones</a:t>
            </a:r>
            <a:endParaRPr lang="en-US" sz="1800" dirty="0"/>
          </a:p>
        </p:txBody>
      </p:sp>
      <p:sp>
        <p:nvSpPr>
          <p:cNvPr id="13" name="Text 11"/>
          <p:cNvSpPr/>
          <p:nvPr/>
        </p:nvSpPr>
        <p:spPr>
          <a:xfrm>
            <a:off x="4206240" y="3758184"/>
            <a:ext cx="1371600" cy="274320"/>
          </a:xfrm>
          <a:prstGeom prst="rect">
            <a:avLst/>
          </a:prstGeom>
          <a:noFill/>
          <a:ln/>
        </p:spPr>
        <p:txBody>
          <a:bodyPr wrap="square" lIns="0" tIns="0" rIns="0" bIns="0" rtlCol="0" anchor="ctr"/>
          <a:lstStyle/>
          <a:p>
            <a:pPr marL="0" indent="0">
              <a:buNone/>
            </a:pPr>
            <a:r>
              <a:rPr lang="en-US" sz="1100" b="1" kern="0" spc="200" dirty="0">
                <a:solidFill>
                  <a:srgbClr val="C4C4C8"/>
                </a:solidFill>
                <a:latin typeface="Arial" pitchFamily="34" charset="0"/>
                <a:ea typeface="Arial" pitchFamily="34" charset="-122"/>
                <a:cs typeface="Arial" pitchFamily="34" charset="-120"/>
              </a:rPr>
              <a:t>NO</a:t>
            </a:r>
            <a:endParaRPr lang="en-US" sz="1100" dirty="0"/>
          </a:p>
        </p:txBody>
      </p:sp>
      <p:sp>
        <p:nvSpPr>
          <p:cNvPr id="14" name="Text 12"/>
          <p:cNvSpPr/>
          <p:nvPr/>
        </p:nvSpPr>
        <p:spPr>
          <a:xfrm>
            <a:off x="5806440" y="3721608"/>
            <a:ext cx="5608015" cy="685800"/>
          </a:xfrm>
          <a:prstGeom prst="rect">
            <a:avLst/>
          </a:prstGeom>
          <a:noFill/>
          <a:ln/>
        </p:spPr>
        <p:txBody>
          <a:bodyPr wrap="square" lIns="0" tIns="0" rIns="0" bIns="0" rtlCol="0" anchor="t"/>
          <a:lstStyle/>
          <a:p>
            <a:pPr marL="0" indent="0">
              <a:lnSpc>
                <a:spcPts val="1900"/>
              </a:lnSpc>
              <a:buNone/>
            </a:pPr>
            <a:r>
              <a:rPr lang="en-US" sz="1350" dirty="0">
                <a:solidFill>
                  <a:srgbClr val="3A3A40"/>
                </a:solidFill>
                <a:latin typeface="Arial" pitchFamily="34" charset="0"/>
                <a:ea typeface="Arial" pitchFamily="34" charset="-122"/>
                <a:cs typeface="Arial" pitchFamily="34" charset="-120"/>
              </a:rPr>
              <a:t>Nada cerca.</a:t>
            </a:r>
            <a:endParaRPr lang="en-US" sz="1350" dirty="0"/>
          </a:p>
        </p:txBody>
      </p:sp>
      <p:sp>
        <p:nvSpPr>
          <p:cNvPr id="15" name="Shape 13"/>
          <p:cNvSpPr/>
          <p:nvPr/>
        </p:nvSpPr>
        <p:spPr>
          <a:xfrm>
            <a:off x="777240" y="4800600"/>
            <a:ext cx="10637215" cy="1234440"/>
          </a:xfrm>
          <a:prstGeom prst="roundRect">
            <a:avLst>
              <a:gd name="adj" fmla="val 4444"/>
            </a:avLst>
          </a:prstGeom>
          <a:solidFill>
            <a:srgbClr val="111114"/>
          </a:solidFill>
          <a:ln w="12700">
            <a:solidFill>
              <a:srgbClr val="111114"/>
            </a:solidFill>
            <a:prstDash val="solid"/>
          </a:ln>
        </p:spPr>
        <p:txBody>
          <a:bodyPr/>
          <a:lstStyle/>
          <a:p>
            <a:endParaRPr lang="en-AR"/>
          </a:p>
        </p:txBody>
      </p:sp>
      <p:sp>
        <p:nvSpPr>
          <p:cNvPr id="16" name="Text 14"/>
          <p:cNvSpPr/>
          <p:nvPr/>
        </p:nvSpPr>
        <p:spPr>
          <a:xfrm>
            <a:off x="1234440" y="5029200"/>
            <a:ext cx="9722815" cy="822960"/>
          </a:xfrm>
          <a:prstGeom prst="rect">
            <a:avLst/>
          </a:prstGeom>
          <a:noFill/>
          <a:ln/>
        </p:spPr>
        <p:txBody>
          <a:bodyPr wrap="square" lIns="0" tIns="0" rIns="0" bIns="0" rtlCol="0" anchor="ctr"/>
          <a:lstStyle/>
          <a:p>
            <a:pPr marL="0" indent="0">
              <a:lnSpc>
                <a:spcPts val="2700"/>
              </a:lnSpc>
              <a:buNone/>
            </a:pPr>
            <a:r>
              <a:rPr lang="en-US" sz="2000" b="1" dirty="0">
                <a:solidFill>
                  <a:srgbClr val="FFFFFF"/>
                </a:solidFill>
                <a:latin typeface="Arial" pitchFamily="34" charset="0"/>
                <a:ea typeface="Arial" pitchFamily="34" charset="-122"/>
                <a:cs typeface="Arial" pitchFamily="34" charset="-120"/>
              </a:rPr>
              <a:t>“El descubrimiento no es un umbral que se cruza.</a:t>
            </a:r>
            <a:endParaRPr lang="en-US" sz="2000" dirty="0"/>
          </a:p>
          <a:p>
            <a:pPr marL="0" indent="0">
              <a:lnSpc>
                <a:spcPts val="2700"/>
              </a:lnSpc>
              <a:buNone/>
            </a:pPr>
            <a:r>
              <a:rPr lang="en-US" sz="2000" b="1" dirty="0">
                <a:solidFill>
                  <a:srgbClr val="FFFFFF"/>
                </a:solidFill>
                <a:latin typeface="Arial" pitchFamily="34" charset="0"/>
                <a:ea typeface="Arial" pitchFamily="34" charset="-122"/>
                <a:cs typeface="Arial" pitchFamily="34" charset="-120"/>
              </a:rPr>
              <a:t>Es un gradiente. Y ya empezamos a subirlo.”</a:t>
            </a:r>
            <a:endParaRPr lang="en-US" sz="2000" dirty="0"/>
          </a:p>
        </p:txBody>
      </p:sp>
      <p:sp>
        <p:nvSpPr>
          <p:cNvPr id="17" name="Text 15"/>
          <p:cNvSpPr/>
          <p:nvPr/>
        </p:nvSpPr>
        <p:spPr>
          <a:xfrm>
            <a:off x="10865815" y="6291072"/>
            <a:ext cx="548640" cy="274320"/>
          </a:xfrm>
          <a:prstGeom prst="rect">
            <a:avLst/>
          </a:prstGeom>
          <a:noFill/>
          <a:ln/>
        </p:spPr>
        <p:txBody>
          <a:bodyPr wrap="square" lIns="0" tIns="0" rIns="0" bIns="0" rtlCol="0" anchor="ctr"/>
          <a:lstStyle/>
          <a:p>
            <a:pPr marL="0" indent="0" algn="r">
              <a:buNone/>
            </a:pPr>
            <a:r>
              <a:rPr lang="en-US" sz="900" dirty="0">
                <a:solidFill>
                  <a:srgbClr val="9A9AA0"/>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111114"/>
        </a:solidFill>
        <a:effectLst/>
      </p:bgPr>
    </p:bg>
    <p:spTree>
      <p:nvGrpSpPr>
        <p:cNvPr id="1" name=""/>
        <p:cNvGrpSpPr/>
        <p:nvPr/>
      </p:nvGrpSpPr>
      <p:grpSpPr>
        <a:xfrm>
          <a:off x="0" y="0"/>
          <a:ext cx="0" cy="0"/>
          <a:chOff x="0" y="0"/>
          <a:chExt cx="0" cy="0"/>
        </a:xfrm>
      </p:grpSpPr>
      <p:sp>
        <p:nvSpPr>
          <p:cNvPr id="2" name="Text 0"/>
          <p:cNvSpPr/>
          <p:nvPr/>
        </p:nvSpPr>
        <p:spPr>
          <a:xfrm>
            <a:off x="777240" y="1371600"/>
            <a:ext cx="1828800" cy="822960"/>
          </a:xfrm>
          <a:prstGeom prst="rect">
            <a:avLst/>
          </a:prstGeom>
          <a:noFill/>
          <a:ln/>
        </p:spPr>
        <p:txBody>
          <a:bodyPr wrap="square" lIns="0" tIns="0" rIns="0" bIns="0" rtlCol="0" anchor="ctr"/>
          <a:lstStyle/>
          <a:p>
            <a:pPr marL="0" indent="0">
              <a:buNone/>
            </a:pPr>
            <a:r>
              <a:rPr lang="en-US" sz="1500" b="1" kern="0" spc="300" dirty="0">
                <a:solidFill>
                  <a:srgbClr val="E04E39"/>
                </a:solidFill>
                <a:latin typeface="Arial" pitchFamily="34" charset="0"/>
                <a:ea typeface="Arial" pitchFamily="34" charset="-122"/>
                <a:cs typeface="Arial" pitchFamily="34" charset="-120"/>
              </a:rPr>
              <a:t>02</a:t>
            </a:r>
            <a:endParaRPr lang="en-US" sz="1500" dirty="0"/>
          </a:p>
        </p:txBody>
      </p:sp>
      <p:sp>
        <p:nvSpPr>
          <p:cNvPr id="3" name="Text 1"/>
          <p:cNvSpPr/>
          <p:nvPr/>
        </p:nvSpPr>
        <p:spPr>
          <a:xfrm>
            <a:off x="777240" y="1783080"/>
            <a:ext cx="7315200" cy="731520"/>
          </a:xfrm>
          <a:prstGeom prst="rect">
            <a:avLst/>
          </a:prstGeom>
          <a:noFill/>
          <a:ln/>
        </p:spPr>
        <p:txBody>
          <a:bodyPr wrap="square" lIns="0" tIns="0" rIns="0" bIns="0" rtlCol="0" anchor="ctr"/>
          <a:lstStyle/>
          <a:p>
            <a:pPr marL="0" indent="0">
              <a:buNone/>
            </a:pPr>
            <a:r>
              <a:rPr lang="en-US" sz="2000" dirty="0">
                <a:solidFill>
                  <a:srgbClr val="8A8A92"/>
                </a:solidFill>
                <a:latin typeface="Arial" pitchFamily="34" charset="0"/>
                <a:ea typeface="Arial" pitchFamily="34" charset="-122"/>
                <a:cs typeface="Arial" pitchFamily="34" charset="-120"/>
              </a:rPr>
              <a:t>Dónde está hoy</a:t>
            </a:r>
            <a:endParaRPr lang="en-US" sz="2000" dirty="0"/>
          </a:p>
        </p:txBody>
      </p:sp>
      <p:sp>
        <p:nvSpPr>
          <p:cNvPr id="4" name="Text 2"/>
          <p:cNvSpPr/>
          <p:nvPr/>
        </p:nvSpPr>
        <p:spPr>
          <a:xfrm>
            <a:off x="777240" y="2651760"/>
            <a:ext cx="9601200" cy="2194560"/>
          </a:xfrm>
          <a:prstGeom prst="rect">
            <a:avLst/>
          </a:prstGeom>
          <a:noFill/>
          <a:ln/>
        </p:spPr>
        <p:txBody>
          <a:bodyPr wrap="square" lIns="0" tIns="0" rIns="0" bIns="0" rtlCol="0" anchor="ctr"/>
          <a:lstStyle/>
          <a:p>
            <a:pPr marL="0" indent="0">
              <a:lnSpc>
                <a:spcPts val="5000"/>
              </a:lnSpc>
              <a:buNone/>
            </a:pPr>
            <a:r>
              <a:rPr lang="en-US" sz="4000" b="1" dirty="0">
                <a:solidFill>
                  <a:srgbClr val="FFFFFF"/>
                </a:solidFill>
                <a:latin typeface="Arial" pitchFamily="34" charset="0"/>
                <a:ea typeface="Arial" pitchFamily="34" charset="-122"/>
                <a:cs typeface="Arial" pitchFamily="34" charset="-120"/>
              </a:rPr>
              <a:t>Capacidades,</a:t>
            </a:r>
            <a:endParaRPr lang="en-US" sz="4000" dirty="0"/>
          </a:p>
          <a:p>
            <a:pPr marL="0" indent="0">
              <a:lnSpc>
                <a:spcPts val="5000"/>
              </a:lnSpc>
              <a:buNone/>
            </a:pPr>
            <a:r>
              <a:rPr lang="en-US" sz="4000" b="1" dirty="0">
                <a:solidFill>
                  <a:srgbClr val="FFFFFF"/>
                </a:solidFill>
                <a:latin typeface="Arial" pitchFamily="34" charset="0"/>
                <a:ea typeface="Arial" pitchFamily="34" charset="-122"/>
                <a:cs typeface="Arial" pitchFamily="34" charset="-120"/>
              </a:rPr>
              <a:t>benchmarks</a:t>
            </a:r>
            <a:endParaRPr lang="en-US" sz="4000" dirty="0"/>
          </a:p>
          <a:p>
            <a:pPr marL="0" indent="0">
              <a:lnSpc>
                <a:spcPts val="5000"/>
              </a:lnSpc>
              <a:buNone/>
            </a:pPr>
            <a:r>
              <a:rPr lang="en-US" sz="4000" b="1" dirty="0">
                <a:solidFill>
                  <a:srgbClr val="FFFFFF"/>
                </a:solidFill>
                <a:latin typeface="Arial" pitchFamily="34" charset="0"/>
                <a:ea typeface="Arial" pitchFamily="34" charset="-122"/>
                <a:cs typeface="Arial" pitchFamily="34" charset="-120"/>
              </a:rPr>
              <a:t>y agentes</a:t>
            </a:r>
            <a:endParaRPr lang="en-US" sz="4000" dirty="0"/>
          </a:p>
        </p:txBody>
      </p:sp>
      <p:sp>
        <p:nvSpPr>
          <p:cNvPr id="5" name="Text 3"/>
          <p:cNvSpPr/>
          <p:nvPr/>
        </p:nvSpPr>
        <p:spPr>
          <a:xfrm>
            <a:off x="10865815" y="6291072"/>
            <a:ext cx="548640" cy="274320"/>
          </a:xfrm>
          <a:prstGeom prst="rect">
            <a:avLst/>
          </a:prstGeom>
          <a:noFill/>
          <a:ln/>
        </p:spPr>
        <p:txBody>
          <a:bodyPr wrap="square" lIns="0" tIns="0" rIns="0" bIns="0" rtlCol="0" anchor="ctr"/>
          <a:lstStyle/>
          <a:p>
            <a:pPr marL="0" indent="0" algn="r">
              <a:buNone/>
            </a:pPr>
            <a:r>
              <a:rPr lang="en-US" sz="900" dirty="0">
                <a:solidFill>
                  <a:srgbClr val="55555C"/>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420624"/>
            <a:ext cx="10637215" cy="237744"/>
          </a:xfrm>
          <a:prstGeom prst="rect">
            <a:avLst/>
          </a:prstGeom>
          <a:noFill/>
          <a:ln/>
        </p:spPr>
        <p:txBody>
          <a:bodyPr wrap="square" lIns="0" tIns="0" rIns="0" bIns="0" rtlCol="0" anchor="ctr"/>
          <a:lstStyle/>
          <a:p>
            <a:pPr marL="0" indent="0">
              <a:buNone/>
            </a:pPr>
            <a:r>
              <a:rPr lang="en-US" sz="1050" b="1" kern="0" spc="200" dirty="0">
                <a:solidFill>
                  <a:srgbClr val="E04E39"/>
                </a:solidFill>
                <a:latin typeface="Arial" pitchFamily="34" charset="0"/>
                <a:ea typeface="Arial" pitchFamily="34" charset="-122"/>
                <a:cs typeface="Arial" pitchFamily="34" charset="-120"/>
              </a:rPr>
              <a:t>MÉTODO</a:t>
            </a:r>
            <a:endParaRPr lang="en-US" sz="1050" dirty="0"/>
          </a:p>
        </p:txBody>
      </p:sp>
      <p:sp>
        <p:nvSpPr>
          <p:cNvPr id="3" name="Text 1"/>
          <p:cNvSpPr/>
          <p:nvPr/>
        </p:nvSpPr>
        <p:spPr>
          <a:xfrm>
            <a:off x="777240" y="694944"/>
            <a:ext cx="10637215" cy="566928"/>
          </a:xfrm>
          <a:prstGeom prst="rect">
            <a:avLst/>
          </a:prstGeom>
          <a:noFill/>
          <a:ln/>
        </p:spPr>
        <p:txBody>
          <a:bodyPr wrap="square" lIns="0" tIns="0" rIns="0" bIns="0" rtlCol="0" anchor="t"/>
          <a:lstStyle/>
          <a:p>
            <a:pPr marL="0" indent="0">
              <a:lnSpc>
                <a:spcPts val="3400"/>
              </a:lnSpc>
              <a:buNone/>
            </a:pPr>
            <a:r>
              <a:rPr lang="en-US" sz="3000" b="1" dirty="0">
                <a:solidFill>
                  <a:srgbClr val="111114"/>
                </a:solidFill>
                <a:latin typeface="Arial" pitchFamily="34" charset="0"/>
                <a:ea typeface="Arial" pitchFamily="34" charset="-122"/>
                <a:cs typeface="Arial" pitchFamily="34" charset="-120"/>
              </a:rPr>
              <a:t>Cómo se mide una inteligencia — y cómo engaña</a:t>
            </a:r>
            <a:endParaRPr lang="en-US" sz="3000" dirty="0"/>
          </a:p>
        </p:txBody>
      </p:sp>
      <p:sp>
        <p:nvSpPr>
          <p:cNvPr id="4" name="Text 2"/>
          <p:cNvSpPr/>
          <p:nvPr/>
        </p:nvSpPr>
        <p:spPr>
          <a:xfrm>
            <a:off x="777240" y="1517904"/>
            <a:ext cx="8778240" cy="640080"/>
          </a:xfrm>
          <a:prstGeom prst="rect">
            <a:avLst/>
          </a:prstGeom>
          <a:noFill/>
          <a:ln/>
        </p:spPr>
        <p:txBody>
          <a:bodyPr wrap="square" lIns="0" tIns="0" rIns="0" bIns="0" rtlCol="0" anchor="t"/>
          <a:lstStyle/>
          <a:p>
            <a:pPr marL="0" indent="0">
              <a:lnSpc>
                <a:spcPts val="2248"/>
              </a:lnSpc>
              <a:buNone/>
            </a:pPr>
            <a:r>
              <a:rPr lang="en-US" sz="1550" dirty="0">
                <a:solidFill>
                  <a:srgbClr val="3A3A40"/>
                </a:solidFill>
                <a:latin typeface="Arial" pitchFamily="34" charset="0"/>
                <a:ea typeface="Arial" pitchFamily="34" charset="-122"/>
                <a:cs typeface="Arial" pitchFamily="34" charset="-120"/>
              </a:rPr>
              <a:t>Un benchmark es un examen estandarizado para modelos. Sirve para comparar. Y falla de tres maneras que conviene tener presentes antes de mirar un solo número.</a:t>
            </a:r>
            <a:endParaRPr lang="en-US" sz="1550" dirty="0"/>
          </a:p>
        </p:txBody>
      </p:sp>
      <p:sp>
        <p:nvSpPr>
          <p:cNvPr id="5" name="Shape 3"/>
          <p:cNvSpPr/>
          <p:nvPr/>
        </p:nvSpPr>
        <p:spPr>
          <a:xfrm>
            <a:off x="777240" y="2514600"/>
            <a:ext cx="3291840" cy="2286000"/>
          </a:xfrm>
          <a:prstGeom prst="roundRect">
            <a:avLst>
              <a:gd name="adj" fmla="val 2400"/>
            </a:avLst>
          </a:prstGeom>
          <a:solidFill>
            <a:srgbClr val="F6F6F5"/>
          </a:solidFill>
          <a:ln w="12700">
            <a:solidFill>
              <a:srgbClr val="F6F6F5"/>
            </a:solidFill>
            <a:prstDash val="solid"/>
          </a:ln>
        </p:spPr>
        <p:txBody>
          <a:bodyPr/>
          <a:lstStyle/>
          <a:p>
            <a:endParaRPr lang="en-AR"/>
          </a:p>
        </p:txBody>
      </p:sp>
      <p:sp>
        <p:nvSpPr>
          <p:cNvPr id="6" name="Text 4"/>
          <p:cNvSpPr/>
          <p:nvPr/>
        </p:nvSpPr>
        <p:spPr>
          <a:xfrm>
            <a:off x="1097280" y="2761488"/>
            <a:ext cx="914400" cy="320040"/>
          </a:xfrm>
          <a:prstGeom prst="rect">
            <a:avLst/>
          </a:prstGeom>
          <a:noFill/>
          <a:ln/>
        </p:spPr>
        <p:txBody>
          <a:bodyPr wrap="square" lIns="0" tIns="0" rIns="0" bIns="0" rtlCol="0" anchor="ctr"/>
          <a:lstStyle/>
          <a:p>
            <a:pPr marL="0" indent="0">
              <a:buNone/>
            </a:pPr>
            <a:r>
              <a:rPr lang="en-US" sz="1300" b="1" dirty="0">
                <a:solidFill>
                  <a:srgbClr val="E04E39"/>
                </a:solidFill>
                <a:latin typeface="Arial" pitchFamily="34" charset="0"/>
                <a:ea typeface="Arial" pitchFamily="34" charset="-122"/>
                <a:cs typeface="Arial" pitchFamily="34" charset="-120"/>
              </a:rPr>
              <a:t>01</a:t>
            </a:r>
            <a:endParaRPr lang="en-US" sz="1300" dirty="0"/>
          </a:p>
        </p:txBody>
      </p:sp>
      <p:sp>
        <p:nvSpPr>
          <p:cNvPr id="7" name="Text 5"/>
          <p:cNvSpPr/>
          <p:nvPr/>
        </p:nvSpPr>
        <p:spPr>
          <a:xfrm>
            <a:off x="1097280" y="3154680"/>
            <a:ext cx="2651760" cy="365760"/>
          </a:xfrm>
          <a:prstGeom prst="rect">
            <a:avLst/>
          </a:prstGeom>
          <a:noFill/>
          <a:ln/>
        </p:spPr>
        <p:txBody>
          <a:bodyPr wrap="square" lIns="0" tIns="0" rIns="0" bIns="0" rtlCol="0" anchor="ctr"/>
          <a:lstStyle/>
          <a:p>
            <a:pPr marL="0" indent="0">
              <a:buNone/>
            </a:pPr>
            <a:r>
              <a:rPr lang="en-US" sz="1800" b="1" dirty="0">
                <a:solidFill>
                  <a:srgbClr val="111114"/>
                </a:solidFill>
                <a:latin typeface="Arial" pitchFamily="34" charset="0"/>
                <a:ea typeface="Arial" pitchFamily="34" charset="-122"/>
                <a:cs typeface="Arial" pitchFamily="34" charset="-120"/>
              </a:rPr>
              <a:t>Contaminación</a:t>
            </a:r>
            <a:endParaRPr lang="en-US" sz="1800" dirty="0"/>
          </a:p>
        </p:txBody>
      </p:sp>
      <p:sp>
        <p:nvSpPr>
          <p:cNvPr id="8" name="Text 6"/>
          <p:cNvSpPr/>
          <p:nvPr/>
        </p:nvSpPr>
        <p:spPr>
          <a:xfrm>
            <a:off x="1097280" y="3611880"/>
            <a:ext cx="2651760" cy="1005840"/>
          </a:xfrm>
          <a:prstGeom prst="rect">
            <a:avLst/>
          </a:prstGeom>
          <a:noFill/>
          <a:ln/>
        </p:spPr>
        <p:txBody>
          <a:bodyPr wrap="square" lIns="0" tIns="0" rIns="0" bIns="0" rtlCol="0" anchor="ctr"/>
          <a:lstStyle/>
          <a:p>
            <a:pPr marL="0" indent="0">
              <a:lnSpc>
                <a:spcPts val="1700"/>
              </a:lnSpc>
              <a:buNone/>
            </a:pPr>
            <a:r>
              <a:rPr lang="en-US" sz="1250" dirty="0">
                <a:solidFill>
                  <a:srgbClr val="55555C"/>
                </a:solidFill>
                <a:latin typeface="Arial" pitchFamily="34" charset="0"/>
                <a:ea typeface="Arial" pitchFamily="34" charset="-122"/>
                <a:cs typeface="Arial" pitchFamily="34" charset="-120"/>
              </a:rPr>
              <a:t>El examen puede estar dentro de los datos con los que se entrenó el modelo. No lo razona: lo recuerda.</a:t>
            </a:r>
            <a:endParaRPr lang="en-US" sz="1250" dirty="0"/>
          </a:p>
        </p:txBody>
      </p:sp>
      <p:sp>
        <p:nvSpPr>
          <p:cNvPr id="9" name="Shape 7"/>
          <p:cNvSpPr/>
          <p:nvPr/>
        </p:nvSpPr>
        <p:spPr>
          <a:xfrm>
            <a:off x="4453128" y="2514600"/>
            <a:ext cx="3291840" cy="2286000"/>
          </a:xfrm>
          <a:prstGeom prst="roundRect">
            <a:avLst>
              <a:gd name="adj" fmla="val 2400"/>
            </a:avLst>
          </a:prstGeom>
          <a:solidFill>
            <a:srgbClr val="F6F6F5"/>
          </a:solidFill>
          <a:ln w="12700">
            <a:solidFill>
              <a:srgbClr val="F6F6F5"/>
            </a:solidFill>
            <a:prstDash val="solid"/>
          </a:ln>
        </p:spPr>
        <p:txBody>
          <a:bodyPr/>
          <a:lstStyle/>
          <a:p>
            <a:endParaRPr lang="en-AR"/>
          </a:p>
        </p:txBody>
      </p:sp>
      <p:sp>
        <p:nvSpPr>
          <p:cNvPr id="10" name="Text 8"/>
          <p:cNvSpPr/>
          <p:nvPr/>
        </p:nvSpPr>
        <p:spPr>
          <a:xfrm>
            <a:off x="4773168" y="2761488"/>
            <a:ext cx="914400" cy="320040"/>
          </a:xfrm>
          <a:prstGeom prst="rect">
            <a:avLst/>
          </a:prstGeom>
          <a:noFill/>
          <a:ln/>
        </p:spPr>
        <p:txBody>
          <a:bodyPr wrap="square" lIns="0" tIns="0" rIns="0" bIns="0" rtlCol="0" anchor="ctr"/>
          <a:lstStyle/>
          <a:p>
            <a:pPr marL="0" indent="0">
              <a:buNone/>
            </a:pPr>
            <a:r>
              <a:rPr lang="en-US" sz="1300" b="1" dirty="0">
                <a:solidFill>
                  <a:srgbClr val="E04E39"/>
                </a:solidFill>
                <a:latin typeface="Arial" pitchFamily="34" charset="0"/>
                <a:ea typeface="Arial" pitchFamily="34" charset="-122"/>
                <a:cs typeface="Arial" pitchFamily="34" charset="-120"/>
              </a:rPr>
              <a:t>02</a:t>
            </a:r>
            <a:endParaRPr lang="en-US" sz="1300" dirty="0"/>
          </a:p>
        </p:txBody>
      </p:sp>
      <p:sp>
        <p:nvSpPr>
          <p:cNvPr id="11" name="Text 9"/>
          <p:cNvSpPr/>
          <p:nvPr/>
        </p:nvSpPr>
        <p:spPr>
          <a:xfrm>
            <a:off x="4773168" y="3154680"/>
            <a:ext cx="2651760" cy="365760"/>
          </a:xfrm>
          <a:prstGeom prst="rect">
            <a:avLst/>
          </a:prstGeom>
          <a:noFill/>
          <a:ln/>
        </p:spPr>
        <p:txBody>
          <a:bodyPr wrap="square" lIns="0" tIns="0" rIns="0" bIns="0" rtlCol="0" anchor="ctr"/>
          <a:lstStyle/>
          <a:p>
            <a:pPr marL="0" indent="0">
              <a:buNone/>
            </a:pPr>
            <a:r>
              <a:rPr lang="en-US" sz="1800" b="1" dirty="0">
                <a:solidFill>
                  <a:srgbClr val="111114"/>
                </a:solidFill>
                <a:latin typeface="Arial" pitchFamily="34" charset="0"/>
                <a:ea typeface="Arial" pitchFamily="34" charset="-122"/>
                <a:cs typeface="Arial" pitchFamily="34" charset="-120"/>
              </a:rPr>
              <a:t>Saturación</a:t>
            </a:r>
            <a:endParaRPr lang="en-US" sz="1800" dirty="0"/>
          </a:p>
        </p:txBody>
      </p:sp>
      <p:sp>
        <p:nvSpPr>
          <p:cNvPr id="12" name="Text 10"/>
          <p:cNvSpPr/>
          <p:nvPr/>
        </p:nvSpPr>
        <p:spPr>
          <a:xfrm>
            <a:off x="4773168" y="3611880"/>
            <a:ext cx="2651760" cy="1005840"/>
          </a:xfrm>
          <a:prstGeom prst="rect">
            <a:avLst/>
          </a:prstGeom>
          <a:noFill/>
          <a:ln/>
        </p:spPr>
        <p:txBody>
          <a:bodyPr wrap="square" lIns="0" tIns="0" rIns="0" bIns="0" rtlCol="0" anchor="ctr"/>
          <a:lstStyle/>
          <a:p>
            <a:pPr marL="0" indent="0">
              <a:lnSpc>
                <a:spcPts val="1700"/>
              </a:lnSpc>
              <a:buNone/>
            </a:pPr>
            <a:r>
              <a:rPr lang="en-US" sz="1250" dirty="0">
                <a:solidFill>
                  <a:srgbClr val="55555C"/>
                </a:solidFill>
                <a:latin typeface="Arial" pitchFamily="34" charset="0"/>
                <a:ea typeface="Arial" pitchFamily="34" charset="-122"/>
                <a:cs typeface="Arial" pitchFamily="34" charset="-120"/>
              </a:rPr>
              <a:t>Cuando todos sacan 95%, el examen dejó de medir. Pasa cada vez más rápido.</a:t>
            </a:r>
            <a:endParaRPr lang="en-US" sz="1250" dirty="0"/>
          </a:p>
        </p:txBody>
      </p:sp>
      <p:sp>
        <p:nvSpPr>
          <p:cNvPr id="13" name="Shape 11"/>
          <p:cNvSpPr/>
          <p:nvPr/>
        </p:nvSpPr>
        <p:spPr>
          <a:xfrm>
            <a:off x="8129016" y="2514600"/>
            <a:ext cx="3291840" cy="2286000"/>
          </a:xfrm>
          <a:prstGeom prst="roundRect">
            <a:avLst>
              <a:gd name="adj" fmla="val 2400"/>
            </a:avLst>
          </a:prstGeom>
          <a:solidFill>
            <a:srgbClr val="F6F6F5"/>
          </a:solidFill>
          <a:ln w="12700">
            <a:solidFill>
              <a:srgbClr val="F6F6F5"/>
            </a:solidFill>
            <a:prstDash val="solid"/>
          </a:ln>
        </p:spPr>
        <p:txBody>
          <a:bodyPr/>
          <a:lstStyle/>
          <a:p>
            <a:endParaRPr lang="en-AR"/>
          </a:p>
        </p:txBody>
      </p:sp>
      <p:sp>
        <p:nvSpPr>
          <p:cNvPr id="14" name="Text 12"/>
          <p:cNvSpPr/>
          <p:nvPr/>
        </p:nvSpPr>
        <p:spPr>
          <a:xfrm>
            <a:off x="8449056" y="2761488"/>
            <a:ext cx="914400" cy="320040"/>
          </a:xfrm>
          <a:prstGeom prst="rect">
            <a:avLst/>
          </a:prstGeom>
          <a:noFill/>
          <a:ln/>
        </p:spPr>
        <p:txBody>
          <a:bodyPr wrap="square" lIns="0" tIns="0" rIns="0" bIns="0" rtlCol="0" anchor="ctr"/>
          <a:lstStyle/>
          <a:p>
            <a:pPr marL="0" indent="0">
              <a:buNone/>
            </a:pPr>
            <a:r>
              <a:rPr lang="en-US" sz="1300" b="1" dirty="0">
                <a:solidFill>
                  <a:srgbClr val="E04E39"/>
                </a:solidFill>
                <a:latin typeface="Arial" pitchFamily="34" charset="0"/>
                <a:ea typeface="Arial" pitchFamily="34" charset="-122"/>
                <a:cs typeface="Arial" pitchFamily="34" charset="-120"/>
              </a:rPr>
              <a:t>03</a:t>
            </a:r>
            <a:endParaRPr lang="en-US" sz="1300" dirty="0"/>
          </a:p>
        </p:txBody>
      </p:sp>
      <p:sp>
        <p:nvSpPr>
          <p:cNvPr id="15" name="Text 13"/>
          <p:cNvSpPr/>
          <p:nvPr/>
        </p:nvSpPr>
        <p:spPr>
          <a:xfrm>
            <a:off x="8449056" y="3154680"/>
            <a:ext cx="2651760" cy="365760"/>
          </a:xfrm>
          <a:prstGeom prst="rect">
            <a:avLst/>
          </a:prstGeom>
          <a:noFill/>
          <a:ln/>
        </p:spPr>
        <p:txBody>
          <a:bodyPr wrap="square" lIns="0" tIns="0" rIns="0" bIns="0" rtlCol="0" anchor="ctr"/>
          <a:lstStyle/>
          <a:p>
            <a:pPr marL="0" indent="0">
              <a:buNone/>
            </a:pPr>
            <a:r>
              <a:rPr lang="en-US" sz="1800" b="1" dirty="0">
                <a:solidFill>
                  <a:srgbClr val="111114"/>
                </a:solidFill>
                <a:latin typeface="Arial" pitchFamily="34" charset="0"/>
                <a:ea typeface="Arial" pitchFamily="34" charset="-122"/>
                <a:cs typeface="Arial" pitchFamily="34" charset="-120"/>
              </a:rPr>
              <a:t>Validez</a:t>
            </a:r>
            <a:endParaRPr lang="en-US" sz="1800" dirty="0"/>
          </a:p>
        </p:txBody>
      </p:sp>
      <p:sp>
        <p:nvSpPr>
          <p:cNvPr id="16" name="Text 14"/>
          <p:cNvSpPr/>
          <p:nvPr/>
        </p:nvSpPr>
        <p:spPr>
          <a:xfrm>
            <a:off x="8449056" y="3611880"/>
            <a:ext cx="2651760" cy="1005840"/>
          </a:xfrm>
          <a:prstGeom prst="rect">
            <a:avLst/>
          </a:prstGeom>
          <a:noFill/>
          <a:ln/>
        </p:spPr>
        <p:txBody>
          <a:bodyPr wrap="square" lIns="0" tIns="0" rIns="0" bIns="0" rtlCol="0" anchor="ctr"/>
          <a:lstStyle/>
          <a:p>
            <a:pPr marL="0" indent="0">
              <a:lnSpc>
                <a:spcPts val="1700"/>
              </a:lnSpc>
              <a:buNone/>
            </a:pPr>
            <a:r>
              <a:rPr lang="en-US" sz="1250" dirty="0">
                <a:solidFill>
                  <a:srgbClr val="55555C"/>
                </a:solidFill>
                <a:latin typeface="Arial" pitchFamily="34" charset="0"/>
                <a:ea typeface="Arial" pitchFamily="34" charset="-122"/>
                <a:cs typeface="Arial" pitchFamily="34" charset="-120"/>
              </a:rPr>
              <a:t>Aprobar el examen no es lo mismo que servir para el trabajo. Es el problema más difícil de los tres.</a:t>
            </a:r>
            <a:endParaRPr lang="en-US" sz="1250" dirty="0"/>
          </a:p>
        </p:txBody>
      </p:sp>
      <p:sp>
        <p:nvSpPr>
          <p:cNvPr id="17" name="Text 15"/>
          <p:cNvSpPr/>
          <p:nvPr/>
        </p:nvSpPr>
        <p:spPr>
          <a:xfrm>
            <a:off x="777240" y="5120640"/>
            <a:ext cx="10637215" cy="365760"/>
          </a:xfrm>
          <a:prstGeom prst="rect">
            <a:avLst/>
          </a:prstGeom>
          <a:noFill/>
          <a:ln/>
        </p:spPr>
        <p:txBody>
          <a:bodyPr wrap="square" lIns="0" tIns="0" rIns="0" bIns="0" rtlCol="0" anchor="ctr"/>
          <a:lstStyle/>
          <a:p>
            <a:pPr marL="0" indent="0">
              <a:buNone/>
            </a:pPr>
            <a:r>
              <a:rPr lang="en-US" sz="1400" i="1" dirty="0">
                <a:solidFill>
                  <a:srgbClr val="6E6E73"/>
                </a:solidFill>
                <a:latin typeface="Arial" pitchFamily="34" charset="0"/>
                <a:ea typeface="Arial" pitchFamily="34" charset="-122"/>
                <a:cs typeface="Arial" pitchFamily="34" charset="-120"/>
              </a:rPr>
              <a:t>Con eso en la cabeza, ahora sí: los números.</a:t>
            </a:r>
            <a:endParaRPr lang="en-US" sz="1400" dirty="0"/>
          </a:p>
        </p:txBody>
      </p:sp>
      <p:sp>
        <p:nvSpPr>
          <p:cNvPr id="18" name="Text 16"/>
          <p:cNvSpPr/>
          <p:nvPr/>
        </p:nvSpPr>
        <p:spPr>
          <a:xfrm>
            <a:off x="10865815" y="6291072"/>
            <a:ext cx="548640" cy="274320"/>
          </a:xfrm>
          <a:prstGeom prst="rect">
            <a:avLst/>
          </a:prstGeom>
          <a:noFill/>
          <a:ln/>
        </p:spPr>
        <p:txBody>
          <a:bodyPr wrap="square" lIns="0" tIns="0" rIns="0" bIns="0" rtlCol="0" anchor="ctr"/>
          <a:lstStyle/>
          <a:p>
            <a:pPr marL="0" indent="0" algn="r">
              <a:buNone/>
            </a:pPr>
            <a:r>
              <a:rPr lang="en-US" sz="900" dirty="0">
                <a:solidFill>
                  <a:srgbClr val="9A9AA0"/>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420624"/>
            <a:ext cx="10637215" cy="237744"/>
          </a:xfrm>
          <a:prstGeom prst="rect">
            <a:avLst/>
          </a:prstGeom>
          <a:noFill/>
          <a:ln/>
        </p:spPr>
        <p:txBody>
          <a:bodyPr wrap="square" lIns="0" tIns="0" rIns="0" bIns="0" rtlCol="0" anchor="ctr"/>
          <a:lstStyle/>
          <a:p>
            <a:pPr marL="0" indent="0">
              <a:buNone/>
            </a:pPr>
            <a:r>
              <a:rPr lang="en-US" sz="1050" b="1" kern="0" spc="200" dirty="0">
                <a:solidFill>
                  <a:srgbClr val="E04E39"/>
                </a:solidFill>
                <a:latin typeface="Arial" pitchFamily="34" charset="0"/>
                <a:ea typeface="Arial" pitchFamily="34" charset="-122"/>
                <a:cs typeface="Arial" pitchFamily="34" charset="-120"/>
              </a:rPr>
              <a:t>SATURACIÓN</a:t>
            </a:r>
            <a:endParaRPr lang="en-US" sz="1050" dirty="0"/>
          </a:p>
        </p:txBody>
      </p:sp>
      <p:sp>
        <p:nvSpPr>
          <p:cNvPr id="3" name="Text 1"/>
          <p:cNvSpPr/>
          <p:nvPr/>
        </p:nvSpPr>
        <p:spPr>
          <a:xfrm>
            <a:off x="777240" y="694944"/>
            <a:ext cx="10637215" cy="566928"/>
          </a:xfrm>
          <a:prstGeom prst="rect">
            <a:avLst/>
          </a:prstGeom>
          <a:noFill/>
          <a:ln/>
        </p:spPr>
        <p:txBody>
          <a:bodyPr wrap="square" lIns="0" tIns="0" rIns="0" bIns="0" rtlCol="0" anchor="t"/>
          <a:lstStyle/>
          <a:p>
            <a:pPr marL="0" indent="0">
              <a:lnSpc>
                <a:spcPts val="3400"/>
              </a:lnSpc>
              <a:buNone/>
            </a:pPr>
            <a:r>
              <a:rPr lang="en-US" sz="3000" b="1" dirty="0">
                <a:solidFill>
                  <a:srgbClr val="111114"/>
                </a:solidFill>
                <a:latin typeface="Arial" pitchFamily="34" charset="0"/>
                <a:ea typeface="Arial" pitchFamily="34" charset="-122"/>
                <a:cs typeface="Arial" pitchFamily="34" charset="-120"/>
              </a:rPr>
              <a:t>Los exámenes que ya se rompieron</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77240" y="1600200"/>
          <a:ext cx="10637215" cy="1770380"/>
        </p:xfrm>
        <a:graphic>
          <a:graphicData uri="http://schemas.openxmlformats.org/drawingml/2006/table">
            <a:tbl>
              <a:tblPr/>
              <a:tblGrid>
                <a:gridCol w="265176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407615">
                  <a:extLst>
                    <a:ext uri="{9D8B030D-6E8A-4147-A177-3AD203B41FA5}">
                      <a16:colId xmlns:a16="http://schemas.microsoft.com/office/drawing/2014/main" val="20003"/>
                    </a:ext>
                  </a:extLst>
                </a:gridCol>
              </a:tblGrid>
              <a:tr h="0">
                <a:tc>
                  <a:txBody>
                    <a:bodyPr/>
                    <a:lstStyle/>
                    <a:p>
                      <a:pPr marL="0" indent="0">
                        <a:buNone/>
                      </a:pPr>
                      <a:r>
                        <a:rPr lang="en-US" sz="950" b="1" kern="0" spc="100" dirty="0">
                          <a:solidFill>
                            <a:srgbClr val="6E6E73"/>
                          </a:solidFill>
                          <a:latin typeface="Arial" pitchFamily="34" charset="0"/>
                          <a:ea typeface="Arial" pitchFamily="34" charset="-122"/>
                          <a:cs typeface="Arial" pitchFamily="34" charset="-120"/>
                        </a:rPr>
                        <a:t>BENCHMARK</a:t>
                      </a:r>
                      <a:endParaRPr lang="en-US" sz="950" dirty="0">
                        <a:latin typeface="Arial" charset="0"/>
                        <a:ea typeface="Arial" charset="0"/>
                        <a:cs typeface="Arial" charset="0"/>
                      </a:endParaRPr>
                    </a:p>
                  </a:txBody>
                  <a:tcPr marL="0" marR="76200" marT="50800" marB="88900" anchor="b">
                    <a:lnL w="0" cap="flat" cmpd="sng" algn="ctr">
                      <a:noFill/>
                    </a:lnL>
                    <a:lnR w="0" cap="flat" cmpd="sng" algn="ctr">
                      <a:noFill/>
                    </a:lnR>
                    <a:lnT w="0" cap="flat" cmpd="sng" algn="ctr">
                      <a:noFill/>
                    </a:lnT>
                    <a:lnB w="15240" cap="flat" cmpd="sng" algn="ctr">
                      <a:solidFill>
                        <a:srgbClr val="111114"/>
                      </a:solidFill>
                      <a:prstDash val="solid"/>
                      <a:round/>
                      <a:headEnd type="none" w="med" len="med"/>
                      <a:tailEnd type="none" w="med" len="med"/>
                    </a:lnB>
                    <a:solidFill>
                      <a:srgbClr val="FFFFFF"/>
                    </a:solidFill>
                  </a:tcPr>
                </a:tc>
                <a:tc>
                  <a:txBody>
                    <a:bodyPr/>
                    <a:lstStyle/>
                    <a:p>
                      <a:pPr marL="0" indent="0">
                        <a:buNone/>
                      </a:pPr>
                      <a:r>
                        <a:rPr lang="en-US" sz="950" b="1" kern="0" spc="100" dirty="0">
                          <a:solidFill>
                            <a:srgbClr val="6E6E73"/>
                          </a:solidFill>
                          <a:latin typeface="Arial" pitchFamily="34" charset="0"/>
                          <a:ea typeface="Arial" pitchFamily="34" charset="-122"/>
                          <a:cs typeface="Arial" pitchFamily="34" charset="-120"/>
                        </a:rPr>
                        <a:t>QUÉ MIDE</a:t>
                      </a:r>
                      <a:endParaRPr lang="en-US" sz="950" dirty="0">
                        <a:latin typeface="Arial" charset="0"/>
                        <a:ea typeface="Arial" charset="0"/>
                        <a:cs typeface="Arial" charset="0"/>
                      </a:endParaRPr>
                    </a:p>
                  </a:txBody>
                  <a:tcPr marL="0" marR="76200" marT="50800" marB="88900" anchor="b">
                    <a:lnL w="0" cap="flat" cmpd="sng" algn="ctr">
                      <a:noFill/>
                    </a:lnL>
                    <a:lnR w="0" cap="flat" cmpd="sng" algn="ctr">
                      <a:noFill/>
                    </a:lnR>
                    <a:lnT w="0" cap="flat" cmpd="sng" algn="ctr">
                      <a:noFill/>
                    </a:lnT>
                    <a:lnB w="15240" cap="flat" cmpd="sng" algn="ctr">
                      <a:solidFill>
                        <a:srgbClr val="111114"/>
                      </a:solidFill>
                      <a:prstDash val="solid"/>
                      <a:round/>
                      <a:headEnd type="none" w="med" len="med"/>
                      <a:tailEnd type="none" w="med" len="med"/>
                    </a:lnB>
                    <a:solidFill>
                      <a:srgbClr val="FFFFFF"/>
                    </a:solidFill>
                  </a:tcPr>
                </a:tc>
                <a:tc>
                  <a:txBody>
                    <a:bodyPr/>
                    <a:lstStyle/>
                    <a:p>
                      <a:pPr marL="0" indent="0">
                        <a:buNone/>
                      </a:pPr>
                      <a:r>
                        <a:rPr lang="en-US" sz="950" b="1" kern="0" spc="100" dirty="0">
                          <a:solidFill>
                            <a:srgbClr val="6E6E73"/>
                          </a:solidFill>
                          <a:latin typeface="Arial" pitchFamily="34" charset="0"/>
                          <a:ea typeface="Arial" pitchFamily="34" charset="-122"/>
                          <a:cs typeface="Arial" pitchFamily="34" charset="-120"/>
                        </a:rPr>
                        <a:t>HUMANO EXPERTO</a:t>
                      </a:r>
                      <a:endParaRPr lang="en-US" sz="950" dirty="0">
                        <a:latin typeface="Arial" charset="0"/>
                        <a:ea typeface="Arial" charset="0"/>
                        <a:cs typeface="Arial" charset="0"/>
                      </a:endParaRPr>
                    </a:p>
                  </a:txBody>
                  <a:tcPr marL="0" marR="76200" marT="50800" marB="88900" anchor="b">
                    <a:lnL w="0" cap="flat" cmpd="sng" algn="ctr">
                      <a:noFill/>
                    </a:lnL>
                    <a:lnR w="0" cap="flat" cmpd="sng" algn="ctr">
                      <a:noFill/>
                    </a:lnR>
                    <a:lnT w="0" cap="flat" cmpd="sng" algn="ctr">
                      <a:noFill/>
                    </a:lnT>
                    <a:lnB w="15240" cap="flat" cmpd="sng" algn="ctr">
                      <a:solidFill>
                        <a:srgbClr val="111114"/>
                      </a:solidFill>
                      <a:prstDash val="solid"/>
                      <a:round/>
                      <a:headEnd type="none" w="med" len="med"/>
                      <a:tailEnd type="none" w="med" len="med"/>
                    </a:lnB>
                    <a:solidFill>
                      <a:srgbClr val="FFFFFF"/>
                    </a:solidFill>
                  </a:tcPr>
                </a:tc>
                <a:tc>
                  <a:txBody>
                    <a:bodyPr/>
                    <a:lstStyle/>
                    <a:p>
                      <a:pPr marL="0" indent="0">
                        <a:buNone/>
                      </a:pPr>
                      <a:r>
                        <a:rPr lang="en-US" sz="950" b="1" kern="0" spc="100" dirty="0">
                          <a:solidFill>
                            <a:srgbClr val="6E6E73"/>
                          </a:solidFill>
                          <a:latin typeface="Arial" pitchFamily="34" charset="0"/>
                          <a:ea typeface="Arial" pitchFamily="34" charset="-122"/>
                          <a:cs typeface="Arial" pitchFamily="34" charset="-120"/>
                        </a:rPr>
                        <a:t>MEJOR IA · AGO 2026</a:t>
                      </a:r>
                      <a:endParaRPr lang="en-US" sz="950" dirty="0">
                        <a:latin typeface="Arial" charset="0"/>
                        <a:ea typeface="Arial" charset="0"/>
                        <a:cs typeface="Arial" charset="0"/>
                      </a:endParaRPr>
                    </a:p>
                  </a:txBody>
                  <a:tcPr marL="0" marR="76200" marT="50800" marB="88900" anchor="b">
                    <a:lnL w="0" cap="flat" cmpd="sng" algn="ctr">
                      <a:noFill/>
                    </a:lnL>
                    <a:lnR w="0" cap="flat" cmpd="sng" algn="ctr">
                      <a:noFill/>
                    </a:lnR>
                    <a:lnT w="0" cap="flat" cmpd="sng" algn="ctr">
                      <a:noFill/>
                    </a:lnT>
                    <a:lnB w="15240" cap="flat" cmpd="sng" algn="ctr">
                      <a:solidFill>
                        <a:srgbClr val="111114"/>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0">
                <a:tc>
                  <a:txBody>
                    <a:bodyPr/>
                    <a:lstStyle/>
                    <a:p>
                      <a:pPr marL="0" indent="0">
                        <a:buNone/>
                      </a:pPr>
                      <a:r>
                        <a:rPr lang="en-US" sz="1250" b="1" dirty="0">
                          <a:solidFill>
                            <a:srgbClr val="111114"/>
                          </a:solidFill>
                          <a:latin typeface="Arial" pitchFamily="34" charset="0"/>
                          <a:ea typeface="Arial" pitchFamily="34" charset="-122"/>
                          <a:cs typeface="Arial" pitchFamily="34" charset="-120"/>
                        </a:rPr>
                        <a:t>GPQA-Diamond</a:t>
                      </a:r>
                      <a:endParaRPr lang="en-US" sz="1250" dirty="0">
                        <a:latin typeface="Arial" charset="0"/>
                        <a:ea typeface="Arial" charset="0"/>
                        <a:cs typeface="Arial" charset="0"/>
                      </a:endParaRPr>
                    </a:p>
                  </a:txBody>
                  <a:tcPr marL="0" marR="76200" marT="88900" marB="88900" anchor="ctr">
                    <a:lnL w="0" cap="flat" cmpd="sng" algn="ctr">
                      <a:noFill/>
                    </a:lnL>
                    <a:lnR w="0" cap="flat" cmpd="sng" algn="ctr">
                      <a:noFill/>
                    </a:lnR>
                    <a:lnT w="15240" cap="flat" cmpd="sng" algn="ctr">
                      <a:solidFill>
                        <a:srgbClr val="111114"/>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tc>
                  <a:txBody>
                    <a:bodyPr/>
                    <a:lstStyle/>
                    <a:p>
                      <a:pPr marL="0" indent="0">
                        <a:buNone/>
                      </a:pPr>
                      <a:r>
                        <a:rPr lang="en-US" sz="1250" dirty="0">
                          <a:solidFill>
                            <a:srgbClr val="3A3A40"/>
                          </a:solidFill>
                          <a:latin typeface="Arial" pitchFamily="34" charset="0"/>
                          <a:ea typeface="Arial" pitchFamily="34" charset="-122"/>
                          <a:cs typeface="Arial" pitchFamily="34" charset="-120"/>
                        </a:rPr>
                        <a:t>Ciencias, nivel doctorado</a:t>
                      </a:r>
                      <a:endParaRPr lang="en-US" sz="1250" dirty="0">
                        <a:latin typeface="Arial" charset="0"/>
                        <a:ea typeface="Arial" charset="0"/>
                        <a:cs typeface="Arial" charset="0"/>
                      </a:endParaRPr>
                    </a:p>
                  </a:txBody>
                  <a:tcPr marL="0" marR="76200" marT="88900" marB="88900" anchor="ctr">
                    <a:lnL w="0" cap="flat" cmpd="sng" algn="ctr">
                      <a:noFill/>
                    </a:lnL>
                    <a:lnR w="0" cap="flat" cmpd="sng" algn="ctr">
                      <a:noFill/>
                    </a:lnR>
                    <a:lnT w="15240" cap="flat" cmpd="sng" algn="ctr">
                      <a:solidFill>
                        <a:srgbClr val="111114"/>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tc>
                  <a:txBody>
                    <a:bodyPr/>
                    <a:lstStyle/>
                    <a:p>
                      <a:pPr marL="0" indent="0">
                        <a:buNone/>
                      </a:pPr>
                      <a:r>
                        <a:rPr lang="en-US" sz="1250" dirty="0">
                          <a:solidFill>
                            <a:srgbClr val="3A3A40"/>
                          </a:solidFill>
                          <a:latin typeface="Arial" pitchFamily="34" charset="0"/>
                          <a:ea typeface="Arial" pitchFamily="34" charset="-122"/>
                          <a:cs typeface="Arial" pitchFamily="34" charset="-120"/>
                        </a:rPr>
                        <a:t>~65–70%</a:t>
                      </a:r>
                      <a:endParaRPr lang="en-US" sz="1250" dirty="0">
                        <a:latin typeface="Arial" charset="0"/>
                        <a:ea typeface="Arial" charset="0"/>
                        <a:cs typeface="Arial" charset="0"/>
                      </a:endParaRPr>
                    </a:p>
                  </a:txBody>
                  <a:tcPr marL="0" marR="76200" marT="88900" marB="88900" anchor="ctr">
                    <a:lnL w="0" cap="flat" cmpd="sng" algn="ctr">
                      <a:noFill/>
                    </a:lnL>
                    <a:lnR w="0" cap="flat" cmpd="sng" algn="ctr">
                      <a:noFill/>
                    </a:lnR>
                    <a:lnT w="15240" cap="flat" cmpd="sng" algn="ctr">
                      <a:solidFill>
                        <a:srgbClr val="111114"/>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tc>
                  <a:txBody>
                    <a:bodyPr/>
                    <a:lstStyle/>
                    <a:p>
                      <a:pPr marL="0" indent="0">
                        <a:buNone/>
                      </a:pPr>
                      <a:r>
                        <a:rPr lang="en-US" sz="1250" b="1" dirty="0">
                          <a:solidFill>
                            <a:srgbClr val="111114"/>
                          </a:solidFill>
                          <a:latin typeface="Arial" pitchFamily="34" charset="0"/>
                          <a:ea typeface="Arial" pitchFamily="34" charset="-122"/>
                          <a:cs typeface="Arial" pitchFamily="34" charset="-120"/>
                        </a:rPr>
                        <a:t>94,6%  GPT-5.6 Sol</a:t>
                      </a:r>
                      <a:endParaRPr lang="en-US" sz="1250" dirty="0">
                        <a:latin typeface="Arial" charset="0"/>
                        <a:ea typeface="Arial" charset="0"/>
                        <a:cs typeface="Arial" charset="0"/>
                      </a:endParaRPr>
                    </a:p>
                  </a:txBody>
                  <a:tcPr marL="0" marR="76200" marT="88900" marB="88900" anchor="ctr">
                    <a:lnL w="0" cap="flat" cmpd="sng" algn="ctr">
                      <a:noFill/>
                    </a:lnL>
                    <a:lnR w="0" cap="flat" cmpd="sng" algn="ctr">
                      <a:noFill/>
                    </a:lnR>
                    <a:lnT w="15240" cap="flat" cmpd="sng" algn="ctr">
                      <a:solidFill>
                        <a:srgbClr val="111114"/>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50" b="1" dirty="0">
                          <a:solidFill>
                            <a:srgbClr val="111114"/>
                          </a:solidFill>
                          <a:latin typeface="Arial" pitchFamily="34" charset="0"/>
                          <a:ea typeface="Arial" pitchFamily="34" charset="-122"/>
                          <a:cs typeface="Arial" pitchFamily="34" charset="-120"/>
                        </a:rPr>
                        <a:t>MMLU</a:t>
                      </a:r>
                      <a:endParaRPr lang="en-US" sz="12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tc>
                  <a:txBody>
                    <a:bodyPr/>
                    <a:lstStyle/>
                    <a:p>
                      <a:pPr marL="0" indent="0">
                        <a:buNone/>
                      </a:pPr>
                      <a:r>
                        <a:rPr lang="en-US" sz="1250" dirty="0">
                          <a:solidFill>
                            <a:srgbClr val="3A3A40"/>
                          </a:solidFill>
                          <a:latin typeface="Arial" pitchFamily="34" charset="0"/>
                          <a:ea typeface="Arial" pitchFamily="34" charset="-122"/>
                          <a:cs typeface="Arial" pitchFamily="34" charset="-120"/>
                        </a:rPr>
                        <a:t>Conocimiento general, 57 dominios</a:t>
                      </a:r>
                      <a:endParaRPr lang="en-US" sz="12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tc>
                  <a:txBody>
                    <a:bodyPr/>
                    <a:lstStyle/>
                    <a:p>
                      <a:pPr marL="0" indent="0">
                        <a:buNone/>
                      </a:pPr>
                      <a:r>
                        <a:rPr lang="en-US" sz="1250" dirty="0">
                          <a:solidFill>
                            <a:srgbClr val="3A3A40"/>
                          </a:solidFill>
                          <a:latin typeface="Arial" pitchFamily="34" charset="0"/>
                          <a:ea typeface="Arial" pitchFamily="34" charset="-122"/>
                          <a:cs typeface="Arial" pitchFamily="34" charset="-120"/>
                        </a:rPr>
                        <a:t>~89,8%</a:t>
                      </a:r>
                      <a:endParaRPr lang="en-US" sz="12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tc>
                  <a:txBody>
                    <a:bodyPr/>
                    <a:lstStyle/>
                    <a:p>
                      <a:pPr marL="0" indent="0">
                        <a:buNone/>
                      </a:pPr>
                      <a:r>
                        <a:rPr lang="en-US" sz="1250" b="1" dirty="0">
                          <a:solidFill>
                            <a:srgbClr val="111114"/>
                          </a:solidFill>
                          <a:latin typeface="Arial" pitchFamily="34" charset="0"/>
                          <a:ea typeface="Arial" pitchFamily="34" charset="-122"/>
                          <a:cs typeface="Arial" pitchFamily="34" charset="-120"/>
                        </a:rPr>
                        <a:t>~91%+</a:t>
                      </a:r>
                      <a:endParaRPr lang="en-US" sz="12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250" b="1" dirty="0">
                          <a:solidFill>
                            <a:srgbClr val="111114"/>
                          </a:solidFill>
                          <a:latin typeface="Arial" pitchFamily="34" charset="0"/>
                          <a:ea typeface="Arial" pitchFamily="34" charset="-122"/>
                          <a:cs typeface="Arial" pitchFamily="34" charset="-120"/>
                        </a:rPr>
                        <a:t>SWE-bench Verified</a:t>
                      </a:r>
                      <a:endParaRPr lang="en-US" sz="12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tc>
                  <a:txBody>
                    <a:bodyPr/>
                    <a:lstStyle/>
                    <a:p>
                      <a:pPr marL="0" indent="0">
                        <a:buNone/>
                      </a:pPr>
                      <a:r>
                        <a:rPr lang="en-US" sz="1250" dirty="0">
                          <a:solidFill>
                            <a:srgbClr val="3A3A40"/>
                          </a:solidFill>
                          <a:latin typeface="Arial" pitchFamily="34" charset="0"/>
                          <a:ea typeface="Arial" pitchFamily="34" charset="-122"/>
                          <a:cs typeface="Arial" pitchFamily="34" charset="-120"/>
                        </a:rPr>
                        <a:t>Bugs reales de repositorios de GitHub</a:t>
                      </a:r>
                      <a:endParaRPr lang="en-US" sz="12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tc>
                  <a:txBody>
                    <a:bodyPr/>
                    <a:lstStyle/>
                    <a:p>
                      <a:pPr marL="0" indent="0">
                        <a:buNone/>
                      </a:pPr>
                      <a:r>
                        <a:rPr lang="en-US" sz="1250" dirty="0">
                          <a:solidFill>
                            <a:srgbClr val="3A3A40"/>
                          </a:solidFill>
                          <a:latin typeface="Arial" pitchFamily="34" charset="0"/>
                          <a:ea typeface="Arial" pitchFamily="34" charset="-122"/>
                          <a:cs typeface="Arial" pitchFamily="34" charset="-120"/>
                        </a:rPr>
                        <a:t>—</a:t>
                      </a:r>
                      <a:endParaRPr lang="en-US" sz="12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tc>
                  <a:txBody>
                    <a:bodyPr/>
                    <a:lstStyle/>
                    <a:p>
                      <a:pPr marL="0" indent="0">
                        <a:buNone/>
                      </a:pPr>
                      <a:r>
                        <a:rPr lang="en-US" sz="1250" b="1" dirty="0">
                          <a:solidFill>
                            <a:srgbClr val="111114"/>
                          </a:solidFill>
                          <a:latin typeface="Arial" pitchFamily="34" charset="0"/>
                          <a:ea typeface="Arial" pitchFamily="34" charset="-122"/>
                          <a:cs typeface="Arial" pitchFamily="34" charset="-120"/>
                        </a:rPr>
                        <a:t>80,6%  Gemini 3.1 Pro</a:t>
                      </a:r>
                      <a:endParaRPr lang="en-US" sz="1250" dirty="0">
                        <a:latin typeface="Arial" charset="0"/>
                        <a:ea typeface="Arial" charset="0"/>
                        <a:cs typeface="Arial" charset="0"/>
                      </a:endParaRPr>
                    </a:p>
                    <a:p>
                      <a:pPr marL="0" indent="0">
                        <a:buNone/>
                      </a:pPr>
                      <a:r>
                        <a:rPr lang="en-US" sz="1250" b="1" dirty="0">
                          <a:solidFill>
                            <a:srgbClr val="111114"/>
                          </a:solidFill>
                          <a:latin typeface="Arial" pitchFamily="34" charset="0"/>
                          <a:ea typeface="Arial" pitchFamily="34" charset="-122"/>
                          <a:cs typeface="Arial" pitchFamily="34" charset="-120"/>
                        </a:rPr>
                        <a:t>y DeepSeek V4 Pro, empatados</a:t>
                      </a:r>
                      <a:endParaRPr lang="en-US" sz="12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777240" y="3977640"/>
            <a:ext cx="5120640" cy="1600200"/>
          </a:xfrm>
          <a:prstGeom prst="roundRect">
            <a:avLst>
              <a:gd name="adj" fmla="val 3429"/>
            </a:avLst>
          </a:prstGeom>
          <a:solidFill>
            <a:srgbClr val="111114"/>
          </a:solidFill>
          <a:ln w="12700">
            <a:solidFill>
              <a:srgbClr val="111114"/>
            </a:solidFill>
            <a:prstDash val="solid"/>
          </a:ln>
        </p:spPr>
        <p:txBody>
          <a:bodyPr/>
          <a:lstStyle/>
          <a:p>
            <a:endParaRPr lang="en-AR"/>
          </a:p>
        </p:txBody>
      </p:sp>
      <p:sp>
        <p:nvSpPr>
          <p:cNvPr id="6" name="Text 3"/>
          <p:cNvSpPr/>
          <p:nvPr/>
        </p:nvSpPr>
        <p:spPr>
          <a:xfrm>
            <a:off x="1143000" y="4224528"/>
            <a:ext cx="4389120" cy="320040"/>
          </a:xfrm>
          <a:prstGeom prst="rect">
            <a:avLst/>
          </a:prstGeom>
          <a:noFill/>
          <a:ln/>
        </p:spPr>
        <p:txBody>
          <a:bodyPr wrap="square" lIns="0" tIns="0" rIns="0" bIns="0" rtlCol="0" anchor="ctr"/>
          <a:lstStyle/>
          <a:p>
            <a:pPr marL="0" indent="0">
              <a:buNone/>
            </a:pPr>
            <a:r>
              <a:rPr lang="en-US" sz="1800" b="1" dirty="0">
                <a:solidFill>
                  <a:srgbClr val="FFFFFF"/>
                </a:solidFill>
                <a:latin typeface="Arial" pitchFamily="34" charset="0"/>
                <a:ea typeface="Arial" pitchFamily="34" charset="-122"/>
                <a:cs typeface="Arial" pitchFamily="34" charset="-120"/>
              </a:rPr>
              <a:t>Los tres están saturados.</a:t>
            </a:r>
            <a:endParaRPr lang="en-US" sz="1800" dirty="0"/>
          </a:p>
        </p:txBody>
      </p:sp>
      <p:sp>
        <p:nvSpPr>
          <p:cNvPr id="7" name="Text 4"/>
          <p:cNvSpPr/>
          <p:nvPr/>
        </p:nvSpPr>
        <p:spPr>
          <a:xfrm>
            <a:off x="1143000" y="4617720"/>
            <a:ext cx="4389120" cy="777240"/>
          </a:xfrm>
          <a:prstGeom prst="rect">
            <a:avLst/>
          </a:prstGeom>
          <a:noFill/>
          <a:ln/>
        </p:spPr>
        <p:txBody>
          <a:bodyPr wrap="square" lIns="0" tIns="0" rIns="0" bIns="0" rtlCol="0" anchor="ctr"/>
          <a:lstStyle/>
          <a:p>
            <a:pPr marL="0" indent="0">
              <a:lnSpc>
                <a:spcPts val="1800"/>
              </a:lnSpc>
              <a:buNone/>
            </a:pPr>
            <a:r>
              <a:rPr lang="en-US" sz="1300" dirty="0">
                <a:solidFill>
                  <a:srgbClr val="A8A8B0"/>
                </a:solidFill>
                <a:latin typeface="Arial" pitchFamily="34" charset="0"/>
                <a:ea typeface="Arial" pitchFamily="34" charset="-122"/>
                <a:cs typeface="Arial" pitchFamily="34" charset="-120"/>
              </a:rPr>
              <a:t>Ya no discriminan entre modelos. Los laboratorios migraron a SWE-bench Pro, Terminal-Bench 2.1 y ARC-AGI-3.</a:t>
            </a:r>
            <a:endParaRPr lang="en-US" sz="1300" dirty="0"/>
          </a:p>
        </p:txBody>
      </p:sp>
      <p:sp>
        <p:nvSpPr>
          <p:cNvPr id="8" name="Shape 5"/>
          <p:cNvSpPr/>
          <p:nvPr/>
        </p:nvSpPr>
        <p:spPr>
          <a:xfrm>
            <a:off x="6291072" y="3977640"/>
            <a:ext cx="5120640" cy="1600200"/>
          </a:xfrm>
          <a:prstGeom prst="roundRect">
            <a:avLst>
              <a:gd name="adj" fmla="val 3429"/>
            </a:avLst>
          </a:prstGeom>
          <a:solidFill>
            <a:srgbClr val="F6F6F5"/>
          </a:solidFill>
          <a:ln w="12700">
            <a:solidFill>
              <a:srgbClr val="F6F6F5"/>
            </a:solidFill>
            <a:prstDash val="solid"/>
          </a:ln>
        </p:spPr>
        <p:txBody>
          <a:bodyPr/>
          <a:lstStyle/>
          <a:p>
            <a:endParaRPr lang="en-AR"/>
          </a:p>
        </p:txBody>
      </p:sp>
      <p:sp>
        <p:nvSpPr>
          <p:cNvPr id="9" name="Text 6"/>
          <p:cNvSpPr/>
          <p:nvPr/>
        </p:nvSpPr>
        <p:spPr>
          <a:xfrm>
            <a:off x="6656832" y="4224528"/>
            <a:ext cx="4389120" cy="685800"/>
          </a:xfrm>
          <a:prstGeom prst="rect">
            <a:avLst/>
          </a:prstGeom>
          <a:noFill/>
          <a:ln/>
        </p:spPr>
        <p:txBody>
          <a:bodyPr wrap="square" lIns="0" tIns="0" rIns="0" bIns="0" rtlCol="0" anchor="ctr"/>
          <a:lstStyle/>
          <a:p>
            <a:pPr marL="0" indent="0">
              <a:lnSpc>
                <a:spcPts val="1800"/>
              </a:lnSpc>
              <a:buNone/>
            </a:pPr>
            <a:r>
              <a:rPr lang="en-US" sz="1350" dirty="0">
                <a:solidFill>
                  <a:srgbClr val="3A3A40"/>
                </a:solidFill>
                <a:latin typeface="Arial" pitchFamily="34" charset="0"/>
                <a:ea typeface="Arial" pitchFamily="34" charset="-122"/>
                <a:cs typeface="Arial" pitchFamily="34" charset="-120"/>
              </a:rPr>
              <a:t>En 2023, GPT-4 fue noticia mundial por aprobar el examen de abogacía en el percentil 90.</a:t>
            </a:r>
            <a:endParaRPr lang="en-US" sz="1350" dirty="0"/>
          </a:p>
        </p:txBody>
      </p:sp>
      <p:sp>
        <p:nvSpPr>
          <p:cNvPr id="10" name="Text 7"/>
          <p:cNvSpPr/>
          <p:nvPr/>
        </p:nvSpPr>
        <p:spPr>
          <a:xfrm>
            <a:off x="6656832" y="4983480"/>
            <a:ext cx="4389120" cy="365760"/>
          </a:xfrm>
          <a:prstGeom prst="rect">
            <a:avLst/>
          </a:prstGeom>
          <a:noFill/>
          <a:ln/>
        </p:spPr>
        <p:txBody>
          <a:bodyPr wrap="square" lIns="0" tIns="0" rIns="0" bIns="0" rtlCol="0" anchor="ctr"/>
          <a:lstStyle/>
          <a:p>
            <a:pPr marL="0" indent="0">
              <a:buNone/>
            </a:pPr>
            <a:r>
              <a:rPr lang="en-US" sz="1500" b="1" dirty="0">
                <a:solidFill>
                  <a:srgbClr val="E04E39"/>
                </a:solidFill>
                <a:latin typeface="Arial" pitchFamily="34" charset="0"/>
                <a:ea typeface="Arial" pitchFamily="34" charset="-122"/>
                <a:cs typeface="Arial" pitchFamily="34" charset="-120"/>
              </a:rPr>
              <a:t>Hoy ese nivel es el piso del campo.</a:t>
            </a:r>
            <a:endParaRPr lang="en-US" sz="1500" dirty="0"/>
          </a:p>
        </p:txBody>
      </p:sp>
      <p:sp>
        <p:nvSpPr>
          <p:cNvPr id="11" name="Text 8"/>
          <p:cNvSpPr/>
          <p:nvPr/>
        </p:nvSpPr>
        <p:spPr>
          <a:xfrm>
            <a:off x="10865815" y="6291072"/>
            <a:ext cx="548640" cy="274320"/>
          </a:xfrm>
          <a:prstGeom prst="rect">
            <a:avLst/>
          </a:prstGeom>
          <a:noFill/>
          <a:ln/>
        </p:spPr>
        <p:txBody>
          <a:bodyPr wrap="square" lIns="0" tIns="0" rIns="0" bIns="0" rtlCol="0" anchor="ctr"/>
          <a:lstStyle/>
          <a:p>
            <a:pPr marL="0" indent="0" algn="r">
              <a:buNone/>
            </a:pPr>
            <a:r>
              <a:rPr lang="en-US" sz="900" dirty="0">
                <a:solidFill>
                  <a:srgbClr val="9A9AA0"/>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420624"/>
            <a:ext cx="10637215" cy="237744"/>
          </a:xfrm>
          <a:prstGeom prst="rect">
            <a:avLst/>
          </a:prstGeom>
          <a:noFill/>
          <a:ln/>
        </p:spPr>
        <p:txBody>
          <a:bodyPr wrap="square" lIns="0" tIns="0" rIns="0" bIns="0" rtlCol="0" anchor="ctr"/>
          <a:lstStyle/>
          <a:p>
            <a:pPr marL="0" indent="0">
              <a:buNone/>
            </a:pPr>
            <a:r>
              <a:rPr lang="en-US" sz="1050" b="1" kern="0" spc="200" dirty="0">
                <a:solidFill>
                  <a:srgbClr val="E04E39"/>
                </a:solidFill>
                <a:latin typeface="Arial" pitchFamily="34" charset="0"/>
                <a:ea typeface="Arial" pitchFamily="34" charset="-122"/>
                <a:cs typeface="Arial" pitchFamily="34" charset="-120"/>
              </a:rPr>
              <a:t>LA FRONTERA</a:t>
            </a:r>
            <a:endParaRPr lang="en-US" sz="1050" dirty="0"/>
          </a:p>
        </p:txBody>
      </p:sp>
      <p:sp>
        <p:nvSpPr>
          <p:cNvPr id="3" name="Text 1"/>
          <p:cNvSpPr/>
          <p:nvPr/>
        </p:nvSpPr>
        <p:spPr>
          <a:xfrm>
            <a:off x="777240" y="694944"/>
            <a:ext cx="10637215" cy="566928"/>
          </a:xfrm>
          <a:prstGeom prst="rect">
            <a:avLst/>
          </a:prstGeom>
          <a:noFill/>
          <a:ln/>
        </p:spPr>
        <p:txBody>
          <a:bodyPr wrap="square" lIns="0" tIns="0" rIns="0" bIns="0" rtlCol="0" anchor="t"/>
          <a:lstStyle/>
          <a:p>
            <a:pPr marL="0" indent="0">
              <a:lnSpc>
                <a:spcPts val="3400"/>
              </a:lnSpc>
              <a:buNone/>
            </a:pPr>
            <a:r>
              <a:rPr lang="en-US" sz="3000" b="1" dirty="0">
                <a:solidFill>
                  <a:srgbClr val="111114"/>
                </a:solidFill>
                <a:latin typeface="Arial" pitchFamily="34" charset="0"/>
                <a:ea typeface="Arial" pitchFamily="34" charset="-122"/>
                <a:cs typeface="Arial" pitchFamily="34" charset="-120"/>
              </a:rPr>
              <a:t>Y sin embargo: dónde todavía pierde</a:t>
            </a:r>
            <a:endParaRPr lang="en-US" sz="3000" dirty="0"/>
          </a:p>
        </p:txBody>
      </p:sp>
      <p:sp>
        <p:nvSpPr>
          <p:cNvPr id="4" name="Text 2"/>
          <p:cNvSpPr/>
          <p:nvPr/>
        </p:nvSpPr>
        <p:spPr>
          <a:xfrm>
            <a:off x="777240" y="1737360"/>
            <a:ext cx="4480560" cy="1051560"/>
          </a:xfrm>
          <a:prstGeom prst="rect">
            <a:avLst/>
          </a:prstGeom>
          <a:noFill/>
          <a:ln/>
        </p:spPr>
        <p:txBody>
          <a:bodyPr wrap="square" lIns="0" tIns="0" rIns="0" bIns="0" rtlCol="0" anchor="ctr"/>
          <a:lstStyle/>
          <a:p>
            <a:pPr marL="0" indent="0">
              <a:buNone/>
            </a:pPr>
            <a:r>
              <a:rPr lang="en-US" sz="7600" b="1" dirty="0">
                <a:solidFill>
                  <a:srgbClr val="111114"/>
                </a:solidFill>
                <a:latin typeface="Arial" pitchFamily="34" charset="0"/>
                <a:ea typeface="Arial" pitchFamily="34" charset="-122"/>
                <a:cs typeface="Arial" pitchFamily="34" charset="-120"/>
              </a:rPr>
              <a:t>94,6%</a:t>
            </a:r>
            <a:endParaRPr lang="en-US" sz="7600" dirty="0"/>
          </a:p>
        </p:txBody>
      </p:sp>
      <p:sp>
        <p:nvSpPr>
          <p:cNvPr id="5" name="Text 3"/>
          <p:cNvSpPr/>
          <p:nvPr/>
        </p:nvSpPr>
        <p:spPr>
          <a:xfrm>
            <a:off x="777240" y="2880360"/>
            <a:ext cx="4206240" cy="731520"/>
          </a:xfrm>
          <a:prstGeom prst="rect">
            <a:avLst/>
          </a:prstGeom>
          <a:noFill/>
          <a:ln/>
        </p:spPr>
        <p:txBody>
          <a:bodyPr wrap="square" lIns="0" tIns="0" rIns="0" bIns="0" rtlCol="0" anchor="ctr"/>
          <a:lstStyle/>
          <a:p>
            <a:pPr marL="0" indent="0">
              <a:lnSpc>
                <a:spcPts val="1800"/>
              </a:lnSpc>
              <a:buNone/>
            </a:pPr>
            <a:r>
              <a:rPr lang="en-US" sz="1300" dirty="0">
                <a:solidFill>
                  <a:srgbClr val="6E6E73"/>
                </a:solidFill>
                <a:latin typeface="Arial" pitchFamily="34" charset="0"/>
                <a:ea typeface="Arial" pitchFamily="34" charset="-122"/>
                <a:cs typeface="Arial" pitchFamily="34" charset="-120"/>
              </a:rPr>
              <a:t>GPQA-Diamond</a:t>
            </a:r>
            <a:endParaRPr lang="en-US" sz="1300" dirty="0"/>
          </a:p>
          <a:p>
            <a:pPr marL="0" indent="0">
              <a:lnSpc>
                <a:spcPts val="1800"/>
              </a:lnSpc>
              <a:buNone/>
            </a:pPr>
            <a:r>
              <a:rPr lang="en-US" sz="1300" dirty="0">
                <a:solidFill>
                  <a:srgbClr val="6E6E73"/>
                </a:solidFill>
                <a:latin typeface="Arial" pitchFamily="34" charset="0"/>
                <a:ea typeface="Arial" pitchFamily="34" charset="-122"/>
                <a:cs typeface="Arial" pitchFamily="34" charset="-120"/>
              </a:rPr>
              <a:t>Preguntas de ciencias de nivel doctorado</a:t>
            </a:r>
            <a:endParaRPr lang="en-US" sz="1300" dirty="0"/>
          </a:p>
        </p:txBody>
      </p:sp>
      <p:sp>
        <p:nvSpPr>
          <p:cNvPr id="6" name="Text 4"/>
          <p:cNvSpPr/>
          <p:nvPr/>
        </p:nvSpPr>
        <p:spPr>
          <a:xfrm>
            <a:off x="6291072" y="1737360"/>
            <a:ext cx="4480560" cy="1051560"/>
          </a:xfrm>
          <a:prstGeom prst="rect">
            <a:avLst/>
          </a:prstGeom>
          <a:noFill/>
          <a:ln/>
        </p:spPr>
        <p:txBody>
          <a:bodyPr wrap="square" lIns="0" tIns="0" rIns="0" bIns="0" rtlCol="0" anchor="ctr"/>
          <a:lstStyle/>
          <a:p>
            <a:pPr marL="0" indent="0">
              <a:buNone/>
            </a:pPr>
            <a:r>
              <a:rPr lang="en-US" sz="7600" b="1" dirty="0">
                <a:solidFill>
                  <a:srgbClr val="E04E39"/>
                </a:solidFill>
                <a:latin typeface="Arial" pitchFamily="34" charset="0"/>
                <a:ea typeface="Arial" pitchFamily="34" charset="-122"/>
                <a:cs typeface="Arial" pitchFamily="34" charset="-120"/>
              </a:rPr>
              <a:t>0,51%</a:t>
            </a:r>
            <a:endParaRPr lang="en-US" sz="7600" dirty="0"/>
          </a:p>
        </p:txBody>
      </p:sp>
      <p:sp>
        <p:nvSpPr>
          <p:cNvPr id="7" name="Text 5"/>
          <p:cNvSpPr/>
          <p:nvPr/>
        </p:nvSpPr>
        <p:spPr>
          <a:xfrm>
            <a:off x="6291072" y="2880360"/>
            <a:ext cx="4206240" cy="731520"/>
          </a:xfrm>
          <a:prstGeom prst="rect">
            <a:avLst/>
          </a:prstGeom>
          <a:noFill/>
          <a:ln/>
        </p:spPr>
        <p:txBody>
          <a:bodyPr wrap="square" lIns="0" tIns="0" rIns="0" bIns="0" rtlCol="0" anchor="ctr"/>
          <a:lstStyle/>
          <a:p>
            <a:pPr marL="0" indent="0">
              <a:lnSpc>
                <a:spcPts val="1800"/>
              </a:lnSpc>
              <a:buNone/>
            </a:pPr>
            <a:r>
              <a:rPr lang="en-US" sz="1300" dirty="0">
                <a:solidFill>
                  <a:srgbClr val="6E6E73"/>
                </a:solidFill>
                <a:latin typeface="Arial" pitchFamily="34" charset="0"/>
                <a:ea typeface="Arial" pitchFamily="34" charset="-122"/>
                <a:cs typeface="Arial" pitchFamily="34" charset="-120"/>
              </a:rPr>
              <a:t>ARC-AGI-3</a:t>
            </a:r>
            <a:endParaRPr lang="en-US" sz="1300" dirty="0"/>
          </a:p>
          <a:p>
            <a:pPr marL="0" indent="0">
              <a:lnSpc>
                <a:spcPts val="1800"/>
              </a:lnSpc>
              <a:buNone/>
            </a:pPr>
            <a:r>
              <a:rPr lang="en-US" sz="1300" dirty="0">
                <a:solidFill>
                  <a:srgbClr val="6E6E73"/>
                </a:solidFill>
                <a:latin typeface="Arial" pitchFamily="34" charset="0"/>
                <a:ea typeface="Arial" pitchFamily="34" charset="-122"/>
                <a:cs typeface="Arial" pitchFamily="34" charset="-120"/>
              </a:rPr>
              <a:t>Rompecabezas visuales que un chico resuelve</a:t>
            </a:r>
            <a:endParaRPr lang="en-US" sz="1300" dirty="0"/>
          </a:p>
        </p:txBody>
      </p:sp>
      <p:sp>
        <p:nvSpPr>
          <p:cNvPr id="8" name="Shape 6"/>
          <p:cNvSpPr/>
          <p:nvPr/>
        </p:nvSpPr>
        <p:spPr>
          <a:xfrm>
            <a:off x="777240" y="3794760"/>
            <a:ext cx="10637215" cy="10973"/>
          </a:xfrm>
          <a:prstGeom prst="rect">
            <a:avLst/>
          </a:prstGeom>
          <a:solidFill>
            <a:srgbClr val="E4E4E6"/>
          </a:solidFill>
          <a:ln w="12700">
            <a:solidFill>
              <a:srgbClr val="333333"/>
            </a:solidFill>
            <a:prstDash val="solid"/>
          </a:ln>
        </p:spPr>
        <p:txBody>
          <a:bodyPr/>
          <a:lstStyle/>
          <a:p>
            <a:endParaRPr lang="en-AR"/>
          </a:p>
        </p:txBody>
      </p:sp>
      <p:sp>
        <p:nvSpPr>
          <p:cNvPr id="9" name="Text 7"/>
          <p:cNvSpPr/>
          <p:nvPr/>
        </p:nvSpPr>
        <p:spPr>
          <a:xfrm>
            <a:off x="777240" y="4069080"/>
            <a:ext cx="3840480" cy="274320"/>
          </a:xfrm>
          <a:prstGeom prst="rect">
            <a:avLst/>
          </a:prstGeom>
          <a:noFill/>
          <a:ln/>
        </p:spPr>
        <p:txBody>
          <a:bodyPr wrap="square" lIns="0" tIns="0" rIns="0" bIns="0" rtlCol="0" anchor="ctr"/>
          <a:lstStyle/>
          <a:p>
            <a:pPr marL="0" indent="0">
              <a:buNone/>
            </a:pPr>
            <a:r>
              <a:rPr lang="en-US" sz="1350" b="1" dirty="0">
                <a:solidFill>
                  <a:srgbClr val="111114"/>
                </a:solidFill>
                <a:latin typeface="Arial" pitchFamily="34" charset="0"/>
                <a:ea typeface="Arial" pitchFamily="34" charset="-122"/>
                <a:cs typeface="Arial" pitchFamily="34" charset="-120"/>
              </a:rPr>
              <a:t>Humanity's Last Exam</a:t>
            </a:r>
            <a:endParaRPr lang="en-US" sz="1350" dirty="0"/>
          </a:p>
        </p:txBody>
      </p:sp>
      <p:sp>
        <p:nvSpPr>
          <p:cNvPr id="10" name="Text 8"/>
          <p:cNvSpPr/>
          <p:nvPr/>
        </p:nvSpPr>
        <p:spPr>
          <a:xfrm>
            <a:off x="4709160" y="4069080"/>
            <a:ext cx="4754880" cy="274320"/>
          </a:xfrm>
          <a:prstGeom prst="rect">
            <a:avLst/>
          </a:prstGeom>
          <a:noFill/>
          <a:ln/>
        </p:spPr>
        <p:txBody>
          <a:bodyPr wrap="square" lIns="0" tIns="0" rIns="0" bIns="0" rtlCol="0" anchor="ctr"/>
          <a:lstStyle/>
          <a:p>
            <a:pPr marL="0" indent="0">
              <a:buNone/>
            </a:pPr>
            <a:r>
              <a:rPr lang="en-US" sz="1300" dirty="0">
                <a:solidFill>
                  <a:srgbClr val="55555C"/>
                </a:solidFill>
                <a:latin typeface="Arial" pitchFamily="34" charset="0"/>
                <a:ea typeface="Arial" pitchFamily="34" charset="-122"/>
                <a:cs typeface="Arial" pitchFamily="34" charset="-120"/>
              </a:rPr>
              <a:t>Razonamiento interdisciplinario</a:t>
            </a:r>
            <a:endParaRPr lang="en-US" sz="1300" dirty="0"/>
          </a:p>
        </p:txBody>
      </p:sp>
      <p:sp>
        <p:nvSpPr>
          <p:cNvPr id="11" name="Text 9"/>
          <p:cNvSpPr/>
          <p:nvPr/>
        </p:nvSpPr>
        <p:spPr>
          <a:xfrm>
            <a:off x="9555480" y="4069080"/>
            <a:ext cx="1856232" cy="274320"/>
          </a:xfrm>
          <a:prstGeom prst="rect">
            <a:avLst/>
          </a:prstGeom>
          <a:noFill/>
          <a:ln/>
        </p:spPr>
        <p:txBody>
          <a:bodyPr wrap="square" lIns="0" tIns="0" rIns="0" bIns="0" rtlCol="0" anchor="ctr"/>
          <a:lstStyle/>
          <a:p>
            <a:pPr marL="0" indent="0" algn="r">
              <a:buNone/>
            </a:pPr>
            <a:r>
              <a:rPr lang="en-US" sz="1350" b="1" dirty="0">
                <a:solidFill>
                  <a:srgbClr val="E04E39"/>
                </a:solidFill>
                <a:latin typeface="Arial" pitchFamily="34" charset="0"/>
                <a:ea typeface="Arial" pitchFamily="34" charset="-122"/>
                <a:cs typeface="Arial" pitchFamily="34" charset="-120"/>
              </a:rPr>
              <a:t>~51%</a:t>
            </a:r>
            <a:endParaRPr lang="en-US" sz="1350" dirty="0"/>
          </a:p>
        </p:txBody>
      </p:sp>
      <p:sp>
        <p:nvSpPr>
          <p:cNvPr id="12" name="Text 10"/>
          <p:cNvSpPr/>
          <p:nvPr/>
        </p:nvSpPr>
        <p:spPr>
          <a:xfrm>
            <a:off x="777240" y="4544568"/>
            <a:ext cx="3840480" cy="274320"/>
          </a:xfrm>
          <a:prstGeom prst="rect">
            <a:avLst/>
          </a:prstGeom>
          <a:noFill/>
          <a:ln/>
        </p:spPr>
        <p:txBody>
          <a:bodyPr wrap="square" lIns="0" tIns="0" rIns="0" bIns="0" rtlCol="0" anchor="ctr"/>
          <a:lstStyle/>
          <a:p>
            <a:pPr marL="0" indent="0">
              <a:buNone/>
            </a:pPr>
            <a:r>
              <a:rPr lang="en-US" sz="1350" b="1" dirty="0">
                <a:solidFill>
                  <a:srgbClr val="111114"/>
                </a:solidFill>
                <a:latin typeface="Arial" pitchFamily="34" charset="0"/>
                <a:ea typeface="Arial" pitchFamily="34" charset="-122"/>
                <a:cs typeface="Arial" pitchFamily="34" charset="-120"/>
              </a:rPr>
              <a:t>FrontierMath: Open Problems</a:t>
            </a:r>
            <a:endParaRPr lang="en-US" sz="1350" dirty="0"/>
          </a:p>
        </p:txBody>
      </p:sp>
      <p:sp>
        <p:nvSpPr>
          <p:cNvPr id="13" name="Text 11"/>
          <p:cNvSpPr/>
          <p:nvPr/>
        </p:nvSpPr>
        <p:spPr>
          <a:xfrm>
            <a:off x="4709160" y="4544568"/>
            <a:ext cx="4754880" cy="274320"/>
          </a:xfrm>
          <a:prstGeom prst="rect">
            <a:avLst/>
          </a:prstGeom>
          <a:noFill/>
          <a:ln/>
        </p:spPr>
        <p:txBody>
          <a:bodyPr wrap="square" lIns="0" tIns="0" rIns="0" bIns="0" rtlCol="0" anchor="ctr"/>
          <a:lstStyle/>
          <a:p>
            <a:pPr marL="0" indent="0">
              <a:buNone/>
            </a:pPr>
            <a:r>
              <a:rPr lang="en-US" sz="1300" dirty="0">
                <a:solidFill>
                  <a:srgbClr val="55555C"/>
                </a:solidFill>
                <a:latin typeface="Arial" pitchFamily="34" charset="0"/>
                <a:ea typeface="Arial" pitchFamily="34" charset="-122"/>
                <a:cs typeface="Arial" pitchFamily="34" charset="-120"/>
              </a:rPr>
              <a:t>50 problemas matemáticos sin resolver</a:t>
            </a:r>
            <a:endParaRPr lang="en-US" sz="1300" dirty="0"/>
          </a:p>
        </p:txBody>
      </p:sp>
      <p:sp>
        <p:nvSpPr>
          <p:cNvPr id="14" name="Text 12"/>
          <p:cNvSpPr/>
          <p:nvPr/>
        </p:nvSpPr>
        <p:spPr>
          <a:xfrm>
            <a:off x="9555480" y="4544568"/>
            <a:ext cx="1856232" cy="274320"/>
          </a:xfrm>
          <a:prstGeom prst="rect">
            <a:avLst/>
          </a:prstGeom>
          <a:noFill/>
          <a:ln/>
        </p:spPr>
        <p:txBody>
          <a:bodyPr wrap="square" lIns="0" tIns="0" rIns="0" bIns="0" rtlCol="0" anchor="ctr"/>
          <a:lstStyle/>
          <a:p>
            <a:pPr marL="0" indent="0" algn="r">
              <a:buNone/>
            </a:pPr>
            <a:r>
              <a:rPr lang="en-US" sz="1350" b="1" dirty="0">
                <a:solidFill>
                  <a:srgbClr val="E04E39"/>
                </a:solidFill>
                <a:latin typeface="Arial" pitchFamily="34" charset="0"/>
                <a:ea typeface="Arial" pitchFamily="34" charset="-122"/>
                <a:cs typeface="Arial" pitchFamily="34" charset="-120"/>
              </a:rPr>
              <a:t>resolvió 3</a:t>
            </a:r>
            <a:endParaRPr lang="en-US" sz="1350" dirty="0"/>
          </a:p>
        </p:txBody>
      </p:sp>
      <p:sp>
        <p:nvSpPr>
          <p:cNvPr id="15" name="Text 13"/>
          <p:cNvSpPr/>
          <p:nvPr/>
        </p:nvSpPr>
        <p:spPr>
          <a:xfrm>
            <a:off x="777240" y="5020056"/>
            <a:ext cx="3840480" cy="274320"/>
          </a:xfrm>
          <a:prstGeom prst="rect">
            <a:avLst/>
          </a:prstGeom>
          <a:noFill/>
          <a:ln/>
        </p:spPr>
        <p:txBody>
          <a:bodyPr wrap="square" lIns="0" tIns="0" rIns="0" bIns="0" rtlCol="0" anchor="ctr"/>
          <a:lstStyle/>
          <a:p>
            <a:pPr marL="0" indent="0">
              <a:buNone/>
            </a:pPr>
            <a:r>
              <a:rPr lang="en-US" sz="1350" b="1" dirty="0">
                <a:solidFill>
                  <a:srgbClr val="111114"/>
                </a:solidFill>
                <a:latin typeface="Arial" pitchFamily="34" charset="0"/>
                <a:ea typeface="Arial" pitchFamily="34" charset="-122"/>
                <a:cs typeface="Arial" pitchFamily="34" charset="-120"/>
              </a:rPr>
              <a:t>MirrorCode</a:t>
            </a:r>
            <a:endParaRPr lang="en-US" sz="1350" dirty="0"/>
          </a:p>
        </p:txBody>
      </p:sp>
      <p:sp>
        <p:nvSpPr>
          <p:cNvPr id="16" name="Text 14"/>
          <p:cNvSpPr/>
          <p:nvPr/>
        </p:nvSpPr>
        <p:spPr>
          <a:xfrm>
            <a:off x="4709160" y="5020056"/>
            <a:ext cx="4754880" cy="274320"/>
          </a:xfrm>
          <a:prstGeom prst="rect">
            <a:avLst/>
          </a:prstGeom>
          <a:noFill/>
          <a:ln/>
        </p:spPr>
        <p:txBody>
          <a:bodyPr wrap="square" lIns="0" tIns="0" rIns="0" bIns="0" rtlCol="0" anchor="ctr"/>
          <a:lstStyle/>
          <a:p>
            <a:pPr marL="0" indent="0">
              <a:buNone/>
            </a:pPr>
            <a:r>
              <a:rPr lang="en-US" sz="1300" dirty="0">
                <a:solidFill>
                  <a:srgbClr val="55555C"/>
                </a:solidFill>
                <a:latin typeface="Arial" pitchFamily="34" charset="0"/>
                <a:ea typeface="Arial" pitchFamily="34" charset="-122"/>
                <a:cs typeface="Arial" pitchFamily="34" charset="-120"/>
              </a:rPr>
              <a:t>Código difícil</a:t>
            </a:r>
            <a:endParaRPr lang="en-US" sz="1300" dirty="0"/>
          </a:p>
        </p:txBody>
      </p:sp>
      <p:sp>
        <p:nvSpPr>
          <p:cNvPr id="17" name="Text 15"/>
          <p:cNvSpPr/>
          <p:nvPr/>
        </p:nvSpPr>
        <p:spPr>
          <a:xfrm>
            <a:off x="9555480" y="5020056"/>
            <a:ext cx="1856232" cy="274320"/>
          </a:xfrm>
          <a:prstGeom prst="rect">
            <a:avLst/>
          </a:prstGeom>
          <a:noFill/>
          <a:ln/>
        </p:spPr>
        <p:txBody>
          <a:bodyPr wrap="square" lIns="0" tIns="0" rIns="0" bIns="0" rtlCol="0" anchor="ctr"/>
          <a:lstStyle/>
          <a:p>
            <a:pPr marL="0" indent="0" algn="r">
              <a:buNone/>
            </a:pPr>
            <a:r>
              <a:rPr lang="en-US" sz="1350" b="1" dirty="0">
                <a:solidFill>
                  <a:srgbClr val="E04E39"/>
                </a:solidFill>
                <a:latin typeface="Arial" pitchFamily="34" charset="0"/>
                <a:ea typeface="Arial" pitchFamily="34" charset="-122"/>
                <a:cs typeface="Arial" pitchFamily="34" charset="-120"/>
              </a:rPr>
              <a:t>20 – 64%</a:t>
            </a:r>
            <a:endParaRPr lang="en-US" sz="1350" dirty="0"/>
          </a:p>
        </p:txBody>
      </p:sp>
      <p:sp>
        <p:nvSpPr>
          <p:cNvPr id="18" name="Text 16"/>
          <p:cNvSpPr/>
          <p:nvPr/>
        </p:nvSpPr>
        <p:spPr>
          <a:xfrm>
            <a:off x="777240" y="6254496"/>
            <a:ext cx="9905695" cy="310896"/>
          </a:xfrm>
          <a:prstGeom prst="rect">
            <a:avLst/>
          </a:prstGeom>
          <a:noFill/>
          <a:ln/>
        </p:spPr>
        <p:txBody>
          <a:bodyPr wrap="square" lIns="0" tIns="0" rIns="0" bIns="0" rtlCol="0" anchor="t"/>
          <a:lstStyle/>
          <a:p>
            <a:pPr marL="0" indent="0">
              <a:buNone/>
            </a:pPr>
            <a:r>
              <a:rPr lang="en-US" sz="900" i="1" dirty="0">
                <a:solidFill>
                  <a:srgbClr val="9A9AA0"/>
                </a:solidFill>
                <a:latin typeface="Arial" pitchFamily="34" charset="0"/>
                <a:ea typeface="Arial" pitchFamily="34" charset="-122"/>
                <a:cs typeface="Arial" pitchFamily="34" charset="-120"/>
              </a:rPr>
              <a:t>ARC-AGI-3 se lanzó el 25/3/2026 y el baseline humano es 100%. Los modelos de frontera están en 0,51%: es hoy la brecha más limpia que existe entre humanos y máquinas.</a:t>
            </a:r>
            <a:endParaRPr lang="en-US" sz="900" dirty="0"/>
          </a:p>
        </p:txBody>
      </p:sp>
      <p:sp>
        <p:nvSpPr>
          <p:cNvPr id="19" name="Text 17"/>
          <p:cNvSpPr/>
          <p:nvPr/>
        </p:nvSpPr>
        <p:spPr>
          <a:xfrm>
            <a:off x="10865815" y="6291072"/>
            <a:ext cx="548640" cy="274320"/>
          </a:xfrm>
          <a:prstGeom prst="rect">
            <a:avLst/>
          </a:prstGeom>
          <a:noFill/>
          <a:ln/>
        </p:spPr>
        <p:txBody>
          <a:bodyPr wrap="square" lIns="0" tIns="0" rIns="0" bIns="0" rtlCol="0" anchor="ctr"/>
          <a:lstStyle/>
          <a:p>
            <a:pPr marL="0" indent="0" algn="r">
              <a:buNone/>
            </a:pPr>
            <a:r>
              <a:rPr lang="en-US" sz="900" dirty="0">
                <a:solidFill>
                  <a:srgbClr val="9A9AA0"/>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420624"/>
            <a:ext cx="10637215" cy="237744"/>
          </a:xfrm>
          <a:prstGeom prst="rect">
            <a:avLst/>
          </a:prstGeom>
          <a:noFill/>
          <a:ln/>
        </p:spPr>
        <p:txBody>
          <a:bodyPr wrap="square" lIns="0" tIns="0" rIns="0" bIns="0" rtlCol="0" anchor="ctr"/>
          <a:lstStyle/>
          <a:p>
            <a:pPr marL="0" indent="0">
              <a:buNone/>
            </a:pPr>
            <a:r>
              <a:rPr lang="en-US" sz="1050" b="1" kern="0" spc="200" dirty="0">
                <a:solidFill>
                  <a:srgbClr val="E04E39"/>
                </a:solidFill>
                <a:latin typeface="Arial" pitchFamily="34" charset="0"/>
                <a:ea typeface="Arial" pitchFamily="34" charset="-122"/>
                <a:cs typeface="Arial" pitchFamily="34" charset="-120"/>
              </a:rPr>
              <a:t>UTILIDAD ECONÓMICA</a:t>
            </a:r>
            <a:endParaRPr lang="en-US" sz="1050" dirty="0"/>
          </a:p>
        </p:txBody>
      </p:sp>
      <p:sp>
        <p:nvSpPr>
          <p:cNvPr id="3" name="Text 1"/>
          <p:cNvSpPr/>
          <p:nvPr/>
        </p:nvSpPr>
        <p:spPr>
          <a:xfrm>
            <a:off x="777240" y="694944"/>
            <a:ext cx="10637215" cy="566928"/>
          </a:xfrm>
          <a:prstGeom prst="rect">
            <a:avLst/>
          </a:prstGeom>
          <a:noFill/>
          <a:ln/>
        </p:spPr>
        <p:txBody>
          <a:bodyPr wrap="square" lIns="0" tIns="0" rIns="0" bIns="0" rtlCol="0" anchor="t"/>
          <a:lstStyle/>
          <a:p>
            <a:pPr marL="0" indent="0">
              <a:lnSpc>
                <a:spcPts val="3400"/>
              </a:lnSpc>
              <a:buNone/>
            </a:pPr>
            <a:r>
              <a:rPr lang="en-US" sz="3000" b="1" dirty="0">
                <a:solidFill>
                  <a:srgbClr val="111114"/>
                </a:solidFill>
                <a:latin typeface="Arial" pitchFamily="34" charset="0"/>
                <a:ea typeface="Arial" pitchFamily="34" charset="-122"/>
                <a:cs typeface="Arial" pitchFamily="34" charset="-120"/>
              </a:rPr>
              <a:t>El benchmark que mide plata, no exámenes</a:t>
            </a:r>
            <a:endParaRPr lang="en-US" sz="3000" dirty="0"/>
          </a:p>
        </p:txBody>
      </p:sp>
      <p:sp>
        <p:nvSpPr>
          <p:cNvPr id="4" name="Text 2"/>
          <p:cNvSpPr/>
          <p:nvPr/>
        </p:nvSpPr>
        <p:spPr>
          <a:xfrm>
            <a:off x="777240" y="1517904"/>
            <a:ext cx="5852160" cy="822960"/>
          </a:xfrm>
          <a:prstGeom prst="rect">
            <a:avLst/>
          </a:prstGeom>
          <a:noFill/>
          <a:ln/>
        </p:spPr>
        <p:txBody>
          <a:bodyPr wrap="square" lIns="0" tIns="0" rIns="0" bIns="0" rtlCol="0" anchor="t"/>
          <a:lstStyle/>
          <a:p>
            <a:pPr marL="0" indent="0">
              <a:lnSpc>
                <a:spcPts val="2103"/>
              </a:lnSpc>
              <a:buNone/>
            </a:pPr>
            <a:r>
              <a:rPr lang="en-US" sz="1450" dirty="0">
                <a:solidFill>
                  <a:srgbClr val="3A3A40"/>
                </a:solidFill>
                <a:latin typeface="Arial" pitchFamily="34" charset="0"/>
                <a:ea typeface="Arial" pitchFamily="34" charset="-122"/>
                <a:cs typeface="Arial" pitchFamily="34" charset="-120"/>
              </a:rPr>
              <a:t>OpenAI creó GDPval para medir tareas laborales reales de 44 profesiones, evaluadas por profesionales con más de diez años de experiencia en cada campo.</a:t>
            </a:r>
            <a:endParaRPr lang="en-US" sz="1450" dirty="0"/>
          </a:p>
        </p:txBody>
      </p:sp>
      <p:sp>
        <p:nvSpPr>
          <p:cNvPr id="5" name="Text 3"/>
          <p:cNvSpPr/>
          <p:nvPr/>
        </p:nvSpPr>
        <p:spPr>
          <a:xfrm>
            <a:off x="777240" y="2377440"/>
            <a:ext cx="2743200" cy="766916"/>
          </a:xfrm>
          <a:prstGeom prst="rect">
            <a:avLst/>
          </a:prstGeom>
          <a:noFill/>
          <a:ln/>
        </p:spPr>
        <p:txBody>
          <a:bodyPr wrap="square" lIns="0" tIns="0" rIns="0" bIns="0" rtlCol="0" anchor="t"/>
          <a:lstStyle/>
          <a:p>
            <a:pPr marL="0" indent="0">
              <a:buNone/>
            </a:pPr>
            <a:r>
              <a:rPr lang="en-US" sz="5200" b="1" dirty="0">
                <a:solidFill>
                  <a:srgbClr val="E04E39"/>
                </a:solidFill>
                <a:latin typeface="Arial" pitchFamily="34" charset="0"/>
                <a:ea typeface="Arial" pitchFamily="34" charset="-122"/>
                <a:cs typeface="Arial" pitchFamily="34" charset="-120"/>
              </a:rPr>
              <a:t>1849</a:t>
            </a:r>
            <a:endParaRPr lang="en-US" sz="5200" dirty="0"/>
          </a:p>
        </p:txBody>
      </p:sp>
      <p:sp>
        <p:nvSpPr>
          <p:cNvPr id="6" name="Text 4"/>
          <p:cNvSpPr/>
          <p:nvPr/>
        </p:nvSpPr>
        <p:spPr>
          <a:xfrm>
            <a:off x="777240" y="3199220"/>
            <a:ext cx="2743200" cy="1051560"/>
          </a:xfrm>
          <a:prstGeom prst="rect">
            <a:avLst/>
          </a:prstGeom>
          <a:noFill/>
          <a:ln/>
        </p:spPr>
        <p:txBody>
          <a:bodyPr wrap="square" lIns="0" tIns="0" rIns="0" bIns="0" rtlCol="0" anchor="t"/>
          <a:lstStyle/>
          <a:p>
            <a:pPr marL="0" indent="0">
              <a:lnSpc>
                <a:spcPts val="1500"/>
              </a:lnSpc>
              <a:buNone/>
            </a:pPr>
            <a:r>
              <a:rPr lang="en-US" sz="1150" dirty="0">
                <a:solidFill>
                  <a:srgbClr val="6E6E73"/>
                </a:solidFill>
                <a:latin typeface="Arial" pitchFamily="34" charset="0"/>
                <a:ea typeface="Arial" pitchFamily="34" charset="-122"/>
                <a:cs typeface="Arial" pitchFamily="34" charset="-120"/>
              </a:rPr>
              <a:t>Elo de Claude Opus 5 en la versión ampliada del benchmark, agosto 2026</a:t>
            </a:r>
            <a:endParaRPr lang="en-US" sz="1150" dirty="0"/>
          </a:p>
        </p:txBody>
      </p:sp>
      <p:sp>
        <p:nvSpPr>
          <p:cNvPr id="7" name="Text 5"/>
          <p:cNvSpPr/>
          <p:nvPr/>
        </p:nvSpPr>
        <p:spPr>
          <a:xfrm>
            <a:off x="3886200" y="2377440"/>
            <a:ext cx="2743200" cy="766916"/>
          </a:xfrm>
          <a:prstGeom prst="rect">
            <a:avLst/>
          </a:prstGeom>
          <a:noFill/>
          <a:ln/>
        </p:spPr>
        <p:txBody>
          <a:bodyPr wrap="square" lIns="0" tIns="0" rIns="0" bIns="0" rtlCol="0" anchor="t"/>
          <a:lstStyle/>
          <a:p>
            <a:pPr marL="0" indent="0">
              <a:buNone/>
            </a:pPr>
            <a:r>
              <a:rPr lang="en-US" sz="5200" b="1" dirty="0">
                <a:solidFill>
                  <a:srgbClr val="111114"/>
                </a:solidFill>
                <a:latin typeface="Arial" pitchFamily="34" charset="0"/>
                <a:ea typeface="Arial" pitchFamily="34" charset="-122"/>
                <a:cs typeface="Arial" pitchFamily="34" charset="-120"/>
              </a:rPr>
              <a:t>1000</a:t>
            </a:r>
            <a:endParaRPr lang="en-US" sz="5200" dirty="0"/>
          </a:p>
        </p:txBody>
      </p:sp>
      <p:sp>
        <p:nvSpPr>
          <p:cNvPr id="8" name="Text 6"/>
          <p:cNvSpPr/>
          <p:nvPr/>
        </p:nvSpPr>
        <p:spPr>
          <a:xfrm>
            <a:off x="3886200" y="3199220"/>
            <a:ext cx="2743200" cy="1051560"/>
          </a:xfrm>
          <a:prstGeom prst="rect">
            <a:avLst/>
          </a:prstGeom>
          <a:noFill/>
          <a:ln/>
        </p:spPr>
        <p:txBody>
          <a:bodyPr wrap="square" lIns="0" tIns="0" rIns="0" bIns="0" rtlCol="0" anchor="t"/>
          <a:lstStyle/>
          <a:p>
            <a:pPr marL="0" indent="0">
              <a:lnSpc>
                <a:spcPts val="1500"/>
              </a:lnSpc>
              <a:buNone/>
            </a:pPr>
            <a:r>
              <a:rPr lang="en-US" sz="1150" dirty="0">
                <a:solidFill>
                  <a:srgbClr val="6E6E73"/>
                </a:solidFill>
                <a:latin typeface="Arial" pitchFamily="34" charset="0"/>
                <a:ea typeface="Arial" pitchFamily="34" charset="-122"/>
                <a:cs typeface="Arial" pitchFamily="34" charset="-120"/>
              </a:rPr>
              <a:t>Elo del profesional humano experto, fijado como línea de base</a:t>
            </a:r>
            <a:endParaRPr lang="en-US" sz="1150" dirty="0"/>
          </a:p>
        </p:txBody>
      </p:sp>
      <p:sp>
        <p:nvSpPr>
          <p:cNvPr id="9" name="Text 7"/>
          <p:cNvSpPr/>
          <p:nvPr/>
        </p:nvSpPr>
        <p:spPr>
          <a:xfrm>
            <a:off x="777240" y="3931920"/>
            <a:ext cx="5852160" cy="548640"/>
          </a:xfrm>
          <a:prstGeom prst="rect">
            <a:avLst/>
          </a:prstGeom>
          <a:noFill/>
          <a:ln/>
        </p:spPr>
        <p:txBody>
          <a:bodyPr wrap="square" lIns="0" tIns="0" rIns="0" bIns="0" rtlCol="0" anchor="t"/>
          <a:lstStyle/>
          <a:p>
            <a:pPr marL="0" indent="0">
              <a:lnSpc>
                <a:spcPts val="2000"/>
              </a:lnSpc>
              <a:buNone/>
            </a:pPr>
            <a:r>
              <a:rPr lang="en-US" sz="1500" b="1" dirty="0">
                <a:solidFill>
                  <a:srgbClr val="111114"/>
                </a:solidFill>
                <a:latin typeface="Arial" pitchFamily="34" charset="0"/>
                <a:ea typeface="Arial" pitchFamily="34" charset="-122"/>
                <a:cs typeface="Arial" pitchFamily="34" charset="-120"/>
              </a:rPr>
              <a:t>Y lo hacen unas 100 veces más rápido, a una fracción del costo.</a:t>
            </a:r>
            <a:endParaRPr lang="en-US" sz="1500" dirty="0"/>
          </a:p>
        </p:txBody>
      </p:sp>
      <p:sp>
        <p:nvSpPr>
          <p:cNvPr id="10" name="Shape 8"/>
          <p:cNvSpPr/>
          <p:nvPr/>
        </p:nvSpPr>
        <p:spPr>
          <a:xfrm>
            <a:off x="7223760" y="1481328"/>
            <a:ext cx="4187952" cy="3200400"/>
          </a:xfrm>
          <a:prstGeom prst="roundRect">
            <a:avLst>
              <a:gd name="adj" fmla="val 1714"/>
            </a:avLst>
          </a:prstGeom>
          <a:solidFill>
            <a:srgbClr val="111114"/>
          </a:solidFill>
          <a:ln w="12700">
            <a:solidFill>
              <a:srgbClr val="111114"/>
            </a:solidFill>
            <a:prstDash val="solid"/>
          </a:ln>
        </p:spPr>
        <p:txBody>
          <a:bodyPr/>
          <a:lstStyle/>
          <a:p>
            <a:endParaRPr lang="en-AR"/>
          </a:p>
        </p:txBody>
      </p:sp>
      <p:sp>
        <p:nvSpPr>
          <p:cNvPr id="11" name="Text 9"/>
          <p:cNvSpPr/>
          <p:nvPr/>
        </p:nvSpPr>
        <p:spPr>
          <a:xfrm>
            <a:off x="7589520" y="1755648"/>
            <a:ext cx="3474720" cy="274320"/>
          </a:xfrm>
          <a:prstGeom prst="rect">
            <a:avLst/>
          </a:prstGeom>
          <a:noFill/>
          <a:ln/>
        </p:spPr>
        <p:txBody>
          <a:bodyPr wrap="square" lIns="0" tIns="0" rIns="0" bIns="0" rtlCol="0" anchor="ctr"/>
          <a:lstStyle/>
          <a:p>
            <a:pPr marL="0" indent="0">
              <a:buNone/>
            </a:pPr>
            <a:r>
              <a:rPr lang="en-US" sz="1000" b="1" kern="0" spc="150" dirty="0">
                <a:solidFill>
                  <a:srgbClr val="E04E39"/>
                </a:solidFill>
                <a:latin typeface="Arial" pitchFamily="34" charset="0"/>
                <a:ea typeface="Arial" pitchFamily="34" charset="-122"/>
                <a:cs typeface="Arial" pitchFamily="34" charset="-120"/>
              </a:rPr>
              <a:t>LA LETRA CHICA</a:t>
            </a:r>
            <a:endParaRPr lang="en-US" sz="1000" dirty="0"/>
          </a:p>
        </p:txBody>
      </p:sp>
      <p:sp>
        <p:nvSpPr>
          <p:cNvPr id="12" name="Text 10"/>
          <p:cNvSpPr/>
          <p:nvPr/>
        </p:nvSpPr>
        <p:spPr>
          <a:xfrm>
            <a:off x="7589520" y="2148840"/>
            <a:ext cx="3474720" cy="914400"/>
          </a:xfrm>
          <a:prstGeom prst="rect">
            <a:avLst/>
          </a:prstGeom>
          <a:noFill/>
          <a:ln/>
        </p:spPr>
        <p:txBody>
          <a:bodyPr wrap="square" lIns="0" tIns="0" rIns="0" bIns="0" rtlCol="0" anchor="ctr"/>
          <a:lstStyle/>
          <a:p>
            <a:pPr marL="0" indent="0">
              <a:lnSpc>
                <a:spcPts val="2100"/>
              </a:lnSpc>
              <a:buNone/>
            </a:pPr>
            <a:r>
              <a:rPr lang="en-US" sz="1500" dirty="0">
                <a:solidFill>
                  <a:srgbClr val="FFFFFF"/>
                </a:solidFill>
                <a:latin typeface="Arial" pitchFamily="34" charset="0"/>
                <a:ea typeface="Arial" pitchFamily="34" charset="-122"/>
                <a:cs typeface="Arial" pitchFamily="34" charset="-120"/>
              </a:rPr>
              <a:t>El ranking se arma con comparaciones ciegas juzgadas por otro modelo de IA.</a:t>
            </a:r>
            <a:endParaRPr lang="en-US" sz="1500" dirty="0"/>
          </a:p>
        </p:txBody>
      </p:sp>
      <p:sp>
        <p:nvSpPr>
          <p:cNvPr id="13" name="Text 11"/>
          <p:cNvSpPr/>
          <p:nvPr/>
        </p:nvSpPr>
        <p:spPr>
          <a:xfrm>
            <a:off x="7589520" y="3246120"/>
            <a:ext cx="3474720" cy="1097280"/>
          </a:xfrm>
          <a:prstGeom prst="rect">
            <a:avLst/>
          </a:prstGeom>
          <a:noFill/>
          <a:ln/>
        </p:spPr>
        <p:txBody>
          <a:bodyPr wrap="square" lIns="0" tIns="0" rIns="0" bIns="0" rtlCol="0" anchor="ctr"/>
          <a:lstStyle/>
          <a:p>
            <a:pPr marL="0" indent="0">
              <a:lnSpc>
                <a:spcPts val="1700"/>
              </a:lnSpc>
              <a:buNone/>
            </a:pPr>
            <a:r>
              <a:rPr lang="en-US" sz="1250" dirty="0">
                <a:solidFill>
                  <a:srgbClr val="9A9AA2"/>
                </a:solidFill>
                <a:latin typeface="Arial" pitchFamily="34" charset="0"/>
                <a:ea typeface="Arial" pitchFamily="34" charset="-122"/>
                <a:cs typeface="Arial" pitchFamily="34" charset="-120"/>
              </a:rPr>
              <a:t>Es una IA calificando a otra IA en el trabajo de un humano. Vale como señal; no como veredicto.</a:t>
            </a:r>
            <a:endParaRPr lang="en-US" sz="1250" dirty="0"/>
          </a:p>
        </p:txBody>
      </p:sp>
      <p:sp>
        <p:nvSpPr>
          <p:cNvPr id="14" name="Shape 12"/>
          <p:cNvSpPr/>
          <p:nvPr/>
        </p:nvSpPr>
        <p:spPr>
          <a:xfrm>
            <a:off x="777240" y="4892040"/>
            <a:ext cx="10637215" cy="960120"/>
          </a:xfrm>
          <a:prstGeom prst="roundRect">
            <a:avLst>
              <a:gd name="adj" fmla="val 5714"/>
            </a:avLst>
          </a:prstGeom>
          <a:solidFill>
            <a:srgbClr val="F6F6F5"/>
          </a:solidFill>
          <a:ln w="12700">
            <a:solidFill>
              <a:srgbClr val="F6F6F5"/>
            </a:solidFill>
            <a:prstDash val="solid"/>
          </a:ln>
        </p:spPr>
        <p:txBody>
          <a:bodyPr/>
          <a:lstStyle/>
          <a:p>
            <a:endParaRPr lang="en-AR"/>
          </a:p>
        </p:txBody>
      </p:sp>
      <p:sp>
        <p:nvSpPr>
          <p:cNvPr id="15" name="Text 13"/>
          <p:cNvSpPr/>
          <p:nvPr/>
        </p:nvSpPr>
        <p:spPr>
          <a:xfrm>
            <a:off x="1143000" y="5120640"/>
            <a:ext cx="9905695" cy="548640"/>
          </a:xfrm>
          <a:prstGeom prst="rect">
            <a:avLst/>
          </a:prstGeom>
          <a:noFill/>
          <a:ln/>
        </p:spPr>
        <p:txBody>
          <a:bodyPr wrap="square" lIns="0" tIns="0" rIns="0" bIns="0" rtlCol="0" anchor="ctr"/>
          <a:lstStyle/>
          <a:p>
            <a:pPr marL="0" indent="0">
              <a:buNone/>
            </a:pPr>
            <a:r>
              <a:rPr lang="en-US" sz="1450" i="1" dirty="0">
                <a:solidFill>
                  <a:srgbClr val="3A3A40"/>
                </a:solidFill>
                <a:latin typeface="Arial" pitchFamily="34" charset="0"/>
                <a:ea typeface="Arial" pitchFamily="34" charset="-122"/>
                <a:cs typeface="Arial" pitchFamily="34" charset="-120"/>
              </a:rPr>
              <a:t>Si un sistema hace tu tarea profesional mejor que vos según un juez ciego, cien veces más rápido y a la centésima parte del costo… ¿qué parte de tu rol es esa tarea?</a:t>
            </a:r>
            <a:endParaRPr lang="en-US" sz="1450" dirty="0"/>
          </a:p>
        </p:txBody>
      </p:sp>
      <p:sp>
        <p:nvSpPr>
          <p:cNvPr id="16" name="Text 14"/>
          <p:cNvSpPr/>
          <p:nvPr/>
        </p:nvSpPr>
        <p:spPr>
          <a:xfrm>
            <a:off x="10865815" y="6291072"/>
            <a:ext cx="548640" cy="274320"/>
          </a:xfrm>
          <a:prstGeom prst="rect">
            <a:avLst/>
          </a:prstGeom>
          <a:noFill/>
          <a:ln/>
        </p:spPr>
        <p:txBody>
          <a:bodyPr wrap="square" lIns="0" tIns="0" rIns="0" bIns="0" rtlCol="0" anchor="ctr"/>
          <a:lstStyle/>
          <a:p>
            <a:pPr marL="0" indent="0" algn="r">
              <a:buNone/>
            </a:pPr>
            <a:r>
              <a:rPr lang="en-US" sz="900" dirty="0">
                <a:solidFill>
                  <a:srgbClr val="9A9AA0"/>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420624"/>
            <a:ext cx="10637215" cy="237744"/>
          </a:xfrm>
          <a:prstGeom prst="rect">
            <a:avLst/>
          </a:prstGeom>
          <a:noFill/>
          <a:ln/>
        </p:spPr>
        <p:txBody>
          <a:bodyPr wrap="square" lIns="0" tIns="0" rIns="0" bIns="0" rtlCol="0" anchor="ctr"/>
          <a:lstStyle/>
          <a:p>
            <a:pPr marL="0" indent="0">
              <a:buNone/>
            </a:pPr>
            <a:r>
              <a:rPr lang="en-US" sz="1050" b="1" kern="0" spc="200" dirty="0">
                <a:solidFill>
                  <a:srgbClr val="E04E39"/>
                </a:solidFill>
                <a:latin typeface="Arial" pitchFamily="34" charset="0"/>
                <a:ea typeface="Arial" pitchFamily="34" charset="-122"/>
                <a:cs typeface="Arial" pitchFamily="34" charset="-120"/>
              </a:rPr>
              <a:t>VELOCIDAD</a:t>
            </a:r>
            <a:endParaRPr lang="en-US" sz="1050" dirty="0"/>
          </a:p>
        </p:txBody>
      </p:sp>
      <p:sp>
        <p:nvSpPr>
          <p:cNvPr id="3" name="Text 1"/>
          <p:cNvSpPr/>
          <p:nvPr/>
        </p:nvSpPr>
        <p:spPr>
          <a:xfrm>
            <a:off x="777240" y="694944"/>
            <a:ext cx="10637215" cy="566928"/>
          </a:xfrm>
          <a:prstGeom prst="rect">
            <a:avLst/>
          </a:prstGeom>
          <a:noFill/>
          <a:ln/>
        </p:spPr>
        <p:txBody>
          <a:bodyPr wrap="square" lIns="0" tIns="0" rIns="0" bIns="0" rtlCol="0" anchor="t"/>
          <a:lstStyle/>
          <a:p>
            <a:pPr marL="0" indent="0">
              <a:lnSpc>
                <a:spcPts val="3400"/>
              </a:lnSpc>
              <a:buNone/>
            </a:pPr>
            <a:r>
              <a:rPr lang="en-US" sz="3000" b="1" dirty="0">
                <a:solidFill>
                  <a:srgbClr val="111114"/>
                </a:solidFill>
                <a:latin typeface="Arial" pitchFamily="34" charset="0"/>
                <a:ea typeface="Arial" pitchFamily="34" charset="-122"/>
                <a:cs typeface="Arial" pitchFamily="34" charset="-120"/>
              </a:rPr>
              <a:t>Tres años, en una diapositiva</a:t>
            </a:r>
            <a:endParaRPr lang="en-US" sz="3000" dirty="0"/>
          </a:p>
        </p:txBody>
      </p:sp>
      <p:sp>
        <p:nvSpPr>
          <p:cNvPr id="4" name="Text 2"/>
          <p:cNvSpPr/>
          <p:nvPr/>
        </p:nvSpPr>
        <p:spPr>
          <a:xfrm>
            <a:off x="777240" y="1874520"/>
            <a:ext cx="1828800" cy="457200"/>
          </a:xfrm>
          <a:prstGeom prst="rect">
            <a:avLst/>
          </a:prstGeom>
          <a:noFill/>
          <a:ln/>
        </p:spPr>
        <p:txBody>
          <a:bodyPr wrap="square" lIns="0" tIns="0" rIns="0" bIns="0" rtlCol="0" anchor="ctr"/>
          <a:lstStyle/>
          <a:p>
            <a:pPr marL="0" indent="0">
              <a:buNone/>
            </a:pPr>
            <a:r>
              <a:rPr lang="en-US" sz="2000" b="1" dirty="0">
                <a:solidFill>
                  <a:srgbClr val="9A9AA0"/>
                </a:solidFill>
                <a:latin typeface="Arial" pitchFamily="34" charset="0"/>
                <a:ea typeface="Arial" pitchFamily="34" charset="-122"/>
                <a:cs typeface="Arial" pitchFamily="34" charset="-120"/>
              </a:rPr>
              <a:t>2023</a:t>
            </a:r>
            <a:endParaRPr lang="en-US" sz="2000" dirty="0"/>
          </a:p>
        </p:txBody>
      </p:sp>
      <p:sp>
        <p:nvSpPr>
          <p:cNvPr id="5" name="Text 3"/>
          <p:cNvSpPr/>
          <p:nvPr/>
        </p:nvSpPr>
        <p:spPr>
          <a:xfrm>
            <a:off x="2880360" y="1874520"/>
            <a:ext cx="8534095" cy="548640"/>
          </a:xfrm>
          <a:prstGeom prst="rect">
            <a:avLst/>
          </a:prstGeom>
          <a:noFill/>
          <a:ln/>
        </p:spPr>
        <p:txBody>
          <a:bodyPr wrap="square" lIns="0" tIns="0" rIns="0" bIns="0" rtlCol="0" anchor="ctr"/>
          <a:lstStyle/>
          <a:p>
            <a:pPr marL="0" indent="0">
              <a:lnSpc>
                <a:spcPts val="2600"/>
              </a:lnSpc>
              <a:buNone/>
            </a:pPr>
            <a:r>
              <a:rPr lang="en-US" sz="2000" dirty="0">
                <a:solidFill>
                  <a:srgbClr val="111114"/>
                </a:solidFill>
                <a:latin typeface="Arial" pitchFamily="34" charset="0"/>
                <a:ea typeface="Arial" pitchFamily="34" charset="-122"/>
                <a:cs typeface="Arial" pitchFamily="34" charset="-120"/>
              </a:rPr>
              <a:t>GPT-4 es histórico por aprobar el examen de abogacía</a:t>
            </a:r>
            <a:endParaRPr lang="en-US" sz="2000" dirty="0"/>
          </a:p>
        </p:txBody>
      </p:sp>
      <p:sp>
        <p:nvSpPr>
          <p:cNvPr id="6" name="Text 4"/>
          <p:cNvSpPr/>
          <p:nvPr/>
        </p:nvSpPr>
        <p:spPr>
          <a:xfrm>
            <a:off x="777240" y="2834640"/>
            <a:ext cx="1828800" cy="457200"/>
          </a:xfrm>
          <a:prstGeom prst="rect">
            <a:avLst/>
          </a:prstGeom>
          <a:noFill/>
          <a:ln/>
        </p:spPr>
        <p:txBody>
          <a:bodyPr wrap="square" lIns="0" tIns="0" rIns="0" bIns="0" rtlCol="0" anchor="ctr"/>
          <a:lstStyle/>
          <a:p>
            <a:pPr marL="0" indent="0">
              <a:buNone/>
            </a:pPr>
            <a:r>
              <a:rPr lang="en-US" sz="2000" b="1" dirty="0">
                <a:solidFill>
                  <a:srgbClr val="9A9AA0"/>
                </a:solidFill>
                <a:latin typeface="Arial" pitchFamily="34" charset="0"/>
                <a:ea typeface="Arial" pitchFamily="34" charset="-122"/>
                <a:cs typeface="Arial" pitchFamily="34" charset="-120"/>
              </a:rPr>
              <a:t>Feb 2026</a:t>
            </a:r>
            <a:endParaRPr lang="en-US" sz="2000" dirty="0"/>
          </a:p>
        </p:txBody>
      </p:sp>
      <p:sp>
        <p:nvSpPr>
          <p:cNvPr id="7" name="Text 5"/>
          <p:cNvSpPr/>
          <p:nvPr/>
        </p:nvSpPr>
        <p:spPr>
          <a:xfrm>
            <a:off x="2880360" y="2834640"/>
            <a:ext cx="8534095" cy="548640"/>
          </a:xfrm>
          <a:prstGeom prst="rect">
            <a:avLst/>
          </a:prstGeom>
          <a:noFill/>
          <a:ln/>
        </p:spPr>
        <p:txBody>
          <a:bodyPr wrap="square" lIns="0" tIns="0" rIns="0" bIns="0" rtlCol="0" anchor="ctr"/>
          <a:lstStyle/>
          <a:p>
            <a:pPr marL="0" indent="0">
              <a:lnSpc>
                <a:spcPts val="2600"/>
              </a:lnSpc>
              <a:buNone/>
            </a:pPr>
            <a:r>
              <a:rPr lang="en-US" sz="2000" dirty="0">
                <a:solidFill>
                  <a:srgbClr val="111114"/>
                </a:solidFill>
                <a:latin typeface="Arial" pitchFamily="34" charset="0"/>
                <a:ea typeface="Arial" pitchFamily="34" charset="-122"/>
                <a:cs typeface="Arial" pitchFamily="34" charset="-120"/>
              </a:rPr>
              <a:t>Gemini 3.1 Pro: 94,3% en preguntas de nivel doctorado</a:t>
            </a:r>
            <a:endParaRPr lang="en-US" sz="2000" dirty="0"/>
          </a:p>
        </p:txBody>
      </p:sp>
      <p:sp>
        <p:nvSpPr>
          <p:cNvPr id="8" name="Text 6"/>
          <p:cNvSpPr/>
          <p:nvPr/>
        </p:nvSpPr>
        <p:spPr>
          <a:xfrm>
            <a:off x="777240" y="3794760"/>
            <a:ext cx="1828800" cy="457200"/>
          </a:xfrm>
          <a:prstGeom prst="rect">
            <a:avLst/>
          </a:prstGeom>
          <a:noFill/>
          <a:ln/>
        </p:spPr>
        <p:txBody>
          <a:bodyPr wrap="square" lIns="0" tIns="0" rIns="0" bIns="0" rtlCol="0" anchor="ctr"/>
          <a:lstStyle/>
          <a:p>
            <a:pPr marL="0" indent="0">
              <a:buNone/>
            </a:pPr>
            <a:r>
              <a:rPr lang="en-US" sz="2000" b="1" dirty="0">
                <a:solidFill>
                  <a:srgbClr val="E04E39"/>
                </a:solidFill>
                <a:latin typeface="Arial" pitchFamily="34" charset="0"/>
                <a:ea typeface="Arial" pitchFamily="34" charset="-122"/>
                <a:cs typeface="Arial" pitchFamily="34" charset="-120"/>
              </a:rPr>
              <a:t>Jul 2026</a:t>
            </a:r>
            <a:endParaRPr lang="en-US" sz="2000" dirty="0"/>
          </a:p>
        </p:txBody>
      </p:sp>
      <p:sp>
        <p:nvSpPr>
          <p:cNvPr id="9" name="Text 7"/>
          <p:cNvSpPr/>
          <p:nvPr/>
        </p:nvSpPr>
        <p:spPr>
          <a:xfrm>
            <a:off x="2880360" y="3794760"/>
            <a:ext cx="8534095" cy="548640"/>
          </a:xfrm>
          <a:prstGeom prst="rect">
            <a:avLst/>
          </a:prstGeom>
          <a:noFill/>
          <a:ln/>
        </p:spPr>
        <p:txBody>
          <a:bodyPr wrap="square" lIns="0" tIns="0" rIns="0" bIns="0" rtlCol="0" anchor="ctr"/>
          <a:lstStyle/>
          <a:p>
            <a:pPr marL="0" indent="0">
              <a:lnSpc>
                <a:spcPts val="2600"/>
              </a:lnSpc>
              <a:buNone/>
            </a:pPr>
            <a:r>
              <a:rPr lang="en-US" sz="2000" dirty="0">
                <a:solidFill>
                  <a:srgbClr val="111114"/>
                </a:solidFill>
                <a:latin typeface="Arial" pitchFamily="34" charset="0"/>
                <a:ea typeface="Arial" pitchFamily="34" charset="-122"/>
                <a:cs typeface="Arial" pitchFamily="34" charset="-120"/>
              </a:rPr>
              <a:t>GPT-5.6 llega a 94,6%. Claude Opus 5 lidera en tareas laborales reales</a:t>
            </a:r>
            <a:endParaRPr lang="en-US" sz="2000" dirty="0"/>
          </a:p>
        </p:txBody>
      </p:sp>
      <p:sp>
        <p:nvSpPr>
          <p:cNvPr id="10" name="Shape 8"/>
          <p:cNvSpPr/>
          <p:nvPr/>
        </p:nvSpPr>
        <p:spPr>
          <a:xfrm>
            <a:off x="777240" y="4709160"/>
            <a:ext cx="10637215" cy="1280160"/>
          </a:xfrm>
          <a:prstGeom prst="roundRect">
            <a:avLst>
              <a:gd name="adj" fmla="val 4286"/>
            </a:avLst>
          </a:prstGeom>
          <a:solidFill>
            <a:srgbClr val="111114"/>
          </a:solidFill>
          <a:ln w="12700">
            <a:solidFill>
              <a:srgbClr val="111114"/>
            </a:solidFill>
            <a:prstDash val="solid"/>
          </a:ln>
        </p:spPr>
        <p:txBody>
          <a:bodyPr/>
          <a:lstStyle/>
          <a:p>
            <a:endParaRPr lang="en-AR"/>
          </a:p>
        </p:txBody>
      </p:sp>
      <p:sp>
        <p:nvSpPr>
          <p:cNvPr id="11" name="Text 9"/>
          <p:cNvSpPr/>
          <p:nvPr/>
        </p:nvSpPr>
        <p:spPr>
          <a:xfrm>
            <a:off x="1234440" y="4956048"/>
            <a:ext cx="9722815" cy="822960"/>
          </a:xfrm>
          <a:prstGeom prst="rect">
            <a:avLst/>
          </a:prstGeom>
          <a:noFill/>
          <a:ln/>
        </p:spPr>
        <p:txBody>
          <a:bodyPr wrap="square" lIns="0" tIns="0" rIns="0" bIns="0" rtlCol="0" anchor="ctr"/>
          <a:lstStyle/>
          <a:p>
            <a:pPr marL="0" indent="0">
              <a:lnSpc>
                <a:spcPts val="2800"/>
              </a:lnSpc>
              <a:buNone/>
            </a:pPr>
            <a:r>
              <a:rPr lang="en-US" sz="2100" b="1" dirty="0">
                <a:solidFill>
                  <a:srgbClr val="FFFFFF"/>
                </a:solidFill>
                <a:latin typeface="Arial" pitchFamily="34" charset="0"/>
                <a:ea typeface="Arial" pitchFamily="34" charset="-122"/>
                <a:cs typeface="Arial" pitchFamily="34" charset="-120"/>
              </a:rPr>
              <a:t>Lo que era la frontera absoluta en 2023,</a:t>
            </a:r>
            <a:endParaRPr lang="en-US" sz="2100" dirty="0"/>
          </a:p>
          <a:p>
            <a:pPr marL="0" indent="0">
              <a:lnSpc>
                <a:spcPts val="2800"/>
              </a:lnSpc>
              <a:buNone/>
            </a:pPr>
            <a:r>
              <a:rPr lang="en-US" sz="2100" b="1" dirty="0">
                <a:solidFill>
                  <a:srgbClr val="FFFFFF"/>
                </a:solidFill>
                <a:latin typeface="Arial" pitchFamily="34" charset="0"/>
                <a:ea typeface="Arial" pitchFamily="34" charset="-122"/>
                <a:cs typeface="Arial" pitchFamily="34" charset="-120"/>
              </a:rPr>
              <a:t>hoy lo hace un modelo de gama media por centavos.</a:t>
            </a:r>
            <a:endParaRPr lang="en-US" sz="2100" dirty="0"/>
          </a:p>
        </p:txBody>
      </p:sp>
      <p:sp>
        <p:nvSpPr>
          <p:cNvPr id="12" name="Text 10"/>
          <p:cNvSpPr/>
          <p:nvPr/>
        </p:nvSpPr>
        <p:spPr>
          <a:xfrm>
            <a:off x="10865815" y="6291072"/>
            <a:ext cx="548640" cy="274320"/>
          </a:xfrm>
          <a:prstGeom prst="rect">
            <a:avLst/>
          </a:prstGeom>
          <a:noFill/>
          <a:ln/>
        </p:spPr>
        <p:txBody>
          <a:bodyPr wrap="square" lIns="0" tIns="0" rIns="0" bIns="0" rtlCol="0" anchor="ctr"/>
          <a:lstStyle/>
          <a:p>
            <a:pPr marL="0" indent="0" algn="r">
              <a:buNone/>
            </a:pPr>
            <a:r>
              <a:rPr lang="en-US" sz="900" dirty="0">
                <a:solidFill>
                  <a:srgbClr val="9A9AA0"/>
                </a:solidFill>
                <a:latin typeface="Arial" pitchFamily="34" charset="0"/>
                <a:ea typeface="Arial" pitchFamily="34" charset="-122"/>
                <a:cs typeface="Arial" pitchFamily="34" charset="-120"/>
              </a:rPr>
              <a:t>18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420624"/>
            <a:ext cx="10637215" cy="237744"/>
          </a:xfrm>
          <a:prstGeom prst="rect">
            <a:avLst/>
          </a:prstGeom>
          <a:noFill/>
          <a:ln/>
        </p:spPr>
        <p:txBody>
          <a:bodyPr wrap="square" lIns="0" tIns="0" rIns="0" bIns="0" rtlCol="0" anchor="ctr"/>
          <a:lstStyle/>
          <a:p>
            <a:pPr marL="0" indent="0">
              <a:buNone/>
            </a:pPr>
            <a:r>
              <a:rPr lang="en-US" sz="1050" b="1" kern="0" spc="200" dirty="0">
                <a:solidFill>
                  <a:srgbClr val="E04E39"/>
                </a:solidFill>
                <a:latin typeface="Arial" pitchFamily="34" charset="0"/>
                <a:ea typeface="Arial" pitchFamily="34" charset="-122"/>
                <a:cs typeface="Arial" pitchFamily="34" charset="-120"/>
              </a:rPr>
              <a:t>EL OTRO EXPONENCIAL</a:t>
            </a:r>
            <a:endParaRPr lang="en-US" sz="1050" dirty="0"/>
          </a:p>
        </p:txBody>
      </p:sp>
      <p:sp>
        <p:nvSpPr>
          <p:cNvPr id="3" name="Text 1"/>
          <p:cNvSpPr/>
          <p:nvPr/>
        </p:nvSpPr>
        <p:spPr>
          <a:xfrm>
            <a:off x="777240" y="694944"/>
            <a:ext cx="10637215" cy="566928"/>
          </a:xfrm>
          <a:prstGeom prst="rect">
            <a:avLst/>
          </a:prstGeom>
          <a:noFill/>
          <a:ln/>
        </p:spPr>
        <p:txBody>
          <a:bodyPr wrap="square" lIns="0" tIns="0" rIns="0" bIns="0" rtlCol="0" anchor="t"/>
          <a:lstStyle/>
          <a:p>
            <a:pPr marL="0" indent="0">
              <a:lnSpc>
                <a:spcPts val="3400"/>
              </a:lnSpc>
              <a:buNone/>
            </a:pPr>
            <a:r>
              <a:rPr lang="en-US" sz="3000" b="1" dirty="0">
                <a:solidFill>
                  <a:srgbClr val="111114"/>
                </a:solidFill>
                <a:latin typeface="Arial" pitchFamily="34" charset="0"/>
                <a:ea typeface="Arial" pitchFamily="34" charset="-122"/>
                <a:cs typeface="Arial" pitchFamily="34" charset="-120"/>
              </a:rPr>
              <a:t>Mientras la capacidad sube, el costo se derrumba</a:t>
            </a:r>
            <a:endParaRPr lang="en-US" sz="3000" dirty="0"/>
          </a:p>
        </p:txBody>
      </p:sp>
      <p:sp>
        <p:nvSpPr>
          <p:cNvPr id="4" name="Text 2"/>
          <p:cNvSpPr/>
          <p:nvPr/>
        </p:nvSpPr>
        <p:spPr>
          <a:xfrm>
            <a:off x="777240" y="1481328"/>
            <a:ext cx="5852160" cy="274320"/>
          </a:xfrm>
          <a:prstGeom prst="rect">
            <a:avLst/>
          </a:prstGeom>
          <a:noFill/>
          <a:ln/>
        </p:spPr>
        <p:txBody>
          <a:bodyPr wrap="square" lIns="0" tIns="0" rIns="0" bIns="0" rtlCol="0" anchor="t"/>
          <a:lstStyle/>
          <a:p>
            <a:pPr marL="0" indent="0">
              <a:lnSpc>
                <a:spcPts val="1885"/>
              </a:lnSpc>
              <a:buNone/>
            </a:pPr>
            <a:r>
              <a:rPr lang="en-US" sz="1300" dirty="0">
                <a:solidFill>
                  <a:srgbClr val="6E6E73"/>
                </a:solidFill>
                <a:latin typeface="Arial" pitchFamily="34" charset="0"/>
                <a:ea typeface="Arial" pitchFamily="34" charset="-122"/>
                <a:cs typeface="Arial" pitchFamily="34" charset="-120"/>
              </a:rPr>
              <a:t>Precio por millón de tokens, entrada / salida. Agosto de 2026.</a:t>
            </a:r>
            <a:endParaRPr lang="en-US" sz="1300" dirty="0"/>
          </a:p>
        </p:txBody>
      </p:sp>
      <p:sp>
        <p:nvSpPr>
          <p:cNvPr id="5" name="Text 3"/>
          <p:cNvSpPr/>
          <p:nvPr/>
        </p:nvSpPr>
        <p:spPr>
          <a:xfrm>
            <a:off x="777240" y="1874520"/>
            <a:ext cx="2377440" cy="274320"/>
          </a:xfrm>
          <a:prstGeom prst="rect">
            <a:avLst/>
          </a:prstGeom>
          <a:noFill/>
          <a:ln/>
        </p:spPr>
        <p:txBody>
          <a:bodyPr wrap="square" lIns="0" tIns="0" rIns="0" bIns="0" rtlCol="0" anchor="ctr"/>
          <a:lstStyle/>
          <a:p>
            <a:pPr marL="0" indent="0">
              <a:buNone/>
            </a:pPr>
            <a:r>
              <a:rPr lang="en-US" sz="1350" b="1" dirty="0">
                <a:solidFill>
                  <a:srgbClr val="111114"/>
                </a:solidFill>
                <a:latin typeface="Arial" pitchFamily="34" charset="0"/>
                <a:ea typeface="Arial" pitchFamily="34" charset="-122"/>
                <a:cs typeface="Arial" pitchFamily="34" charset="-120"/>
              </a:rPr>
              <a:t>GPT-5.6 Sol</a:t>
            </a:r>
            <a:endParaRPr lang="en-US" sz="1350" dirty="0"/>
          </a:p>
        </p:txBody>
      </p:sp>
      <p:sp>
        <p:nvSpPr>
          <p:cNvPr id="6" name="Text 4"/>
          <p:cNvSpPr/>
          <p:nvPr/>
        </p:nvSpPr>
        <p:spPr>
          <a:xfrm>
            <a:off x="3246120" y="1874520"/>
            <a:ext cx="1737360" cy="274320"/>
          </a:xfrm>
          <a:prstGeom prst="rect">
            <a:avLst/>
          </a:prstGeom>
          <a:noFill/>
          <a:ln/>
        </p:spPr>
        <p:txBody>
          <a:bodyPr wrap="square" lIns="0" tIns="0" rIns="0" bIns="0" rtlCol="0" anchor="ctr"/>
          <a:lstStyle/>
          <a:p>
            <a:pPr marL="0" indent="0">
              <a:buNone/>
            </a:pPr>
            <a:r>
              <a:rPr lang="en-US" sz="1350" b="1" dirty="0">
                <a:solidFill>
                  <a:srgbClr val="E04E39"/>
                </a:solidFill>
                <a:latin typeface="Arial" pitchFamily="34" charset="0"/>
                <a:ea typeface="Arial" pitchFamily="34" charset="-122"/>
                <a:cs typeface="Arial" pitchFamily="34" charset="-120"/>
              </a:rPr>
              <a:t>US$5 / US$30</a:t>
            </a:r>
            <a:endParaRPr lang="en-US" sz="1350" dirty="0"/>
          </a:p>
        </p:txBody>
      </p:sp>
      <p:sp>
        <p:nvSpPr>
          <p:cNvPr id="7" name="Text 5"/>
          <p:cNvSpPr/>
          <p:nvPr/>
        </p:nvSpPr>
        <p:spPr>
          <a:xfrm>
            <a:off x="5120640" y="1847088"/>
            <a:ext cx="2651760" cy="502920"/>
          </a:xfrm>
          <a:prstGeom prst="rect">
            <a:avLst/>
          </a:prstGeom>
          <a:noFill/>
          <a:ln/>
        </p:spPr>
        <p:txBody>
          <a:bodyPr wrap="square" lIns="0" tIns="0" rIns="0" bIns="0" rtlCol="0" anchor="t"/>
          <a:lstStyle/>
          <a:p>
            <a:pPr marL="0" indent="0">
              <a:lnSpc>
                <a:spcPts val="1450"/>
              </a:lnSpc>
              <a:buNone/>
            </a:pPr>
            <a:r>
              <a:rPr lang="en-US" sz="1150" dirty="0">
                <a:solidFill>
                  <a:srgbClr val="6E6E73"/>
                </a:solidFill>
                <a:latin typeface="Arial" pitchFamily="34" charset="0"/>
                <a:ea typeface="Arial" pitchFamily="34" charset="-122"/>
                <a:cs typeface="Arial" pitchFamily="34" charset="-120"/>
              </a:rPr>
              <a:t>El buque insignia de OpenAI</a:t>
            </a:r>
            <a:endParaRPr lang="en-US" sz="1150" dirty="0"/>
          </a:p>
        </p:txBody>
      </p:sp>
      <p:sp>
        <p:nvSpPr>
          <p:cNvPr id="8" name="Shape 6"/>
          <p:cNvSpPr/>
          <p:nvPr/>
        </p:nvSpPr>
        <p:spPr>
          <a:xfrm>
            <a:off x="777240" y="2359152"/>
            <a:ext cx="6995160" cy="10973"/>
          </a:xfrm>
          <a:prstGeom prst="rect">
            <a:avLst/>
          </a:prstGeom>
          <a:solidFill>
            <a:srgbClr val="E4E4E6"/>
          </a:solidFill>
          <a:ln w="12700">
            <a:solidFill>
              <a:srgbClr val="333333"/>
            </a:solidFill>
            <a:prstDash val="solid"/>
          </a:ln>
        </p:spPr>
        <p:txBody>
          <a:bodyPr/>
          <a:lstStyle/>
          <a:p>
            <a:endParaRPr lang="en-AR"/>
          </a:p>
        </p:txBody>
      </p:sp>
      <p:sp>
        <p:nvSpPr>
          <p:cNvPr id="9" name="Text 7"/>
          <p:cNvSpPr/>
          <p:nvPr/>
        </p:nvSpPr>
        <p:spPr>
          <a:xfrm>
            <a:off x="777240" y="2478024"/>
            <a:ext cx="2377440" cy="274320"/>
          </a:xfrm>
          <a:prstGeom prst="rect">
            <a:avLst/>
          </a:prstGeom>
          <a:noFill/>
          <a:ln/>
        </p:spPr>
        <p:txBody>
          <a:bodyPr wrap="square" lIns="0" tIns="0" rIns="0" bIns="0" rtlCol="0" anchor="ctr"/>
          <a:lstStyle/>
          <a:p>
            <a:pPr marL="0" indent="0">
              <a:buNone/>
            </a:pPr>
            <a:r>
              <a:rPr lang="en-US" sz="1350" b="1" dirty="0">
                <a:solidFill>
                  <a:srgbClr val="111114"/>
                </a:solidFill>
                <a:latin typeface="Arial" pitchFamily="34" charset="0"/>
                <a:ea typeface="Arial" pitchFamily="34" charset="-122"/>
                <a:cs typeface="Arial" pitchFamily="34" charset="-120"/>
              </a:rPr>
              <a:t>GPT-5.6 Luna</a:t>
            </a:r>
            <a:endParaRPr lang="en-US" sz="1350" dirty="0"/>
          </a:p>
        </p:txBody>
      </p:sp>
      <p:sp>
        <p:nvSpPr>
          <p:cNvPr id="10" name="Text 8"/>
          <p:cNvSpPr/>
          <p:nvPr/>
        </p:nvSpPr>
        <p:spPr>
          <a:xfrm>
            <a:off x="3246120" y="2478024"/>
            <a:ext cx="1737360" cy="274320"/>
          </a:xfrm>
          <a:prstGeom prst="rect">
            <a:avLst/>
          </a:prstGeom>
          <a:noFill/>
          <a:ln/>
        </p:spPr>
        <p:txBody>
          <a:bodyPr wrap="square" lIns="0" tIns="0" rIns="0" bIns="0" rtlCol="0" anchor="ctr"/>
          <a:lstStyle/>
          <a:p>
            <a:pPr marL="0" indent="0">
              <a:buNone/>
            </a:pPr>
            <a:r>
              <a:rPr lang="en-US" sz="1350" b="1" dirty="0">
                <a:solidFill>
                  <a:srgbClr val="E04E39"/>
                </a:solidFill>
                <a:latin typeface="Arial" pitchFamily="34" charset="0"/>
                <a:ea typeface="Arial" pitchFamily="34" charset="-122"/>
                <a:cs typeface="Arial" pitchFamily="34" charset="-120"/>
              </a:rPr>
              <a:t>US$1 / US$6</a:t>
            </a:r>
            <a:endParaRPr lang="en-US" sz="1350" dirty="0"/>
          </a:p>
        </p:txBody>
      </p:sp>
      <p:sp>
        <p:nvSpPr>
          <p:cNvPr id="11" name="Text 9"/>
          <p:cNvSpPr/>
          <p:nvPr/>
        </p:nvSpPr>
        <p:spPr>
          <a:xfrm>
            <a:off x="5120640" y="2450592"/>
            <a:ext cx="2651760" cy="502920"/>
          </a:xfrm>
          <a:prstGeom prst="rect">
            <a:avLst/>
          </a:prstGeom>
          <a:noFill/>
          <a:ln/>
        </p:spPr>
        <p:txBody>
          <a:bodyPr wrap="square" lIns="0" tIns="0" rIns="0" bIns="0" rtlCol="0" anchor="t"/>
          <a:lstStyle/>
          <a:p>
            <a:pPr marL="0" indent="0">
              <a:lnSpc>
                <a:spcPts val="1450"/>
              </a:lnSpc>
              <a:buNone/>
            </a:pPr>
            <a:r>
              <a:rPr lang="en-US" sz="1150" dirty="0">
                <a:solidFill>
                  <a:srgbClr val="6E6E73"/>
                </a:solidFill>
                <a:latin typeface="Arial" pitchFamily="34" charset="0"/>
                <a:ea typeface="Arial" pitchFamily="34" charset="-122"/>
                <a:cs typeface="Arial" pitchFamily="34" charset="-120"/>
              </a:rPr>
              <a:t>La gama baja de la misma familia</a:t>
            </a:r>
            <a:endParaRPr lang="en-US" sz="1150" dirty="0"/>
          </a:p>
        </p:txBody>
      </p:sp>
      <p:sp>
        <p:nvSpPr>
          <p:cNvPr id="12" name="Shape 10"/>
          <p:cNvSpPr/>
          <p:nvPr/>
        </p:nvSpPr>
        <p:spPr>
          <a:xfrm>
            <a:off x="777240" y="2962656"/>
            <a:ext cx="6995160" cy="10973"/>
          </a:xfrm>
          <a:prstGeom prst="rect">
            <a:avLst/>
          </a:prstGeom>
          <a:solidFill>
            <a:srgbClr val="E4E4E6"/>
          </a:solidFill>
          <a:ln w="12700">
            <a:solidFill>
              <a:srgbClr val="333333"/>
            </a:solidFill>
            <a:prstDash val="solid"/>
          </a:ln>
        </p:spPr>
        <p:txBody>
          <a:bodyPr/>
          <a:lstStyle/>
          <a:p>
            <a:endParaRPr lang="en-AR"/>
          </a:p>
        </p:txBody>
      </p:sp>
      <p:sp>
        <p:nvSpPr>
          <p:cNvPr id="13" name="Text 11"/>
          <p:cNvSpPr/>
          <p:nvPr/>
        </p:nvSpPr>
        <p:spPr>
          <a:xfrm>
            <a:off x="777240" y="3081528"/>
            <a:ext cx="2377440" cy="274320"/>
          </a:xfrm>
          <a:prstGeom prst="rect">
            <a:avLst/>
          </a:prstGeom>
          <a:noFill/>
          <a:ln/>
        </p:spPr>
        <p:txBody>
          <a:bodyPr wrap="square" lIns="0" tIns="0" rIns="0" bIns="0" rtlCol="0" anchor="ctr"/>
          <a:lstStyle/>
          <a:p>
            <a:pPr marL="0" indent="0">
              <a:buNone/>
            </a:pPr>
            <a:r>
              <a:rPr lang="en-US" sz="1350" b="1" dirty="0">
                <a:solidFill>
                  <a:srgbClr val="111114"/>
                </a:solidFill>
                <a:latin typeface="Arial" pitchFamily="34" charset="0"/>
                <a:ea typeface="Arial" pitchFamily="34" charset="-122"/>
                <a:cs typeface="Arial" pitchFamily="34" charset="-120"/>
              </a:rPr>
              <a:t>Claude Opus 5</a:t>
            </a:r>
            <a:endParaRPr lang="en-US" sz="1350" dirty="0"/>
          </a:p>
        </p:txBody>
      </p:sp>
      <p:sp>
        <p:nvSpPr>
          <p:cNvPr id="14" name="Text 12"/>
          <p:cNvSpPr/>
          <p:nvPr/>
        </p:nvSpPr>
        <p:spPr>
          <a:xfrm>
            <a:off x="3246120" y="3081528"/>
            <a:ext cx="1737360" cy="274320"/>
          </a:xfrm>
          <a:prstGeom prst="rect">
            <a:avLst/>
          </a:prstGeom>
          <a:noFill/>
          <a:ln/>
        </p:spPr>
        <p:txBody>
          <a:bodyPr wrap="square" lIns="0" tIns="0" rIns="0" bIns="0" rtlCol="0" anchor="ctr"/>
          <a:lstStyle/>
          <a:p>
            <a:pPr marL="0" indent="0">
              <a:buNone/>
            </a:pPr>
            <a:r>
              <a:rPr lang="en-US" sz="1350" b="1" dirty="0">
                <a:solidFill>
                  <a:srgbClr val="E04E39"/>
                </a:solidFill>
                <a:latin typeface="Arial" pitchFamily="34" charset="0"/>
                <a:ea typeface="Arial" pitchFamily="34" charset="-122"/>
                <a:cs typeface="Arial" pitchFamily="34" charset="-120"/>
              </a:rPr>
              <a:t>US$5 / US$25</a:t>
            </a:r>
            <a:endParaRPr lang="en-US" sz="1350" dirty="0"/>
          </a:p>
        </p:txBody>
      </p:sp>
      <p:sp>
        <p:nvSpPr>
          <p:cNvPr id="15" name="Text 13"/>
          <p:cNvSpPr/>
          <p:nvPr/>
        </p:nvSpPr>
        <p:spPr>
          <a:xfrm>
            <a:off x="5120640" y="3054096"/>
            <a:ext cx="2651760" cy="502920"/>
          </a:xfrm>
          <a:prstGeom prst="rect">
            <a:avLst/>
          </a:prstGeom>
          <a:noFill/>
          <a:ln/>
        </p:spPr>
        <p:txBody>
          <a:bodyPr wrap="square" lIns="0" tIns="0" rIns="0" bIns="0" rtlCol="0" anchor="t"/>
          <a:lstStyle/>
          <a:p>
            <a:pPr marL="0" indent="0">
              <a:lnSpc>
                <a:spcPts val="1450"/>
              </a:lnSpc>
              <a:buNone/>
            </a:pPr>
            <a:r>
              <a:rPr lang="en-US" sz="1150" dirty="0">
                <a:solidFill>
                  <a:srgbClr val="6E6E73"/>
                </a:solidFill>
                <a:latin typeface="Arial" pitchFamily="34" charset="0"/>
                <a:ea typeface="Arial" pitchFamily="34" charset="-122"/>
                <a:cs typeface="Arial" pitchFamily="34" charset="-120"/>
              </a:rPr>
              <a:t>Mitad de precio que el insignia de un mes antes</a:t>
            </a:r>
            <a:endParaRPr lang="en-US" sz="1150" dirty="0"/>
          </a:p>
        </p:txBody>
      </p:sp>
      <p:sp>
        <p:nvSpPr>
          <p:cNvPr id="16" name="Shape 14"/>
          <p:cNvSpPr/>
          <p:nvPr/>
        </p:nvSpPr>
        <p:spPr>
          <a:xfrm>
            <a:off x="777240" y="3566160"/>
            <a:ext cx="6995160" cy="10973"/>
          </a:xfrm>
          <a:prstGeom prst="rect">
            <a:avLst/>
          </a:prstGeom>
          <a:solidFill>
            <a:srgbClr val="E4E4E6"/>
          </a:solidFill>
          <a:ln w="12700">
            <a:solidFill>
              <a:srgbClr val="333333"/>
            </a:solidFill>
            <a:prstDash val="solid"/>
          </a:ln>
        </p:spPr>
        <p:txBody>
          <a:bodyPr/>
          <a:lstStyle/>
          <a:p>
            <a:endParaRPr lang="en-AR"/>
          </a:p>
        </p:txBody>
      </p:sp>
      <p:sp>
        <p:nvSpPr>
          <p:cNvPr id="17" name="Text 15"/>
          <p:cNvSpPr/>
          <p:nvPr/>
        </p:nvSpPr>
        <p:spPr>
          <a:xfrm>
            <a:off x="777240" y="3685032"/>
            <a:ext cx="2377440" cy="274320"/>
          </a:xfrm>
          <a:prstGeom prst="rect">
            <a:avLst/>
          </a:prstGeom>
          <a:noFill/>
          <a:ln/>
        </p:spPr>
        <p:txBody>
          <a:bodyPr wrap="square" lIns="0" tIns="0" rIns="0" bIns="0" rtlCol="0" anchor="ctr"/>
          <a:lstStyle/>
          <a:p>
            <a:pPr marL="0" indent="0">
              <a:buNone/>
            </a:pPr>
            <a:r>
              <a:rPr lang="en-US" sz="1350" b="1" dirty="0">
                <a:solidFill>
                  <a:srgbClr val="111114"/>
                </a:solidFill>
                <a:latin typeface="Arial" pitchFamily="34" charset="0"/>
                <a:ea typeface="Arial" pitchFamily="34" charset="-122"/>
                <a:cs typeface="Arial" pitchFamily="34" charset="-120"/>
              </a:rPr>
              <a:t>Kimi K3</a:t>
            </a:r>
            <a:endParaRPr lang="en-US" sz="1350" dirty="0"/>
          </a:p>
        </p:txBody>
      </p:sp>
      <p:sp>
        <p:nvSpPr>
          <p:cNvPr id="18" name="Text 16"/>
          <p:cNvSpPr/>
          <p:nvPr/>
        </p:nvSpPr>
        <p:spPr>
          <a:xfrm>
            <a:off x="3246120" y="3685032"/>
            <a:ext cx="1737360" cy="274320"/>
          </a:xfrm>
          <a:prstGeom prst="rect">
            <a:avLst/>
          </a:prstGeom>
          <a:noFill/>
          <a:ln/>
        </p:spPr>
        <p:txBody>
          <a:bodyPr wrap="square" lIns="0" tIns="0" rIns="0" bIns="0" rtlCol="0" anchor="ctr"/>
          <a:lstStyle/>
          <a:p>
            <a:pPr marL="0" indent="0">
              <a:buNone/>
            </a:pPr>
            <a:r>
              <a:rPr lang="en-US" sz="1350" b="1" dirty="0">
                <a:solidFill>
                  <a:srgbClr val="E04E39"/>
                </a:solidFill>
                <a:latin typeface="Arial" pitchFamily="34" charset="0"/>
                <a:ea typeface="Arial" pitchFamily="34" charset="-122"/>
                <a:cs typeface="Arial" pitchFamily="34" charset="-120"/>
              </a:rPr>
              <a:t>US$0,84</a:t>
            </a:r>
            <a:endParaRPr lang="en-US" sz="1350" dirty="0"/>
          </a:p>
        </p:txBody>
      </p:sp>
      <p:sp>
        <p:nvSpPr>
          <p:cNvPr id="19" name="Text 17"/>
          <p:cNvSpPr/>
          <p:nvPr/>
        </p:nvSpPr>
        <p:spPr>
          <a:xfrm>
            <a:off x="5120640" y="3657600"/>
            <a:ext cx="2651760" cy="502920"/>
          </a:xfrm>
          <a:prstGeom prst="rect">
            <a:avLst/>
          </a:prstGeom>
          <a:noFill/>
          <a:ln/>
        </p:spPr>
        <p:txBody>
          <a:bodyPr wrap="square" lIns="0" tIns="0" rIns="0" bIns="0" rtlCol="0" anchor="t"/>
          <a:lstStyle/>
          <a:p>
            <a:pPr marL="0" indent="0">
              <a:lnSpc>
                <a:spcPts val="1450"/>
              </a:lnSpc>
              <a:buNone/>
            </a:pPr>
            <a:r>
              <a:rPr lang="en-US" sz="1150" dirty="0">
                <a:solidFill>
                  <a:srgbClr val="6E6E73"/>
                </a:solidFill>
                <a:latin typeface="Arial" pitchFamily="34" charset="0"/>
                <a:ea typeface="Arial" pitchFamily="34" charset="-122"/>
                <a:cs typeface="Arial" pitchFamily="34" charset="-120"/>
              </a:rPr>
              <a:t>Chino, abierto, cerca de la frontera</a:t>
            </a:r>
            <a:endParaRPr lang="en-US" sz="1150" dirty="0"/>
          </a:p>
        </p:txBody>
      </p:sp>
      <p:sp>
        <p:nvSpPr>
          <p:cNvPr id="20" name="Shape 18"/>
          <p:cNvSpPr/>
          <p:nvPr/>
        </p:nvSpPr>
        <p:spPr>
          <a:xfrm>
            <a:off x="777240" y="4169664"/>
            <a:ext cx="6995160" cy="10973"/>
          </a:xfrm>
          <a:prstGeom prst="rect">
            <a:avLst/>
          </a:prstGeom>
          <a:solidFill>
            <a:srgbClr val="E4E4E6"/>
          </a:solidFill>
          <a:ln w="12700">
            <a:solidFill>
              <a:srgbClr val="333333"/>
            </a:solidFill>
            <a:prstDash val="solid"/>
          </a:ln>
        </p:spPr>
        <p:txBody>
          <a:bodyPr/>
          <a:lstStyle/>
          <a:p>
            <a:endParaRPr lang="en-AR"/>
          </a:p>
        </p:txBody>
      </p:sp>
      <p:sp>
        <p:nvSpPr>
          <p:cNvPr id="21" name="Text 19"/>
          <p:cNvSpPr/>
          <p:nvPr/>
        </p:nvSpPr>
        <p:spPr>
          <a:xfrm>
            <a:off x="777240" y="4288536"/>
            <a:ext cx="2377440" cy="274320"/>
          </a:xfrm>
          <a:prstGeom prst="rect">
            <a:avLst/>
          </a:prstGeom>
          <a:noFill/>
          <a:ln/>
        </p:spPr>
        <p:txBody>
          <a:bodyPr wrap="square" lIns="0" tIns="0" rIns="0" bIns="0" rtlCol="0" anchor="ctr"/>
          <a:lstStyle/>
          <a:p>
            <a:pPr marL="0" indent="0">
              <a:buNone/>
            </a:pPr>
            <a:r>
              <a:rPr lang="en-US" sz="1350" b="1" dirty="0">
                <a:solidFill>
                  <a:srgbClr val="111114"/>
                </a:solidFill>
                <a:latin typeface="Arial" pitchFamily="34" charset="0"/>
                <a:ea typeface="Arial" pitchFamily="34" charset="-122"/>
                <a:cs typeface="Arial" pitchFamily="34" charset="-120"/>
              </a:rPr>
              <a:t>DeepSeek V4 Flash</a:t>
            </a:r>
            <a:endParaRPr lang="en-US" sz="1350" dirty="0"/>
          </a:p>
        </p:txBody>
      </p:sp>
      <p:sp>
        <p:nvSpPr>
          <p:cNvPr id="22" name="Text 20"/>
          <p:cNvSpPr/>
          <p:nvPr/>
        </p:nvSpPr>
        <p:spPr>
          <a:xfrm>
            <a:off x="3246120" y="4288536"/>
            <a:ext cx="1737360" cy="274320"/>
          </a:xfrm>
          <a:prstGeom prst="rect">
            <a:avLst/>
          </a:prstGeom>
          <a:noFill/>
          <a:ln/>
        </p:spPr>
        <p:txBody>
          <a:bodyPr wrap="square" lIns="0" tIns="0" rIns="0" bIns="0" rtlCol="0" anchor="ctr"/>
          <a:lstStyle/>
          <a:p>
            <a:pPr marL="0" indent="0">
              <a:buNone/>
            </a:pPr>
            <a:r>
              <a:rPr lang="en-US" sz="1350" b="1" dirty="0">
                <a:solidFill>
                  <a:srgbClr val="E04E39"/>
                </a:solidFill>
                <a:latin typeface="Arial" pitchFamily="34" charset="0"/>
                <a:ea typeface="Arial" pitchFamily="34" charset="-122"/>
                <a:cs typeface="Arial" pitchFamily="34" charset="-120"/>
              </a:rPr>
              <a:t>US$0,03</a:t>
            </a:r>
            <a:endParaRPr lang="en-US" sz="1350" dirty="0"/>
          </a:p>
        </p:txBody>
      </p:sp>
      <p:sp>
        <p:nvSpPr>
          <p:cNvPr id="23" name="Text 21"/>
          <p:cNvSpPr/>
          <p:nvPr/>
        </p:nvSpPr>
        <p:spPr>
          <a:xfrm>
            <a:off x="5120640" y="4261104"/>
            <a:ext cx="2651760" cy="502920"/>
          </a:xfrm>
          <a:prstGeom prst="rect">
            <a:avLst/>
          </a:prstGeom>
          <a:noFill/>
          <a:ln/>
        </p:spPr>
        <p:txBody>
          <a:bodyPr wrap="square" lIns="0" tIns="0" rIns="0" bIns="0" rtlCol="0" anchor="t"/>
          <a:lstStyle/>
          <a:p>
            <a:pPr marL="0" indent="0">
              <a:lnSpc>
                <a:spcPts val="1450"/>
              </a:lnSpc>
              <a:buNone/>
            </a:pPr>
            <a:r>
              <a:rPr lang="en-US" sz="1150" dirty="0">
                <a:solidFill>
                  <a:srgbClr val="6E6E73"/>
                </a:solidFill>
                <a:latin typeface="Arial" pitchFamily="34" charset="0"/>
                <a:ea typeface="Arial" pitchFamily="34" charset="-122"/>
                <a:cs typeface="Arial" pitchFamily="34" charset="-120"/>
              </a:rPr>
              <a:t>Chino, abierto, licencia MIT</a:t>
            </a:r>
            <a:endParaRPr lang="en-US" sz="1150" dirty="0"/>
          </a:p>
        </p:txBody>
      </p:sp>
      <p:sp>
        <p:nvSpPr>
          <p:cNvPr id="24" name="Shape 22"/>
          <p:cNvSpPr/>
          <p:nvPr/>
        </p:nvSpPr>
        <p:spPr>
          <a:xfrm>
            <a:off x="777240" y="4773168"/>
            <a:ext cx="6995160" cy="10973"/>
          </a:xfrm>
          <a:prstGeom prst="rect">
            <a:avLst/>
          </a:prstGeom>
          <a:solidFill>
            <a:srgbClr val="E4E4E6"/>
          </a:solidFill>
          <a:ln w="12700">
            <a:solidFill>
              <a:srgbClr val="333333"/>
            </a:solidFill>
            <a:prstDash val="solid"/>
          </a:ln>
        </p:spPr>
        <p:txBody>
          <a:bodyPr/>
          <a:lstStyle/>
          <a:p>
            <a:endParaRPr lang="en-AR"/>
          </a:p>
        </p:txBody>
      </p:sp>
      <p:sp>
        <p:nvSpPr>
          <p:cNvPr id="25" name="Shape 23"/>
          <p:cNvSpPr/>
          <p:nvPr/>
        </p:nvSpPr>
        <p:spPr>
          <a:xfrm>
            <a:off x="8138160" y="1481328"/>
            <a:ext cx="3273552" cy="3246120"/>
          </a:xfrm>
          <a:prstGeom prst="roundRect">
            <a:avLst>
              <a:gd name="adj" fmla="val 1690"/>
            </a:avLst>
          </a:prstGeom>
          <a:solidFill>
            <a:srgbClr val="111114"/>
          </a:solidFill>
          <a:ln w="12700">
            <a:solidFill>
              <a:srgbClr val="111114"/>
            </a:solidFill>
            <a:prstDash val="solid"/>
          </a:ln>
        </p:spPr>
        <p:txBody>
          <a:bodyPr/>
          <a:lstStyle/>
          <a:p>
            <a:endParaRPr lang="en-AR"/>
          </a:p>
        </p:txBody>
      </p:sp>
      <p:sp>
        <p:nvSpPr>
          <p:cNvPr id="26" name="Text 24"/>
          <p:cNvSpPr/>
          <p:nvPr/>
        </p:nvSpPr>
        <p:spPr>
          <a:xfrm>
            <a:off x="8503920" y="1828800"/>
            <a:ext cx="2743200" cy="914400"/>
          </a:xfrm>
          <a:prstGeom prst="rect">
            <a:avLst/>
          </a:prstGeom>
          <a:noFill/>
          <a:ln/>
        </p:spPr>
        <p:txBody>
          <a:bodyPr wrap="square" lIns="0" tIns="0" rIns="0" bIns="0" rtlCol="0" anchor="ctr"/>
          <a:lstStyle/>
          <a:p>
            <a:pPr marL="0" indent="0">
              <a:buNone/>
            </a:pPr>
            <a:r>
              <a:rPr lang="en-US" sz="6200" b="1" dirty="0">
                <a:solidFill>
                  <a:srgbClr val="E04E39"/>
                </a:solidFill>
                <a:latin typeface="Arial" pitchFamily="34" charset="0"/>
                <a:ea typeface="Arial" pitchFamily="34" charset="-122"/>
                <a:cs typeface="Arial" pitchFamily="34" charset="-120"/>
              </a:rPr>
              <a:t>40x</a:t>
            </a:r>
            <a:endParaRPr lang="en-US" sz="6200" dirty="0"/>
          </a:p>
        </p:txBody>
      </p:sp>
      <p:sp>
        <p:nvSpPr>
          <p:cNvPr id="27" name="Text 25"/>
          <p:cNvSpPr/>
          <p:nvPr/>
        </p:nvSpPr>
        <p:spPr>
          <a:xfrm>
            <a:off x="8503920" y="2834640"/>
            <a:ext cx="2606040" cy="1371600"/>
          </a:xfrm>
          <a:prstGeom prst="rect">
            <a:avLst/>
          </a:prstGeom>
          <a:noFill/>
          <a:ln/>
        </p:spPr>
        <p:txBody>
          <a:bodyPr wrap="square" lIns="0" tIns="0" rIns="0" bIns="0" rtlCol="0" anchor="ctr"/>
          <a:lstStyle/>
          <a:p>
            <a:pPr marL="0" indent="0">
              <a:lnSpc>
                <a:spcPts val="1800"/>
              </a:lnSpc>
              <a:buNone/>
            </a:pPr>
            <a:r>
              <a:rPr lang="en-US" sz="1300" dirty="0">
                <a:solidFill>
                  <a:srgbClr val="FFFFFF"/>
                </a:solidFill>
                <a:latin typeface="Arial" pitchFamily="34" charset="0"/>
                <a:ea typeface="Arial" pitchFamily="34" charset="-122"/>
                <a:cs typeface="Arial" pitchFamily="34" charset="-120"/>
              </a:rPr>
              <a:t>por año cayó el precio de alcanzar el rendimiento de GPT-4 en preguntas científicas de nivel doctorado.</a:t>
            </a:r>
            <a:endParaRPr lang="en-US" sz="1300" dirty="0"/>
          </a:p>
        </p:txBody>
      </p:sp>
      <p:sp>
        <p:nvSpPr>
          <p:cNvPr id="28" name="Shape 26"/>
          <p:cNvSpPr/>
          <p:nvPr/>
        </p:nvSpPr>
        <p:spPr>
          <a:xfrm>
            <a:off x="777240" y="4983480"/>
            <a:ext cx="10637215" cy="960120"/>
          </a:xfrm>
          <a:prstGeom prst="roundRect">
            <a:avLst>
              <a:gd name="adj" fmla="val 5714"/>
            </a:avLst>
          </a:prstGeom>
          <a:solidFill>
            <a:srgbClr val="F6F6F5"/>
          </a:solidFill>
          <a:ln w="12700">
            <a:solidFill>
              <a:srgbClr val="F6F6F5"/>
            </a:solidFill>
            <a:prstDash val="solid"/>
          </a:ln>
        </p:spPr>
        <p:txBody>
          <a:bodyPr/>
          <a:lstStyle/>
          <a:p>
            <a:endParaRPr lang="en-AR"/>
          </a:p>
        </p:txBody>
      </p:sp>
      <p:sp>
        <p:nvSpPr>
          <p:cNvPr id="29" name="Text 27"/>
          <p:cNvSpPr/>
          <p:nvPr/>
        </p:nvSpPr>
        <p:spPr>
          <a:xfrm>
            <a:off x="1143000" y="5212080"/>
            <a:ext cx="9905695" cy="548640"/>
          </a:xfrm>
          <a:prstGeom prst="rect">
            <a:avLst/>
          </a:prstGeom>
          <a:noFill/>
          <a:ln/>
        </p:spPr>
        <p:txBody>
          <a:bodyPr wrap="square" lIns="0" tIns="0" rIns="0" bIns="0" rtlCol="0" anchor="ctr"/>
          <a:lstStyle/>
          <a:p>
            <a:pPr marL="0" indent="0">
              <a:buNone/>
            </a:pPr>
            <a:r>
              <a:rPr lang="en-US" sz="1450" i="1" dirty="0">
                <a:solidFill>
                  <a:srgbClr val="3A3A40"/>
                </a:solidFill>
                <a:latin typeface="Arial" pitchFamily="34" charset="0"/>
                <a:ea typeface="Arial" pitchFamily="34" charset="-122"/>
                <a:cs typeface="Arial" pitchFamily="34" charset="-120"/>
              </a:rPr>
              <a:t>En este mercado el precio-rendimiento se duplica en semanas, no en años. Ninguna otra tecnología de la historia se abarató a este ritmo.</a:t>
            </a:r>
            <a:endParaRPr lang="en-US" sz="1450" dirty="0"/>
          </a:p>
        </p:txBody>
      </p:sp>
      <p:sp>
        <p:nvSpPr>
          <p:cNvPr id="30" name="Text 28"/>
          <p:cNvSpPr/>
          <p:nvPr/>
        </p:nvSpPr>
        <p:spPr>
          <a:xfrm>
            <a:off x="777240" y="6254496"/>
            <a:ext cx="9905695" cy="310896"/>
          </a:xfrm>
          <a:prstGeom prst="rect">
            <a:avLst/>
          </a:prstGeom>
          <a:noFill/>
          <a:ln/>
        </p:spPr>
        <p:txBody>
          <a:bodyPr wrap="square" lIns="0" tIns="0" rIns="0" bIns="0" rtlCol="0" anchor="t"/>
          <a:lstStyle/>
          <a:p>
            <a:pPr marL="0" indent="0">
              <a:buNone/>
            </a:pPr>
            <a:endParaRPr lang="en-US" sz="900" dirty="0"/>
          </a:p>
        </p:txBody>
      </p:sp>
      <p:sp>
        <p:nvSpPr>
          <p:cNvPr id="31" name="Text 29"/>
          <p:cNvSpPr/>
          <p:nvPr/>
        </p:nvSpPr>
        <p:spPr>
          <a:xfrm>
            <a:off x="10865815" y="6291072"/>
            <a:ext cx="548640" cy="274320"/>
          </a:xfrm>
          <a:prstGeom prst="rect">
            <a:avLst/>
          </a:prstGeom>
          <a:noFill/>
          <a:ln/>
        </p:spPr>
        <p:txBody>
          <a:bodyPr wrap="square" lIns="0" tIns="0" rIns="0" bIns="0" rtlCol="0" anchor="ctr"/>
          <a:lstStyle/>
          <a:p>
            <a:pPr marL="0" indent="0" algn="r">
              <a:buNone/>
            </a:pPr>
            <a:r>
              <a:rPr lang="en-US" sz="900" dirty="0">
                <a:solidFill>
                  <a:srgbClr val="9A9AA0"/>
                </a:solidFill>
                <a:latin typeface="Arial" pitchFamily="34" charset="0"/>
                <a:ea typeface="Arial" pitchFamily="34" charset="-122"/>
                <a:cs typeface="Arial" pitchFamily="34" charset="-120"/>
              </a:rPr>
              <a:t>19</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420624"/>
            <a:ext cx="10637215" cy="237744"/>
          </a:xfrm>
          <a:prstGeom prst="rect">
            <a:avLst/>
          </a:prstGeom>
          <a:noFill/>
          <a:ln/>
        </p:spPr>
        <p:txBody>
          <a:bodyPr wrap="square" lIns="0" tIns="0" rIns="0" bIns="0" rtlCol="0" anchor="ctr"/>
          <a:lstStyle/>
          <a:p>
            <a:pPr marL="0" indent="0">
              <a:buNone/>
            </a:pPr>
            <a:r>
              <a:rPr lang="en-US" sz="1050" b="1" kern="0" spc="200" dirty="0">
                <a:solidFill>
                  <a:srgbClr val="E04E39"/>
                </a:solidFill>
                <a:latin typeface="Arial" pitchFamily="34" charset="0"/>
                <a:ea typeface="Arial" pitchFamily="34" charset="-122"/>
                <a:cs typeface="Arial" pitchFamily="34" charset="-120"/>
              </a:rPr>
              <a:t>EL TABLERO</a:t>
            </a:r>
            <a:endParaRPr lang="en-US" sz="1050" dirty="0"/>
          </a:p>
        </p:txBody>
      </p:sp>
      <p:sp>
        <p:nvSpPr>
          <p:cNvPr id="3" name="Text 1"/>
          <p:cNvSpPr/>
          <p:nvPr/>
        </p:nvSpPr>
        <p:spPr>
          <a:xfrm>
            <a:off x="777240" y="694944"/>
            <a:ext cx="10637215" cy="566928"/>
          </a:xfrm>
          <a:prstGeom prst="rect">
            <a:avLst/>
          </a:prstGeom>
          <a:noFill/>
          <a:ln/>
        </p:spPr>
        <p:txBody>
          <a:bodyPr wrap="square" lIns="0" tIns="0" rIns="0" bIns="0" rtlCol="0" anchor="t"/>
          <a:lstStyle/>
          <a:p>
            <a:pPr marL="0" indent="0">
              <a:lnSpc>
                <a:spcPts val="3400"/>
              </a:lnSpc>
              <a:buNone/>
            </a:pPr>
            <a:r>
              <a:rPr lang="en-US" sz="3000" b="1" dirty="0">
                <a:solidFill>
                  <a:srgbClr val="111114"/>
                </a:solidFill>
                <a:latin typeface="Arial" pitchFamily="34" charset="0"/>
                <a:ea typeface="Arial" pitchFamily="34" charset="-122"/>
                <a:cs typeface="Arial" pitchFamily="34" charset="-120"/>
              </a:rPr>
              <a:t>Quién es quién, hoy</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777240" y="1572768"/>
          <a:ext cx="10637215" cy="2931160"/>
        </p:xfrm>
        <a:graphic>
          <a:graphicData uri="http://schemas.openxmlformats.org/drawingml/2006/table">
            <a:tbl>
              <a:tblPr/>
              <a:tblGrid>
                <a:gridCol w="17373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4602175">
                  <a:extLst>
                    <a:ext uri="{9D8B030D-6E8A-4147-A177-3AD203B41FA5}">
                      <a16:colId xmlns:a16="http://schemas.microsoft.com/office/drawing/2014/main" val="20003"/>
                    </a:ext>
                  </a:extLst>
                </a:gridCol>
              </a:tblGrid>
              <a:tr h="0">
                <a:tc>
                  <a:txBody>
                    <a:bodyPr/>
                    <a:lstStyle/>
                    <a:p>
                      <a:pPr marL="0" indent="0">
                        <a:buNone/>
                      </a:pPr>
                      <a:r>
                        <a:rPr lang="en-US" sz="950" b="1" kern="0" spc="100" dirty="0">
                          <a:solidFill>
                            <a:srgbClr val="6E6E73"/>
                          </a:solidFill>
                          <a:latin typeface="Arial" pitchFamily="34" charset="0"/>
                          <a:ea typeface="Arial" pitchFamily="34" charset="-122"/>
                          <a:cs typeface="Arial" pitchFamily="34" charset="-120"/>
                        </a:rPr>
                        <a:t>LABORATORIO</a:t>
                      </a:r>
                      <a:endParaRPr lang="en-US" sz="950" dirty="0">
                        <a:latin typeface="Arial" charset="0"/>
                        <a:ea typeface="Arial" charset="0"/>
                        <a:cs typeface="Arial" charset="0"/>
                      </a:endParaRPr>
                    </a:p>
                  </a:txBody>
                  <a:tcPr marL="0" marR="76200" marT="50800" marB="88900" anchor="b">
                    <a:lnL w="0" cap="flat" cmpd="sng" algn="ctr">
                      <a:noFill/>
                    </a:lnL>
                    <a:lnR w="0" cap="flat" cmpd="sng" algn="ctr">
                      <a:noFill/>
                    </a:lnR>
                    <a:lnT w="0" cap="flat" cmpd="sng" algn="ctr">
                      <a:noFill/>
                    </a:lnT>
                    <a:lnB w="15240" cap="flat" cmpd="sng" algn="ctr">
                      <a:solidFill>
                        <a:srgbClr val="111114"/>
                      </a:solidFill>
                      <a:prstDash val="solid"/>
                      <a:round/>
                      <a:headEnd type="none" w="med" len="med"/>
                      <a:tailEnd type="none" w="med" len="med"/>
                    </a:lnB>
                    <a:solidFill>
                      <a:srgbClr val="FFFFFF"/>
                    </a:solidFill>
                  </a:tcPr>
                </a:tc>
                <a:tc>
                  <a:txBody>
                    <a:bodyPr/>
                    <a:lstStyle/>
                    <a:p>
                      <a:pPr marL="0" indent="0">
                        <a:buNone/>
                      </a:pPr>
                      <a:r>
                        <a:rPr lang="en-US" sz="950" b="1" kern="0" spc="100" dirty="0">
                          <a:solidFill>
                            <a:srgbClr val="6E6E73"/>
                          </a:solidFill>
                          <a:latin typeface="Arial" pitchFamily="34" charset="0"/>
                          <a:ea typeface="Arial" pitchFamily="34" charset="-122"/>
                          <a:cs typeface="Arial" pitchFamily="34" charset="-120"/>
                        </a:rPr>
                        <a:t>MODELO INSIGNIA</a:t>
                      </a:r>
                      <a:endParaRPr lang="en-US" sz="950" dirty="0">
                        <a:latin typeface="Arial" charset="0"/>
                        <a:ea typeface="Arial" charset="0"/>
                        <a:cs typeface="Arial" charset="0"/>
                      </a:endParaRPr>
                    </a:p>
                  </a:txBody>
                  <a:tcPr marL="0" marR="76200" marT="50800" marB="88900" anchor="b">
                    <a:lnL w="0" cap="flat" cmpd="sng" algn="ctr">
                      <a:noFill/>
                    </a:lnL>
                    <a:lnR w="0" cap="flat" cmpd="sng" algn="ctr">
                      <a:noFill/>
                    </a:lnR>
                    <a:lnT w="0" cap="flat" cmpd="sng" algn="ctr">
                      <a:noFill/>
                    </a:lnT>
                    <a:lnB w="15240" cap="flat" cmpd="sng" algn="ctr">
                      <a:solidFill>
                        <a:srgbClr val="111114"/>
                      </a:solidFill>
                      <a:prstDash val="solid"/>
                      <a:round/>
                      <a:headEnd type="none" w="med" len="med"/>
                      <a:tailEnd type="none" w="med" len="med"/>
                    </a:lnB>
                    <a:solidFill>
                      <a:srgbClr val="FFFFFF"/>
                    </a:solidFill>
                  </a:tcPr>
                </a:tc>
                <a:tc>
                  <a:txBody>
                    <a:bodyPr/>
                    <a:lstStyle/>
                    <a:p>
                      <a:pPr marL="0" indent="0">
                        <a:buNone/>
                      </a:pPr>
                      <a:r>
                        <a:rPr lang="en-US" sz="950" b="1" kern="0" spc="100" dirty="0">
                          <a:solidFill>
                            <a:srgbClr val="6E6E73"/>
                          </a:solidFill>
                          <a:latin typeface="Arial" pitchFamily="34" charset="0"/>
                          <a:ea typeface="Arial" pitchFamily="34" charset="-122"/>
                          <a:cs typeface="Arial" pitchFamily="34" charset="-120"/>
                        </a:rPr>
                        <a:t>LANZAMIENTO</a:t>
                      </a:r>
                      <a:endParaRPr lang="en-US" sz="950" dirty="0">
                        <a:latin typeface="Arial" charset="0"/>
                        <a:ea typeface="Arial" charset="0"/>
                        <a:cs typeface="Arial" charset="0"/>
                      </a:endParaRPr>
                    </a:p>
                  </a:txBody>
                  <a:tcPr marL="0" marR="76200" marT="50800" marB="88900" anchor="b">
                    <a:lnL w="0" cap="flat" cmpd="sng" algn="ctr">
                      <a:noFill/>
                    </a:lnL>
                    <a:lnR w="0" cap="flat" cmpd="sng" algn="ctr">
                      <a:noFill/>
                    </a:lnR>
                    <a:lnT w="0" cap="flat" cmpd="sng" algn="ctr">
                      <a:noFill/>
                    </a:lnT>
                    <a:lnB w="15240" cap="flat" cmpd="sng" algn="ctr">
                      <a:solidFill>
                        <a:srgbClr val="111114"/>
                      </a:solidFill>
                      <a:prstDash val="solid"/>
                      <a:round/>
                      <a:headEnd type="none" w="med" len="med"/>
                      <a:tailEnd type="none" w="med" len="med"/>
                    </a:lnB>
                    <a:solidFill>
                      <a:srgbClr val="FFFFFF"/>
                    </a:solidFill>
                  </a:tcPr>
                </a:tc>
                <a:tc>
                  <a:txBody>
                    <a:bodyPr/>
                    <a:lstStyle/>
                    <a:p>
                      <a:pPr marL="0" indent="0">
                        <a:buNone/>
                      </a:pPr>
                      <a:r>
                        <a:rPr lang="en-US" sz="950" b="1" kern="0" spc="100" dirty="0">
                          <a:solidFill>
                            <a:srgbClr val="6E6E73"/>
                          </a:solidFill>
                          <a:latin typeface="Arial" pitchFamily="34" charset="0"/>
                          <a:ea typeface="Arial" pitchFamily="34" charset="-122"/>
                          <a:cs typeface="Arial" pitchFamily="34" charset="-120"/>
                        </a:rPr>
                        <a:t>RASGO DISTINTIVO</a:t>
                      </a:r>
                      <a:endParaRPr lang="en-US" sz="950" dirty="0">
                        <a:latin typeface="Arial" charset="0"/>
                        <a:ea typeface="Arial" charset="0"/>
                        <a:cs typeface="Arial" charset="0"/>
                      </a:endParaRPr>
                    </a:p>
                  </a:txBody>
                  <a:tcPr marL="0" marR="76200" marT="50800" marB="88900" anchor="b">
                    <a:lnL w="0" cap="flat" cmpd="sng" algn="ctr">
                      <a:noFill/>
                    </a:lnL>
                    <a:lnR w="0" cap="flat" cmpd="sng" algn="ctr">
                      <a:noFill/>
                    </a:lnR>
                    <a:lnT w="0" cap="flat" cmpd="sng" algn="ctr">
                      <a:noFill/>
                    </a:lnT>
                    <a:lnB w="15240" cap="flat" cmpd="sng" algn="ctr">
                      <a:solidFill>
                        <a:srgbClr val="111114"/>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0">
                <a:tc>
                  <a:txBody>
                    <a:bodyPr/>
                    <a:lstStyle/>
                    <a:p>
                      <a:pPr marL="0" indent="0">
                        <a:buNone/>
                      </a:pPr>
                      <a:r>
                        <a:rPr lang="en-US" sz="1150" b="1" dirty="0">
                          <a:solidFill>
                            <a:srgbClr val="111114"/>
                          </a:solidFill>
                          <a:latin typeface="Arial" pitchFamily="34" charset="0"/>
                          <a:ea typeface="Arial" pitchFamily="34" charset="-122"/>
                          <a:cs typeface="Arial" pitchFamily="34" charset="-120"/>
                        </a:rPr>
                        <a:t>OpenAI</a:t>
                      </a:r>
                      <a:endParaRPr lang="en-US" sz="1150" dirty="0">
                        <a:latin typeface="Arial" charset="0"/>
                        <a:ea typeface="Arial" charset="0"/>
                        <a:cs typeface="Arial" charset="0"/>
                      </a:endParaRPr>
                    </a:p>
                  </a:txBody>
                  <a:tcPr marL="0" marR="76200" marT="88900" marB="88900" anchor="ctr">
                    <a:lnL w="0" cap="flat" cmpd="sng" algn="ctr">
                      <a:noFill/>
                    </a:lnL>
                    <a:lnR w="0" cap="flat" cmpd="sng" algn="ctr">
                      <a:noFill/>
                    </a:lnR>
                    <a:lnT w="15240" cap="flat" cmpd="sng" algn="ctr">
                      <a:solidFill>
                        <a:srgbClr val="111114"/>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tc>
                  <a:txBody>
                    <a:bodyPr/>
                    <a:lstStyle/>
                    <a:p>
                      <a:pPr marL="0" indent="0">
                        <a:buNone/>
                      </a:pPr>
                      <a:r>
                        <a:rPr lang="en-US" sz="1150" dirty="0">
                          <a:solidFill>
                            <a:srgbClr val="3A3A40"/>
                          </a:solidFill>
                          <a:latin typeface="Arial" pitchFamily="34" charset="0"/>
                          <a:ea typeface="Arial" pitchFamily="34" charset="-122"/>
                          <a:cs typeface="Arial" pitchFamily="34" charset="-120"/>
                        </a:rPr>
                        <a:t>GPT-5.6 (Sol / Terra / Luna)</a:t>
                      </a:r>
                      <a:endParaRPr lang="en-US" sz="1150" dirty="0">
                        <a:latin typeface="Arial" charset="0"/>
                        <a:ea typeface="Arial" charset="0"/>
                        <a:cs typeface="Arial" charset="0"/>
                      </a:endParaRPr>
                    </a:p>
                  </a:txBody>
                  <a:tcPr marL="0" marR="76200" marT="88900" marB="88900" anchor="ctr">
                    <a:lnL w="0" cap="flat" cmpd="sng" algn="ctr">
                      <a:noFill/>
                    </a:lnL>
                    <a:lnR w="0" cap="flat" cmpd="sng" algn="ctr">
                      <a:noFill/>
                    </a:lnR>
                    <a:lnT w="15240" cap="flat" cmpd="sng" algn="ctr">
                      <a:solidFill>
                        <a:srgbClr val="111114"/>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tc>
                  <a:txBody>
                    <a:bodyPr/>
                    <a:lstStyle/>
                    <a:p>
                      <a:pPr marL="0" indent="0">
                        <a:buNone/>
                      </a:pPr>
                      <a:r>
                        <a:rPr lang="en-US" sz="1150" dirty="0">
                          <a:solidFill>
                            <a:srgbClr val="3A3A40"/>
                          </a:solidFill>
                          <a:latin typeface="Arial" pitchFamily="34" charset="0"/>
                          <a:ea typeface="Arial" pitchFamily="34" charset="-122"/>
                          <a:cs typeface="Arial" pitchFamily="34" charset="-120"/>
                        </a:rPr>
                        <a:t>9 jul 2026</a:t>
                      </a:r>
                      <a:endParaRPr lang="en-US" sz="1150" dirty="0">
                        <a:latin typeface="Arial" charset="0"/>
                        <a:ea typeface="Arial" charset="0"/>
                        <a:cs typeface="Arial" charset="0"/>
                      </a:endParaRPr>
                    </a:p>
                  </a:txBody>
                  <a:tcPr marL="0" marR="76200" marT="88900" marB="88900" anchor="ctr">
                    <a:lnL w="0" cap="flat" cmpd="sng" algn="ctr">
                      <a:noFill/>
                    </a:lnL>
                    <a:lnR w="0" cap="flat" cmpd="sng" algn="ctr">
                      <a:noFill/>
                    </a:lnR>
                    <a:lnT w="15240" cap="flat" cmpd="sng" algn="ctr">
                      <a:solidFill>
                        <a:srgbClr val="111114"/>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tc>
                  <a:txBody>
                    <a:bodyPr/>
                    <a:lstStyle/>
                    <a:p>
                      <a:pPr marL="0" indent="0">
                        <a:buNone/>
                      </a:pPr>
                      <a:r>
                        <a:rPr lang="en-US" sz="1150" dirty="0">
                          <a:solidFill>
                            <a:srgbClr val="3A3A40"/>
                          </a:solidFill>
                          <a:latin typeface="Arial" pitchFamily="34" charset="0"/>
                          <a:ea typeface="Arial" pitchFamily="34" charset="-122"/>
                          <a:cs typeface="Arial" pitchFamily="34" charset="-120"/>
                        </a:rPr>
                        <a:t>Tres niveles de precio. “Ultra Mode” coordina cuatro agentes en paralelo</a:t>
                      </a:r>
                      <a:endParaRPr lang="en-US" sz="1150" dirty="0">
                        <a:latin typeface="Arial" charset="0"/>
                        <a:ea typeface="Arial" charset="0"/>
                        <a:cs typeface="Arial" charset="0"/>
                      </a:endParaRPr>
                    </a:p>
                  </a:txBody>
                  <a:tcPr marL="0" marR="76200" marT="88900" marB="88900" anchor="ctr">
                    <a:lnL w="0" cap="flat" cmpd="sng" algn="ctr">
                      <a:noFill/>
                    </a:lnL>
                    <a:lnR w="0" cap="flat" cmpd="sng" algn="ctr">
                      <a:noFill/>
                    </a:lnR>
                    <a:lnT w="15240" cap="flat" cmpd="sng" algn="ctr">
                      <a:solidFill>
                        <a:srgbClr val="111114"/>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150" b="1" dirty="0">
                          <a:solidFill>
                            <a:srgbClr val="111114"/>
                          </a:solidFill>
                          <a:latin typeface="Arial" pitchFamily="34" charset="0"/>
                          <a:ea typeface="Arial" pitchFamily="34" charset="-122"/>
                          <a:cs typeface="Arial" pitchFamily="34" charset="-120"/>
                        </a:rPr>
                        <a:t>Anthropic</a:t>
                      </a:r>
                      <a:endParaRPr lang="en-US" sz="11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tc>
                  <a:txBody>
                    <a:bodyPr/>
                    <a:lstStyle/>
                    <a:p>
                      <a:pPr marL="0" indent="0">
                        <a:buNone/>
                      </a:pPr>
                      <a:r>
                        <a:rPr lang="en-US" sz="1150" dirty="0">
                          <a:solidFill>
                            <a:srgbClr val="3A3A40"/>
                          </a:solidFill>
                          <a:latin typeface="Arial" pitchFamily="34" charset="0"/>
                          <a:ea typeface="Arial" pitchFamily="34" charset="-122"/>
                          <a:cs typeface="Arial" pitchFamily="34" charset="-120"/>
                        </a:rPr>
                        <a:t>Claude Opus 5</a:t>
                      </a:r>
                      <a:endParaRPr lang="en-US" sz="11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tc>
                  <a:txBody>
                    <a:bodyPr/>
                    <a:lstStyle/>
                    <a:p>
                      <a:pPr marL="0" indent="0">
                        <a:buNone/>
                      </a:pPr>
                      <a:r>
                        <a:rPr lang="en-US" sz="1150" dirty="0">
                          <a:solidFill>
                            <a:srgbClr val="3A3A40"/>
                          </a:solidFill>
                          <a:latin typeface="Arial" pitchFamily="34" charset="0"/>
                          <a:ea typeface="Arial" pitchFamily="34" charset="-122"/>
                          <a:cs typeface="Arial" pitchFamily="34" charset="-120"/>
                        </a:rPr>
                        <a:t>24 jul 2026</a:t>
                      </a:r>
                      <a:endParaRPr lang="en-US" sz="11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tc>
                  <a:txBody>
                    <a:bodyPr/>
                    <a:lstStyle/>
                    <a:p>
                      <a:pPr marL="0" indent="0">
                        <a:buNone/>
                      </a:pPr>
                      <a:r>
                        <a:rPr lang="en-US" sz="1150" dirty="0">
                          <a:solidFill>
                            <a:srgbClr val="3A3A40"/>
                          </a:solidFill>
                          <a:latin typeface="Arial" pitchFamily="34" charset="0"/>
                          <a:ea typeface="Arial" pitchFamily="34" charset="-122"/>
                          <a:cs typeface="Arial" pitchFamily="34" charset="-120"/>
                        </a:rPr>
                        <a:t>Líder del índice de inteligencia. Foco en agentes de larga duración</a:t>
                      </a:r>
                      <a:endParaRPr lang="en-US" sz="11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0">
                <a:tc>
                  <a:txBody>
                    <a:bodyPr/>
                    <a:lstStyle/>
                    <a:p>
                      <a:pPr marL="0" indent="0">
                        <a:buNone/>
                      </a:pPr>
                      <a:r>
                        <a:rPr lang="en-US" sz="1150" b="1" dirty="0">
                          <a:solidFill>
                            <a:srgbClr val="111114"/>
                          </a:solidFill>
                          <a:latin typeface="Arial" pitchFamily="34" charset="0"/>
                          <a:ea typeface="Arial" pitchFamily="34" charset="-122"/>
                          <a:cs typeface="Arial" pitchFamily="34" charset="-120"/>
                        </a:rPr>
                        <a:t>Google</a:t>
                      </a:r>
                      <a:endParaRPr lang="en-US" sz="11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tc>
                  <a:txBody>
                    <a:bodyPr/>
                    <a:lstStyle/>
                    <a:p>
                      <a:pPr marL="0" indent="0">
                        <a:buNone/>
                      </a:pPr>
                      <a:r>
                        <a:rPr lang="en-US" sz="1150" dirty="0">
                          <a:solidFill>
                            <a:srgbClr val="3A3A40"/>
                          </a:solidFill>
                          <a:latin typeface="Arial" pitchFamily="34" charset="0"/>
                          <a:ea typeface="Arial" pitchFamily="34" charset="-122"/>
                          <a:cs typeface="Arial" pitchFamily="34" charset="-120"/>
                        </a:rPr>
                        <a:t>Gemini 3.1 Pro</a:t>
                      </a:r>
                      <a:endParaRPr lang="en-US" sz="11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tc>
                  <a:txBody>
                    <a:bodyPr/>
                    <a:lstStyle/>
                    <a:p>
                      <a:pPr marL="0" indent="0">
                        <a:buNone/>
                      </a:pPr>
                      <a:r>
                        <a:rPr lang="en-US" sz="1150" dirty="0">
                          <a:solidFill>
                            <a:srgbClr val="3A3A40"/>
                          </a:solidFill>
                          <a:latin typeface="Arial" pitchFamily="34" charset="0"/>
                          <a:ea typeface="Arial" pitchFamily="34" charset="-122"/>
                          <a:cs typeface="Arial" pitchFamily="34" charset="-120"/>
                        </a:rPr>
                        <a:t>19 feb 2026</a:t>
                      </a:r>
                      <a:endParaRPr lang="en-US" sz="11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tc>
                  <a:txBody>
                    <a:bodyPr/>
                    <a:lstStyle/>
                    <a:p>
                      <a:pPr marL="0" indent="0">
                        <a:buNone/>
                      </a:pPr>
                      <a:r>
                        <a:rPr lang="en-US" sz="1150" dirty="0">
                          <a:solidFill>
                            <a:srgbClr val="3A3A40"/>
                          </a:solidFill>
                          <a:latin typeface="Arial" pitchFamily="34" charset="0"/>
                          <a:ea typeface="Arial" pitchFamily="34" charset="-122"/>
                          <a:cs typeface="Arial" pitchFamily="34" charset="-120"/>
                        </a:rPr>
                        <a:t>Un millón de tokens de contexto. El Pro siguiente se demoró</a:t>
                      </a:r>
                      <a:endParaRPr lang="en-US" sz="11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150" b="1" dirty="0">
                          <a:solidFill>
                            <a:srgbClr val="111114"/>
                          </a:solidFill>
                          <a:latin typeface="Arial" pitchFamily="34" charset="0"/>
                          <a:ea typeface="Arial" pitchFamily="34" charset="-122"/>
                          <a:cs typeface="Arial" pitchFamily="34" charset="-120"/>
                        </a:rPr>
                        <a:t>xAI</a:t>
                      </a:r>
                      <a:endParaRPr lang="en-US" sz="11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tc>
                  <a:txBody>
                    <a:bodyPr/>
                    <a:lstStyle/>
                    <a:p>
                      <a:pPr marL="0" indent="0">
                        <a:buNone/>
                      </a:pPr>
                      <a:r>
                        <a:rPr lang="en-US" sz="1150" dirty="0">
                          <a:solidFill>
                            <a:srgbClr val="3A3A40"/>
                          </a:solidFill>
                          <a:latin typeface="Arial" pitchFamily="34" charset="0"/>
                          <a:ea typeface="Arial" pitchFamily="34" charset="-122"/>
                          <a:cs typeface="Arial" pitchFamily="34" charset="-120"/>
                        </a:rPr>
                        <a:t>Grok 4.6</a:t>
                      </a:r>
                      <a:endParaRPr lang="en-US" sz="11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tc>
                  <a:txBody>
                    <a:bodyPr/>
                    <a:lstStyle/>
                    <a:p>
                      <a:pPr marL="0" indent="0">
                        <a:buNone/>
                      </a:pPr>
                      <a:r>
                        <a:rPr lang="en-US" sz="1150" dirty="0">
                          <a:solidFill>
                            <a:srgbClr val="3A3A40"/>
                          </a:solidFill>
                          <a:latin typeface="Arial" pitchFamily="34" charset="0"/>
                          <a:ea typeface="Arial" pitchFamily="34" charset="-122"/>
                          <a:cs typeface="Arial" pitchFamily="34" charset="-120"/>
                        </a:rPr>
                        <a:t>2026</a:t>
                      </a:r>
                      <a:endParaRPr lang="en-US" sz="11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tc>
                  <a:txBody>
                    <a:bodyPr/>
                    <a:lstStyle/>
                    <a:p>
                      <a:pPr marL="0" indent="0">
                        <a:buNone/>
                      </a:pPr>
                      <a:r>
                        <a:rPr lang="en-US" sz="1150" dirty="0">
                          <a:solidFill>
                            <a:srgbClr val="3A3A40"/>
                          </a:solidFill>
                          <a:latin typeface="Arial" pitchFamily="34" charset="0"/>
                          <a:ea typeface="Arial" pitchFamily="34" charset="-122"/>
                          <a:cs typeface="Arial" pitchFamily="34" charset="-120"/>
                        </a:rPr>
                        <a:t>Top-3 en tareas laborales y de terminal</a:t>
                      </a:r>
                      <a:endParaRPr lang="en-US" sz="11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0">
                <a:tc>
                  <a:txBody>
                    <a:bodyPr/>
                    <a:lstStyle/>
                    <a:p>
                      <a:pPr marL="0" indent="0">
                        <a:buNone/>
                      </a:pPr>
                      <a:r>
                        <a:rPr lang="en-US" sz="1150" b="1" dirty="0">
                          <a:solidFill>
                            <a:srgbClr val="111114"/>
                          </a:solidFill>
                          <a:latin typeface="Arial" pitchFamily="34" charset="0"/>
                          <a:ea typeface="Arial" pitchFamily="34" charset="-122"/>
                          <a:cs typeface="Arial" pitchFamily="34" charset="-120"/>
                        </a:rPr>
                        <a:t>DeepSeek 🇨🇳</a:t>
                      </a:r>
                      <a:endParaRPr lang="en-US" sz="11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tc>
                  <a:txBody>
                    <a:bodyPr/>
                    <a:lstStyle/>
                    <a:p>
                      <a:pPr marL="0" indent="0">
                        <a:buNone/>
                      </a:pPr>
                      <a:r>
                        <a:rPr lang="en-US" sz="1150" dirty="0">
                          <a:solidFill>
                            <a:srgbClr val="3A3A40"/>
                          </a:solidFill>
                          <a:latin typeface="Arial" pitchFamily="34" charset="0"/>
                          <a:ea typeface="Arial" pitchFamily="34" charset="-122"/>
                          <a:cs typeface="Arial" pitchFamily="34" charset="-120"/>
                        </a:rPr>
                        <a:t>V4 Pro</a:t>
                      </a:r>
                      <a:endParaRPr lang="en-US" sz="11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tc>
                  <a:txBody>
                    <a:bodyPr/>
                    <a:lstStyle/>
                    <a:p>
                      <a:pPr marL="0" indent="0">
                        <a:buNone/>
                      </a:pPr>
                      <a:r>
                        <a:rPr lang="en-US" sz="1150" dirty="0">
                          <a:solidFill>
                            <a:srgbClr val="3A3A40"/>
                          </a:solidFill>
                          <a:latin typeface="Arial" pitchFamily="34" charset="0"/>
                          <a:ea typeface="Arial" pitchFamily="34" charset="-122"/>
                          <a:cs typeface="Arial" pitchFamily="34" charset="-120"/>
                        </a:rPr>
                        <a:t>abr 2026</a:t>
                      </a:r>
                      <a:endParaRPr lang="en-US" sz="11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tc>
                  <a:txBody>
                    <a:bodyPr/>
                    <a:lstStyle/>
                    <a:p>
                      <a:pPr marL="0" indent="0">
                        <a:buNone/>
                      </a:pPr>
                      <a:r>
                        <a:rPr lang="en-US" sz="1150" dirty="0">
                          <a:solidFill>
                            <a:srgbClr val="3A3A40"/>
                          </a:solidFill>
                          <a:latin typeface="Arial" pitchFamily="34" charset="0"/>
                          <a:ea typeface="Arial" pitchFamily="34" charset="-122"/>
                          <a:cs typeface="Arial" pitchFamily="34" charset="-120"/>
                        </a:rPr>
                        <a:t>1,6 billones de parámetros, licencia MIT, ~US$0,04 por tarea</a:t>
                      </a:r>
                      <a:endParaRPr lang="en-US" sz="11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150" b="1" dirty="0">
                          <a:solidFill>
                            <a:srgbClr val="111114"/>
                          </a:solidFill>
                          <a:latin typeface="Arial" pitchFamily="34" charset="0"/>
                          <a:ea typeface="Arial" pitchFamily="34" charset="-122"/>
                          <a:cs typeface="Arial" pitchFamily="34" charset="-120"/>
                        </a:rPr>
                        <a:t>Moonshot 🇨🇳</a:t>
                      </a:r>
                      <a:endParaRPr lang="en-US" sz="11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tc>
                  <a:txBody>
                    <a:bodyPr/>
                    <a:lstStyle/>
                    <a:p>
                      <a:pPr marL="0" indent="0">
                        <a:buNone/>
                      </a:pPr>
                      <a:r>
                        <a:rPr lang="en-US" sz="1150" dirty="0">
                          <a:solidFill>
                            <a:srgbClr val="3A3A40"/>
                          </a:solidFill>
                          <a:latin typeface="Arial" pitchFamily="34" charset="0"/>
                          <a:ea typeface="Arial" pitchFamily="34" charset="-122"/>
                          <a:cs typeface="Arial" pitchFamily="34" charset="-120"/>
                        </a:rPr>
                        <a:t>Kimi K3</a:t>
                      </a:r>
                      <a:endParaRPr lang="en-US" sz="11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tc>
                  <a:txBody>
                    <a:bodyPr/>
                    <a:lstStyle/>
                    <a:p>
                      <a:pPr marL="0" indent="0">
                        <a:buNone/>
                      </a:pPr>
                      <a:r>
                        <a:rPr lang="en-US" sz="1150" dirty="0">
                          <a:solidFill>
                            <a:srgbClr val="3A3A40"/>
                          </a:solidFill>
                          <a:latin typeface="Arial" pitchFamily="34" charset="0"/>
                          <a:ea typeface="Arial" pitchFamily="34" charset="-122"/>
                          <a:cs typeface="Arial" pitchFamily="34" charset="-120"/>
                        </a:rPr>
                        <a:t>16 jul 2026</a:t>
                      </a:r>
                      <a:endParaRPr lang="en-US" sz="11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tc>
                  <a:txBody>
                    <a:bodyPr/>
                    <a:lstStyle/>
                    <a:p>
                      <a:pPr marL="0" indent="0">
                        <a:buNone/>
                      </a:pPr>
                      <a:r>
                        <a:rPr lang="en-US" sz="1150" dirty="0">
                          <a:solidFill>
                            <a:srgbClr val="3A3A40"/>
                          </a:solidFill>
                          <a:latin typeface="Arial" pitchFamily="34" charset="0"/>
                          <a:ea typeface="Arial" pitchFamily="34" charset="-122"/>
                          <a:cs typeface="Arial" pitchFamily="34" charset="-120"/>
                        </a:rPr>
                        <a:t>2,8 billones de parámetros. El que sacudió los mercados</a:t>
                      </a:r>
                      <a:endParaRPr lang="en-US" sz="11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0">
                <a:tc>
                  <a:txBody>
                    <a:bodyPr/>
                    <a:lstStyle/>
                    <a:p>
                      <a:pPr marL="0" indent="0">
                        <a:buNone/>
                      </a:pPr>
                      <a:r>
                        <a:rPr lang="en-US" sz="1150" b="1" dirty="0">
                          <a:solidFill>
                            <a:srgbClr val="111114"/>
                          </a:solidFill>
                          <a:latin typeface="Arial" pitchFamily="34" charset="0"/>
                          <a:ea typeface="Arial" pitchFamily="34" charset="-122"/>
                          <a:cs typeface="Arial" pitchFamily="34" charset="-120"/>
                        </a:rPr>
                        <a:t>Alibaba 🇨🇳</a:t>
                      </a:r>
                      <a:endParaRPr lang="en-US" sz="11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tc>
                  <a:txBody>
                    <a:bodyPr/>
                    <a:lstStyle/>
                    <a:p>
                      <a:pPr marL="0" indent="0">
                        <a:buNone/>
                      </a:pPr>
                      <a:r>
                        <a:rPr lang="en-US" sz="1150" dirty="0">
                          <a:solidFill>
                            <a:srgbClr val="3A3A40"/>
                          </a:solidFill>
                          <a:latin typeface="Arial" pitchFamily="34" charset="0"/>
                          <a:ea typeface="Arial" pitchFamily="34" charset="-122"/>
                          <a:cs typeface="Arial" pitchFamily="34" charset="-120"/>
                        </a:rPr>
                        <a:t>Qwen 3.5 / 3.8 Max</a:t>
                      </a:r>
                      <a:endParaRPr lang="en-US" sz="11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tc>
                  <a:txBody>
                    <a:bodyPr/>
                    <a:lstStyle/>
                    <a:p>
                      <a:pPr marL="0" indent="0">
                        <a:buNone/>
                      </a:pPr>
                      <a:r>
                        <a:rPr lang="en-US" sz="1150" dirty="0">
                          <a:solidFill>
                            <a:srgbClr val="3A3A40"/>
                          </a:solidFill>
                          <a:latin typeface="Arial" pitchFamily="34" charset="0"/>
                          <a:ea typeface="Arial" pitchFamily="34" charset="-122"/>
                          <a:cs typeface="Arial" pitchFamily="34" charset="-120"/>
                        </a:rPr>
                        <a:t>2026</a:t>
                      </a:r>
                      <a:endParaRPr lang="en-US" sz="11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tc>
                  <a:txBody>
                    <a:bodyPr/>
                    <a:lstStyle/>
                    <a:p>
                      <a:pPr marL="0" indent="0">
                        <a:buNone/>
                      </a:pPr>
                      <a:r>
                        <a:rPr lang="en-US" sz="1150" dirty="0">
                          <a:solidFill>
                            <a:srgbClr val="3A3A40"/>
                          </a:solidFill>
                          <a:latin typeface="Arial" pitchFamily="34" charset="0"/>
                          <a:ea typeface="Arial" pitchFamily="34" charset="-122"/>
                          <a:cs typeface="Arial" pitchFamily="34" charset="-120"/>
                        </a:rPr>
                        <a:t>Abierto, 201 idiomas</a:t>
                      </a:r>
                      <a:endParaRPr lang="en-US" sz="1150" dirty="0">
                        <a:latin typeface="Arial" charset="0"/>
                        <a:ea typeface="Arial" charset="0"/>
                        <a:cs typeface="Arial" charset="0"/>
                      </a:endParaRPr>
                    </a:p>
                  </a:txBody>
                  <a:tcPr marL="0" marR="76200" marT="88900" marB="88900" anchor="ctr">
                    <a:lnL w="0" cap="flat" cmpd="sng" algn="ctr">
                      <a:noFill/>
                    </a:lnL>
                    <a:lnR w="0" cap="flat" cmpd="sng" algn="ctr">
                      <a:noFill/>
                    </a:lnR>
                    <a:lnT w="9525" cap="flat" cmpd="sng" algn="ctr">
                      <a:solidFill>
                        <a:srgbClr val="E4E4E6"/>
                      </a:solidFill>
                      <a:prstDash val="solid"/>
                      <a:round/>
                      <a:headEnd type="none" w="med" len="med"/>
                      <a:tailEnd type="none" w="med" len="med"/>
                    </a:lnT>
                    <a:lnB w="9525" cap="flat" cmpd="sng" algn="ctr">
                      <a:solidFill>
                        <a:srgbClr val="E4E4E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Text 2"/>
          <p:cNvSpPr/>
          <p:nvPr/>
        </p:nvSpPr>
        <p:spPr>
          <a:xfrm>
            <a:off x="777240" y="5806440"/>
            <a:ext cx="10637215" cy="457200"/>
          </a:xfrm>
          <a:prstGeom prst="rect">
            <a:avLst/>
          </a:prstGeom>
          <a:noFill/>
          <a:ln/>
        </p:spPr>
        <p:txBody>
          <a:bodyPr wrap="square" lIns="0" tIns="0" rIns="0" bIns="0" rtlCol="0" anchor="ctr"/>
          <a:lstStyle/>
          <a:p>
            <a:pPr marL="0" indent="0">
              <a:lnSpc>
                <a:spcPts val="1800"/>
              </a:lnSpc>
              <a:buNone/>
            </a:pPr>
            <a:r>
              <a:rPr lang="en-US" sz="1350" i="1" dirty="0">
                <a:solidFill>
                  <a:srgbClr val="6E6E73"/>
                </a:solidFill>
                <a:latin typeface="Arial" pitchFamily="34" charset="0"/>
                <a:ea typeface="Arial" pitchFamily="34" charset="-122"/>
                <a:cs typeface="Arial" pitchFamily="34" charset="-120"/>
              </a:rPr>
              <a:t>No hay que memorizar nombres. El patrón es lo que importa: siete organizaciones en el mundo definen lo que la humanidad puede automatizar — y la mitad de esa lista es china.</a:t>
            </a:r>
            <a:endParaRPr lang="en-US" sz="1350" dirty="0"/>
          </a:p>
        </p:txBody>
      </p:sp>
      <p:sp>
        <p:nvSpPr>
          <p:cNvPr id="6" name="Text 3"/>
          <p:cNvSpPr/>
          <p:nvPr/>
        </p:nvSpPr>
        <p:spPr>
          <a:xfrm>
            <a:off x="10865815" y="6291072"/>
            <a:ext cx="548640" cy="274320"/>
          </a:xfrm>
          <a:prstGeom prst="rect">
            <a:avLst/>
          </a:prstGeom>
          <a:noFill/>
          <a:ln/>
        </p:spPr>
        <p:txBody>
          <a:bodyPr wrap="square" lIns="0" tIns="0" rIns="0" bIns="0" rtlCol="0" anchor="ctr"/>
          <a:lstStyle/>
          <a:p>
            <a:pPr marL="0" indent="0" algn="r">
              <a:buNone/>
            </a:pPr>
            <a:r>
              <a:rPr lang="en-US" sz="900" dirty="0">
                <a:solidFill>
                  <a:srgbClr val="9A9AA0"/>
                </a:solidFill>
                <a:latin typeface="Arial" pitchFamily="34" charset="0"/>
                <a:ea typeface="Arial" pitchFamily="34" charset="-122"/>
                <a:cs typeface="Arial" pitchFamily="34" charset="-120"/>
              </a:rPr>
              <a:t>20</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420624"/>
            <a:ext cx="10637215" cy="237744"/>
          </a:xfrm>
          <a:prstGeom prst="rect">
            <a:avLst/>
          </a:prstGeom>
          <a:noFill/>
          <a:ln/>
        </p:spPr>
        <p:txBody>
          <a:bodyPr wrap="square" lIns="0" tIns="0" rIns="0" bIns="0" rtlCol="0" anchor="ctr"/>
          <a:lstStyle/>
          <a:p>
            <a:pPr marL="0" indent="0">
              <a:buNone/>
            </a:pPr>
            <a:r>
              <a:rPr lang="en-US" sz="1050" b="1" kern="0" spc="200" dirty="0">
                <a:solidFill>
                  <a:srgbClr val="E04E39"/>
                </a:solidFill>
                <a:latin typeface="Arial" pitchFamily="34" charset="0"/>
                <a:ea typeface="Arial" pitchFamily="34" charset="-122"/>
                <a:cs typeface="Arial" pitchFamily="34" charset="-120"/>
              </a:rPr>
              <a:t>EL SALTO DEL AÑO</a:t>
            </a:r>
            <a:endParaRPr lang="en-US" sz="1050" dirty="0"/>
          </a:p>
        </p:txBody>
      </p:sp>
      <p:sp>
        <p:nvSpPr>
          <p:cNvPr id="3" name="Text 1"/>
          <p:cNvSpPr/>
          <p:nvPr/>
        </p:nvSpPr>
        <p:spPr>
          <a:xfrm>
            <a:off x="777240" y="694944"/>
            <a:ext cx="10637215" cy="566928"/>
          </a:xfrm>
          <a:prstGeom prst="rect">
            <a:avLst/>
          </a:prstGeom>
          <a:noFill/>
          <a:ln/>
        </p:spPr>
        <p:txBody>
          <a:bodyPr wrap="square" lIns="0" tIns="0" rIns="0" bIns="0" rtlCol="0" anchor="t"/>
          <a:lstStyle/>
          <a:p>
            <a:pPr marL="0" indent="0">
              <a:lnSpc>
                <a:spcPts val="3400"/>
              </a:lnSpc>
              <a:buNone/>
            </a:pPr>
            <a:r>
              <a:rPr lang="en-US" sz="3000" b="1" dirty="0">
                <a:solidFill>
                  <a:srgbClr val="111114"/>
                </a:solidFill>
                <a:latin typeface="Arial" pitchFamily="34" charset="0"/>
                <a:ea typeface="Arial" pitchFamily="34" charset="-122"/>
                <a:cs typeface="Arial" pitchFamily="34" charset="-120"/>
              </a:rPr>
              <a:t>De chatbot a agente</a:t>
            </a:r>
            <a:endParaRPr lang="en-US" sz="3000" dirty="0"/>
          </a:p>
        </p:txBody>
      </p:sp>
      <p:sp>
        <p:nvSpPr>
          <p:cNvPr id="4" name="Shape 2"/>
          <p:cNvSpPr/>
          <p:nvPr/>
        </p:nvSpPr>
        <p:spPr>
          <a:xfrm>
            <a:off x="777240" y="1600200"/>
            <a:ext cx="4892040" cy="2011680"/>
          </a:xfrm>
          <a:prstGeom prst="roundRect">
            <a:avLst>
              <a:gd name="adj" fmla="val 2727"/>
            </a:avLst>
          </a:prstGeom>
          <a:solidFill>
            <a:srgbClr val="F6F6F5"/>
          </a:solidFill>
          <a:ln w="12700">
            <a:solidFill>
              <a:srgbClr val="F6F6F5"/>
            </a:solidFill>
            <a:prstDash val="solid"/>
          </a:ln>
        </p:spPr>
        <p:txBody>
          <a:bodyPr/>
          <a:lstStyle/>
          <a:p>
            <a:endParaRPr lang="en-AR"/>
          </a:p>
        </p:txBody>
      </p:sp>
      <p:sp>
        <p:nvSpPr>
          <p:cNvPr id="5" name="Text 3"/>
          <p:cNvSpPr/>
          <p:nvPr/>
        </p:nvSpPr>
        <p:spPr>
          <a:xfrm>
            <a:off x="1143000" y="1847088"/>
            <a:ext cx="4114800" cy="274320"/>
          </a:xfrm>
          <a:prstGeom prst="rect">
            <a:avLst/>
          </a:prstGeom>
          <a:noFill/>
          <a:ln/>
        </p:spPr>
        <p:txBody>
          <a:bodyPr wrap="square" lIns="0" tIns="0" rIns="0" bIns="0" rtlCol="0" anchor="ctr"/>
          <a:lstStyle/>
          <a:p>
            <a:pPr marL="0" indent="0">
              <a:buNone/>
            </a:pPr>
            <a:r>
              <a:rPr lang="en-US" sz="1050" b="1" kern="0" spc="200" dirty="0">
                <a:solidFill>
                  <a:srgbClr val="6E6E73"/>
                </a:solidFill>
                <a:latin typeface="Arial" pitchFamily="34" charset="0"/>
                <a:ea typeface="Arial" pitchFamily="34" charset="-122"/>
                <a:cs typeface="Arial" pitchFamily="34" charset="-120"/>
              </a:rPr>
              <a:t>CHATBOT</a:t>
            </a:r>
            <a:endParaRPr lang="en-US" sz="1050" dirty="0"/>
          </a:p>
        </p:txBody>
      </p:sp>
      <p:sp>
        <p:nvSpPr>
          <p:cNvPr id="6" name="Text 4"/>
          <p:cNvSpPr/>
          <p:nvPr/>
        </p:nvSpPr>
        <p:spPr>
          <a:xfrm>
            <a:off x="1143000" y="2194560"/>
            <a:ext cx="4114800" cy="365760"/>
          </a:xfrm>
          <a:prstGeom prst="rect">
            <a:avLst/>
          </a:prstGeom>
          <a:noFill/>
          <a:ln/>
        </p:spPr>
        <p:txBody>
          <a:bodyPr wrap="square" lIns="0" tIns="0" rIns="0" bIns="0" rtlCol="0" anchor="ctr"/>
          <a:lstStyle/>
          <a:p>
            <a:pPr marL="0" indent="0">
              <a:buNone/>
            </a:pPr>
            <a:r>
              <a:rPr lang="en-US" sz="2000" b="1" dirty="0">
                <a:solidFill>
                  <a:srgbClr val="111114"/>
                </a:solidFill>
                <a:latin typeface="Arial" pitchFamily="34" charset="0"/>
                <a:ea typeface="Arial" pitchFamily="34" charset="-122"/>
                <a:cs typeface="Arial" pitchFamily="34" charset="-120"/>
              </a:rPr>
              <a:t>Vos preguntás, responde.</a:t>
            </a:r>
            <a:endParaRPr lang="en-US" sz="2000" dirty="0"/>
          </a:p>
        </p:txBody>
      </p:sp>
      <p:sp>
        <p:nvSpPr>
          <p:cNvPr id="7" name="Text 5"/>
          <p:cNvSpPr/>
          <p:nvPr/>
        </p:nvSpPr>
        <p:spPr>
          <a:xfrm>
            <a:off x="1143000" y="2651760"/>
            <a:ext cx="4114800" cy="640080"/>
          </a:xfrm>
          <a:prstGeom prst="rect">
            <a:avLst/>
          </a:prstGeom>
          <a:noFill/>
          <a:ln/>
        </p:spPr>
        <p:txBody>
          <a:bodyPr wrap="square" lIns="0" tIns="0" rIns="0" bIns="0" rtlCol="0" anchor="ctr"/>
          <a:lstStyle/>
          <a:p>
            <a:pPr marL="0" indent="0">
              <a:lnSpc>
                <a:spcPts val="1800"/>
              </a:lnSpc>
              <a:buNone/>
            </a:pPr>
            <a:r>
              <a:rPr lang="en-US" sz="1300" dirty="0">
                <a:solidFill>
                  <a:srgbClr val="55555C"/>
                </a:solidFill>
                <a:latin typeface="Arial" pitchFamily="34" charset="0"/>
                <a:ea typeface="Arial" pitchFamily="34" charset="-122"/>
                <a:cs typeface="Arial" pitchFamily="34" charset="-120"/>
              </a:rPr>
              <a:t>Ciclo cerrado, una sola vuelta. Usás una herramienta.</a:t>
            </a:r>
            <a:endParaRPr lang="en-US" sz="1300" dirty="0"/>
          </a:p>
        </p:txBody>
      </p:sp>
      <p:sp>
        <p:nvSpPr>
          <p:cNvPr id="8" name="Shape 6"/>
          <p:cNvSpPr/>
          <p:nvPr/>
        </p:nvSpPr>
        <p:spPr>
          <a:xfrm>
            <a:off x="6519672" y="1600200"/>
            <a:ext cx="4892040" cy="2011680"/>
          </a:xfrm>
          <a:prstGeom prst="roundRect">
            <a:avLst>
              <a:gd name="adj" fmla="val 2727"/>
            </a:avLst>
          </a:prstGeom>
          <a:solidFill>
            <a:srgbClr val="111114"/>
          </a:solidFill>
          <a:ln w="12700">
            <a:solidFill>
              <a:srgbClr val="111114"/>
            </a:solidFill>
            <a:prstDash val="solid"/>
          </a:ln>
        </p:spPr>
        <p:txBody>
          <a:bodyPr/>
          <a:lstStyle/>
          <a:p>
            <a:endParaRPr lang="en-AR"/>
          </a:p>
        </p:txBody>
      </p:sp>
      <p:sp>
        <p:nvSpPr>
          <p:cNvPr id="9" name="Text 7"/>
          <p:cNvSpPr/>
          <p:nvPr/>
        </p:nvSpPr>
        <p:spPr>
          <a:xfrm>
            <a:off x="6885432" y="1847088"/>
            <a:ext cx="4114800" cy="274320"/>
          </a:xfrm>
          <a:prstGeom prst="rect">
            <a:avLst/>
          </a:prstGeom>
          <a:noFill/>
          <a:ln/>
        </p:spPr>
        <p:txBody>
          <a:bodyPr wrap="square" lIns="0" tIns="0" rIns="0" bIns="0" rtlCol="0" anchor="ctr"/>
          <a:lstStyle/>
          <a:p>
            <a:pPr marL="0" indent="0">
              <a:buNone/>
            </a:pPr>
            <a:r>
              <a:rPr lang="en-US" sz="1050" b="1" kern="0" spc="200" dirty="0">
                <a:solidFill>
                  <a:srgbClr val="E04E39"/>
                </a:solidFill>
                <a:latin typeface="Arial" pitchFamily="34" charset="0"/>
                <a:ea typeface="Arial" pitchFamily="34" charset="-122"/>
                <a:cs typeface="Arial" pitchFamily="34" charset="-120"/>
              </a:rPr>
              <a:t>AGENTE</a:t>
            </a:r>
            <a:endParaRPr lang="en-US" sz="1050" dirty="0"/>
          </a:p>
        </p:txBody>
      </p:sp>
      <p:sp>
        <p:nvSpPr>
          <p:cNvPr id="10" name="Text 8"/>
          <p:cNvSpPr/>
          <p:nvPr/>
        </p:nvSpPr>
        <p:spPr>
          <a:xfrm>
            <a:off x="6885432" y="2194560"/>
            <a:ext cx="4114800" cy="365760"/>
          </a:xfrm>
          <a:prstGeom prst="rect">
            <a:avLst/>
          </a:prstGeom>
          <a:noFill/>
          <a:ln/>
        </p:spPr>
        <p:txBody>
          <a:bodyPr wrap="square" lIns="0" tIns="0" rIns="0" bIns="0" rtlCol="0" anchor="ctr"/>
          <a:lstStyle/>
          <a:p>
            <a:pPr marL="0" indent="0">
              <a:buNone/>
            </a:pPr>
            <a:r>
              <a:rPr lang="en-US" sz="2000" b="1" dirty="0">
                <a:solidFill>
                  <a:srgbClr val="FFFFFF"/>
                </a:solidFill>
                <a:latin typeface="Arial" pitchFamily="34" charset="0"/>
                <a:ea typeface="Arial" pitchFamily="34" charset="-122"/>
                <a:cs typeface="Arial" pitchFamily="34" charset="-120"/>
              </a:rPr>
              <a:t>Le das un objetivo.</a:t>
            </a:r>
            <a:endParaRPr lang="en-US" sz="2000" dirty="0"/>
          </a:p>
        </p:txBody>
      </p:sp>
      <p:sp>
        <p:nvSpPr>
          <p:cNvPr id="11" name="Text 9"/>
          <p:cNvSpPr/>
          <p:nvPr/>
        </p:nvSpPr>
        <p:spPr>
          <a:xfrm>
            <a:off x="6885432" y="2651760"/>
            <a:ext cx="4114800" cy="640080"/>
          </a:xfrm>
          <a:prstGeom prst="rect">
            <a:avLst/>
          </a:prstGeom>
          <a:noFill/>
          <a:ln/>
        </p:spPr>
        <p:txBody>
          <a:bodyPr wrap="square" lIns="0" tIns="0" rIns="0" bIns="0" rtlCol="0" anchor="ctr"/>
          <a:lstStyle/>
          <a:p>
            <a:pPr marL="0" indent="0">
              <a:lnSpc>
                <a:spcPts val="1800"/>
              </a:lnSpc>
              <a:buNone/>
            </a:pPr>
            <a:r>
              <a:rPr lang="en-US" sz="1300" dirty="0">
                <a:solidFill>
                  <a:srgbClr val="A8A8B0"/>
                </a:solidFill>
                <a:latin typeface="Arial" pitchFamily="34" charset="0"/>
                <a:ea typeface="Arial" pitchFamily="34" charset="-122"/>
                <a:cs typeface="Arial" pitchFamily="34" charset="-120"/>
              </a:rPr>
              <a:t>Arma un plan y lo ejecuta. Ciclo abierto. Delegás en un sistema.</a:t>
            </a:r>
            <a:endParaRPr lang="en-US" sz="1300" dirty="0"/>
          </a:p>
        </p:txBody>
      </p:sp>
      <p:sp>
        <p:nvSpPr>
          <p:cNvPr id="12" name="Shape 10"/>
          <p:cNvSpPr/>
          <p:nvPr/>
        </p:nvSpPr>
        <p:spPr>
          <a:xfrm>
            <a:off x="777240" y="4023360"/>
            <a:ext cx="2331720" cy="914400"/>
          </a:xfrm>
          <a:prstGeom prst="roundRect">
            <a:avLst>
              <a:gd name="adj" fmla="val 6000"/>
            </a:avLst>
          </a:prstGeom>
          <a:solidFill>
            <a:srgbClr val="F6F6F5"/>
          </a:solidFill>
          <a:ln w="12700">
            <a:solidFill>
              <a:srgbClr val="F6F6F5"/>
            </a:solidFill>
            <a:prstDash val="solid"/>
          </a:ln>
        </p:spPr>
        <p:txBody>
          <a:bodyPr/>
          <a:lstStyle/>
          <a:p>
            <a:endParaRPr lang="en-AR"/>
          </a:p>
        </p:txBody>
      </p:sp>
      <p:sp>
        <p:nvSpPr>
          <p:cNvPr id="13" name="Text 11"/>
          <p:cNvSpPr/>
          <p:nvPr/>
        </p:nvSpPr>
        <p:spPr>
          <a:xfrm>
            <a:off x="777240" y="4279392"/>
            <a:ext cx="2331720" cy="411480"/>
          </a:xfrm>
          <a:prstGeom prst="rect">
            <a:avLst/>
          </a:prstGeom>
          <a:noFill/>
          <a:ln/>
        </p:spPr>
        <p:txBody>
          <a:bodyPr wrap="square" lIns="0" tIns="0" rIns="0" bIns="0" rtlCol="0" anchor="ctr"/>
          <a:lstStyle/>
          <a:p>
            <a:pPr marL="0" indent="0" algn="ctr">
              <a:buNone/>
            </a:pPr>
            <a:r>
              <a:rPr lang="en-US" sz="1700" b="1" dirty="0">
                <a:solidFill>
                  <a:srgbClr val="111114"/>
                </a:solidFill>
                <a:latin typeface="Arial" pitchFamily="34" charset="0"/>
                <a:ea typeface="Arial" pitchFamily="34" charset="-122"/>
                <a:cs typeface="Arial" pitchFamily="34" charset="-120"/>
              </a:rPr>
              <a:t>Percibir</a:t>
            </a:r>
            <a:endParaRPr lang="en-US" sz="1700" dirty="0"/>
          </a:p>
        </p:txBody>
      </p:sp>
      <p:sp>
        <p:nvSpPr>
          <p:cNvPr id="14" name="Text 12"/>
          <p:cNvSpPr/>
          <p:nvPr/>
        </p:nvSpPr>
        <p:spPr>
          <a:xfrm>
            <a:off x="3154680" y="4297680"/>
            <a:ext cx="365760" cy="365760"/>
          </a:xfrm>
          <a:prstGeom prst="rect">
            <a:avLst/>
          </a:prstGeom>
          <a:noFill/>
          <a:ln/>
        </p:spPr>
        <p:txBody>
          <a:bodyPr wrap="square" lIns="0" tIns="0" rIns="0" bIns="0" rtlCol="0" anchor="ctr"/>
          <a:lstStyle/>
          <a:p>
            <a:pPr marL="0" indent="0" algn="ctr">
              <a:buNone/>
            </a:pPr>
            <a:r>
              <a:rPr lang="en-US" sz="1700" dirty="0">
                <a:solidFill>
                  <a:srgbClr val="E04E39"/>
                </a:solidFill>
                <a:latin typeface="Arial" pitchFamily="34" charset="0"/>
                <a:ea typeface="Arial" pitchFamily="34" charset="-122"/>
                <a:cs typeface="Arial" pitchFamily="34" charset="-120"/>
              </a:rPr>
              <a:t>→</a:t>
            </a:r>
            <a:endParaRPr lang="en-US" sz="1700" dirty="0"/>
          </a:p>
        </p:txBody>
      </p:sp>
      <p:sp>
        <p:nvSpPr>
          <p:cNvPr id="15" name="Shape 13"/>
          <p:cNvSpPr/>
          <p:nvPr/>
        </p:nvSpPr>
        <p:spPr>
          <a:xfrm>
            <a:off x="3538728" y="4023360"/>
            <a:ext cx="2331720" cy="914400"/>
          </a:xfrm>
          <a:prstGeom prst="roundRect">
            <a:avLst>
              <a:gd name="adj" fmla="val 6000"/>
            </a:avLst>
          </a:prstGeom>
          <a:solidFill>
            <a:srgbClr val="F6F6F5"/>
          </a:solidFill>
          <a:ln w="12700">
            <a:solidFill>
              <a:srgbClr val="F6F6F5"/>
            </a:solidFill>
            <a:prstDash val="solid"/>
          </a:ln>
        </p:spPr>
        <p:txBody>
          <a:bodyPr/>
          <a:lstStyle/>
          <a:p>
            <a:endParaRPr lang="en-AR"/>
          </a:p>
        </p:txBody>
      </p:sp>
      <p:sp>
        <p:nvSpPr>
          <p:cNvPr id="16" name="Text 14"/>
          <p:cNvSpPr/>
          <p:nvPr/>
        </p:nvSpPr>
        <p:spPr>
          <a:xfrm>
            <a:off x="3538728" y="4279392"/>
            <a:ext cx="2331720" cy="411480"/>
          </a:xfrm>
          <a:prstGeom prst="rect">
            <a:avLst/>
          </a:prstGeom>
          <a:noFill/>
          <a:ln/>
        </p:spPr>
        <p:txBody>
          <a:bodyPr wrap="square" lIns="0" tIns="0" rIns="0" bIns="0" rtlCol="0" anchor="ctr"/>
          <a:lstStyle/>
          <a:p>
            <a:pPr marL="0" indent="0" algn="ctr">
              <a:buNone/>
            </a:pPr>
            <a:r>
              <a:rPr lang="en-US" sz="1700" b="1" dirty="0">
                <a:solidFill>
                  <a:srgbClr val="111114"/>
                </a:solidFill>
                <a:latin typeface="Arial" pitchFamily="34" charset="0"/>
                <a:ea typeface="Arial" pitchFamily="34" charset="-122"/>
                <a:cs typeface="Arial" pitchFamily="34" charset="-120"/>
              </a:rPr>
              <a:t>Razonar</a:t>
            </a:r>
            <a:endParaRPr lang="en-US" sz="1700" dirty="0"/>
          </a:p>
        </p:txBody>
      </p:sp>
      <p:sp>
        <p:nvSpPr>
          <p:cNvPr id="17" name="Text 15"/>
          <p:cNvSpPr/>
          <p:nvPr/>
        </p:nvSpPr>
        <p:spPr>
          <a:xfrm>
            <a:off x="5916168" y="4297680"/>
            <a:ext cx="365760" cy="365760"/>
          </a:xfrm>
          <a:prstGeom prst="rect">
            <a:avLst/>
          </a:prstGeom>
          <a:noFill/>
          <a:ln/>
        </p:spPr>
        <p:txBody>
          <a:bodyPr wrap="square" lIns="0" tIns="0" rIns="0" bIns="0" rtlCol="0" anchor="ctr"/>
          <a:lstStyle/>
          <a:p>
            <a:pPr marL="0" indent="0" algn="ctr">
              <a:buNone/>
            </a:pPr>
            <a:r>
              <a:rPr lang="en-US" sz="1700" dirty="0">
                <a:solidFill>
                  <a:srgbClr val="E04E39"/>
                </a:solidFill>
                <a:latin typeface="Arial" pitchFamily="34" charset="0"/>
                <a:ea typeface="Arial" pitchFamily="34" charset="-122"/>
                <a:cs typeface="Arial" pitchFamily="34" charset="-120"/>
              </a:rPr>
              <a:t>→</a:t>
            </a:r>
            <a:endParaRPr lang="en-US" sz="1700" dirty="0"/>
          </a:p>
        </p:txBody>
      </p:sp>
      <p:sp>
        <p:nvSpPr>
          <p:cNvPr id="18" name="Shape 16"/>
          <p:cNvSpPr/>
          <p:nvPr/>
        </p:nvSpPr>
        <p:spPr>
          <a:xfrm>
            <a:off x="6300216" y="4023360"/>
            <a:ext cx="2331720" cy="914400"/>
          </a:xfrm>
          <a:prstGeom prst="roundRect">
            <a:avLst>
              <a:gd name="adj" fmla="val 6000"/>
            </a:avLst>
          </a:prstGeom>
          <a:solidFill>
            <a:srgbClr val="F6F6F5"/>
          </a:solidFill>
          <a:ln w="12700">
            <a:solidFill>
              <a:srgbClr val="F6F6F5"/>
            </a:solidFill>
            <a:prstDash val="solid"/>
          </a:ln>
        </p:spPr>
        <p:txBody>
          <a:bodyPr/>
          <a:lstStyle/>
          <a:p>
            <a:endParaRPr lang="en-AR"/>
          </a:p>
        </p:txBody>
      </p:sp>
      <p:sp>
        <p:nvSpPr>
          <p:cNvPr id="19" name="Text 17"/>
          <p:cNvSpPr/>
          <p:nvPr/>
        </p:nvSpPr>
        <p:spPr>
          <a:xfrm>
            <a:off x="6300216" y="4279392"/>
            <a:ext cx="2331720" cy="411480"/>
          </a:xfrm>
          <a:prstGeom prst="rect">
            <a:avLst/>
          </a:prstGeom>
          <a:noFill/>
          <a:ln/>
        </p:spPr>
        <p:txBody>
          <a:bodyPr wrap="square" lIns="0" tIns="0" rIns="0" bIns="0" rtlCol="0" anchor="ctr"/>
          <a:lstStyle/>
          <a:p>
            <a:pPr marL="0" indent="0" algn="ctr">
              <a:buNone/>
            </a:pPr>
            <a:r>
              <a:rPr lang="en-US" sz="1700" b="1" dirty="0">
                <a:solidFill>
                  <a:srgbClr val="111114"/>
                </a:solidFill>
                <a:latin typeface="Arial" pitchFamily="34" charset="0"/>
                <a:ea typeface="Arial" pitchFamily="34" charset="-122"/>
                <a:cs typeface="Arial" pitchFamily="34" charset="-120"/>
              </a:rPr>
              <a:t>Actuar</a:t>
            </a:r>
            <a:endParaRPr lang="en-US" sz="1700" dirty="0"/>
          </a:p>
        </p:txBody>
      </p:sp>
      <p:sp>
        <p:nvSpPr>
          <p:cNvPr id="20" name="Text 18"/>
          <p:cNvSpPr/>
          <p:nvPr/>
        </p:nvSpPr>
        <p:spPr>
          <a:xfrm>
            <a:off x="8677656" y="4297680"/>
            <a:ext cx="365760" cy="365760"/>
          </a:xfrm>
          <a:prstGeom prst="rect">
            <a:avLst/>
          </a:prstGeom>
          <a:noFill/>
          <a:ln/>
        </p:spPr>
        <p:txBody>
          <a:bodyPr wrap="square" lIns="0" tIns="0" rIns="0" bIns="0" rtlCol="0" anchor="ctr"/>
          <a:lstStyle/>
          <a:p>
            <a:pPr marL="0" indent="0" algn="ctr">
              <a:buNone/>
            </a:pPr>
            <a:r>
              <a:rPr lang="en-US" sz="1700" dirty="0">
                <a:solidFill>
                  <a:srgbClr val="E04E39"/>
                </a:solidFill>
                <a:latin typeface="Arial" pitchFamily="34" charset="0"/>
                <a:ea typeface="Arial" pitchFamily="34" charset="-122"/>
                <a:cs typeface="Arial" pitchFamily="34" charset="-120"/>
              </a:rPr>
              <a:t>→</a:t>
            </a:r>
            <a:endParaRPr lang="en-US" sz="1700" dirty="0"/>
          </a:p>
        </p:txBody>
      </p:sp>
      <p:sp>
        <p:nvSpPr>
          <p:cNvPr id="21" name="Shape 19"/>
          <p:cNvSpPr/>
          <p:nvPr/>
        </p:nvSpPr>
        <p:spPr>
          <a:xfrm>
            <a:off x="9061704" y="4023360"/>
            <a:ext cx="2331720" cy="914400"/>
          </a:xfrm>
          <a:prstGeom prst="roundRect">
            <a:avLst>
              <a:gd name="adj" fmla="val 6000"/>
            </a:avLst>
          </a:prstGeom>
          <a:solidFill>
            <a:srgbClr val="F6F6F5"/>
          </a:solidFill>
          <a:ln w="12700">
            <a:solidFill>
              <a:srgbClr val="F6F6F5"/>
            </a:solidFill>
            <a:prstDash val="solid"/>
          </a:ln>
        </p:spPr>
        <p:txBody>
          <a:bodyPr/>
          <a:lstStyle/>
          <a:p>
            <a:endParaRPr lang="en-AR"/>
          </a:p>
        </p:txBody>
      </p:sp>
      <p:sp>
        <p:nvSpPr>
          <p:cNvPr id="22" name="Text 20"/>
          <p:cNvSpPr/>
          <p:nvPr/>
        </p:nvSpPr>
        <p:spPr>
          <a:xfrm>
            <a:off x="9061704" y="4279392"/>
            <a:ext cx="2331720" cy="411480"/>
          </a:xfrm>
          <a:prstGeom prst="rect">
            <a:avLst/>
          </a:prstGeom>
          <a:noFill/>
          <a:ln/>
        </p:spPr>
        <p:txBody>
          <a:bodyPr wrap="square" lIns="0" tIns="0" rIns="0" bIns="0" rtlCol="0" anchor="ctr"/>
          <a:lstStyle/>
          <a:p>
            <a:pPr marL="0" indent="0" algn="ctr">
              <a:buNone/>
            </a:pPr>
            <a:r>
              <a:rPr lang="en-US" sz="1700" b="1" dirty="0">
                <a:solidFill>
                  <a:srgbClr val="111114"/>
                </a:solidFill>
                <a:latin typeface="Arial" pitchFamily="34" charset="0"/>
                <a:ea typeface="Arial" pitchFamily="34" charset="-122"/>
                <a:cs typeface="Arial" pitchFamily="34" charset="-120"/>
              </a:rPr>
              <a:t>Aprender</a:t>
            </a:r>
            <a:endParaRPr lang="en-US" sz="1700" dirty="0"/>
          </a:p>
        </p:txBody>
      </p:sp>
      <p:sp>
        <p:nvSpPr>
          <p:cNvPr id="23" name="Text 21"/>
          <p:cNvSpPr/>
          <p:nvPr/>
        </p:nvSpPr>
        <p:spPr>
          <a:xfrm>
            <a:off x="777240" y="5120640"/>
            <a:ext cx="10637215" cy="365760"/>
          </a:xfrm>
          <a:prstGeom prst="rect">
            <a:avLst/>
          </a:prstGeom>
          <a:noFill/>
          <a:ln/>
        </p:spPr>
        <p:txBody>
          <a:bodyPr wrap="square" lIns="0" tIns="0" rIns="0" bIns="0" rtlCol="0" anchor="ctr"/>
          <a:lstStyle/>
          <a:p>
            <a:pPr marL="0" indent="0" algn="ctr">
              <a:buNone/>
            </a:pPr>
            <a:r>
              <a:rPr lang="en-US" sz="1350" dirty="0">
                <a:solidFill>
                  <a:srgbClr val="E04E39"/>
                </a:solidFill>
                <a:latin typeface="Arial" pitchFamily="34" charset="0"/>
                <a:ea typeface="Arial" pitchFamily="34" charset="-122"/>
                <a:cs typeface="Arial" pitchFamily="34" charset="-120"/>
              </a:rPr>
              <a:t>↺  y vuelve a empezar, hasta cumplir el objetivo</a:t>
            </a:r>
            <a:endParaRPr lang="en-US" sz="1350" dirty="0"/>
          </a:p>
        </p:txBody>
      </p:sp>
      <p:sp>
        <p:nvSpPr>
          <p:cNvPr id="24" name="Text 22"/>
          <p:cNvSpPr/>
          <p:nvPr/>
        </p:nvSpPr>
        <p:spPr>
          <a:xfrm>
            <a:off x="10865815" y="6291072"/>
            <a:ext cx="548640" cy="274320"/>
          </a:xfrm>
          <a:prstGeom prst="rect">
            <a:avLst/>
          </a:prstGeom>
          <a:noFill/>
          <a:ln/>
        </p:spPr>
        <p:txBody>
          <a:bodyPr wrap="square" lIns="0" tIns="0" rIns="0" bIns="0" rtlCol="0" anchor="ctr"/>
          <a:lstStyle/>
          <a:p>
            <a:pPr marL="0" indent="0" algn="r">
              <a:buNone/>
            </a:pPr>
            <a:r>
              <a:rPr lang="en-US" sz="900" dirty="0">
                <a:solidFill>
                  <a:srgbClr val="9A9AA0"/>
                </a:solidFill>
                <a:latin typeface="Arial" pitchFamily="34" charset="0"/>
                <a:ea typeface="Arial" pitchFamily="34" charset="-122"/>
                <a:cs typeface="Arial" pitchFamily="34" charset="-120"/>
              </a:rPr>
              <a:t>21</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420624"/>
            <a:ext cx="10637215" cy="237744"/>
          </a:xfrm>
          <a:prstGeom prst="rect">
            <a:avLst/>
          </a:prstGeom>
          <a:noFill/>
          <a:ln/>
        </p:spPr>
        <p:txBody>
          <a:bodyPr wrap="square" lIns="0" tIns="0" rIns="0" bIns="0" rtlCol="0" anchor="ctr"/>
          <a:lstStyle/>
          <a:p>
            <a:pPr marL="0" indent="0">
              <a:buNone/>
            </a:pPr>
            <a:r>
              <a:rPr lang="en-US" sz="1050" b="1" kern="0" spc="200" dirty="0">
                <a:solidFill>
                  <a:srgbClr val="E04E39"/>
                </a:solidFill>
                <a:latin typeface="Arial" pitchFamily="34" charset="0"/>
                <a:ea typeface="Arial" pitchFamily="34" charset="-122"/>
                <a:cs typeface="Arial" pitchFamily="34" charset="-120"/>
              </a:rPr>
              <a:t>EN LA PRÁCTICA</a:t>
            </a:r>
            <a:endParaRPr lang="en-US" sz="1050" dirty="0"/>
          </a:p>
        </p:txBody>
      </p:sp>
      <p:sp>
        <p:nvSpPr>
          <p:cNvPr id="3" name="Text 1"/>
          <p:cNvSpPr/>
          <p:nvPr/>
        </p:nvSpPr>
        <p:spPr>
          <a:xfrm>
            <a:off x="777240" y="694944"/>
            <a:ext cx="10637215" cy="566928"/>
          </a:xfrm>
          <a:prstGeom prst="rect">
            <a:avLst/>
          </a:prstGeom>
          <a:noFill/>
          <a:ln/>
        </p:spPr>
        <p:txBody>
          <a:bodyPr wrap="square" lIns="0" tIns="0" rIns="0" bIns="0" rtlCol="0" anchor="t"/>
          <a:lstStyle/>
          <a:p>
            <a:pPr marL="0" indent="0">
              <a:lnSpc>
                <a:spcPts val="3400"/>
              </a:lnSpc>
              <a:buNone/>
            </a:pPr>
            <a:r>
              <a:rPr lang="en-US" sz="3000" b="1" dirty="0">
                <a:solidFill>
                  <a:srgbClr val="111114"/>
                </a:solidFill>
                <a:latin typeface="Arial" pitchFamily="34" charset="0"/>
                <a:ea typeface="Arial" pitchFamily="34" charset="-122"/>
                <a:cs typeface="Arial" pitchFamily="34" charset="-120"/>
              </a:rPr>
              <a:t>Qué hace un agente, concretamente</a:t>
            </a:r>
            <a:endParaRPr lang="en-US" sz="3000" dirty="0"/>
          </a:p>
        </p:txBody>
      </p:sp>
      <p:sp>
        <p:nvSpPr>
          <p:cNvPr id="4" name="Shape 2"/>
          <p:cNvSpPr/>
          <p:nvPr/>
        </p:nvSpPr>
        <p:spPr>
          <a:xfrm>
            <a:off x="777240" y="1737360"/>
            <a:ext cx="384048" cy="384048"/>
          </a:xfrm>
          <a:prstGeom prst="ellipse">
            <a:avLst/>
          </a:prstGeom>
          <a:solidFill>
            <a:srgbClr val="F6F6F5"/>
          </a:solidFill>
          <a:ln w="12700">
            <a:solidFill>
              <a:srgbClr val="333333"/>
            </a:solidFill>
            <a:prstDash val="solid"/>
          </a:ln>
        </p:spPr>
        <p:txBody>
          <a:bodyPr/>
          <a:lstStyle/>
          <a:p>
            <a:endParaRPr lang="en-AR"/>
          </a:p>
        </p:txBody>
      </p:sp>
      <p:sp>
        <p:nvSpPr>
          <p:cNvPr id="5" name="Text 3"/>
          <p:cNvSpPr/>
          <p:nvPr/>
        </p:nvSpPr>
        <p:spPr>
          <a:xfrm>
            <a:off x="777240" y="1801368"/>
            <a:ext cx="384048" cy="274320"/>
          </a:xfrm>
          <a:prstGeom prst="rect">
            <a:avLst/>
          </a:prstGeom>
          <a:noFill/>
          <a:ln/>
        </p:spPr>
        <p:txBody>
          <a:bodyPr wrap="square" lIns="0" tIns="0" rIns="0" bIns="0" rtlCol="0" anchor="ctr"/>
          <a:lstStyle/>
          <a:p>
            <a:pPr marL="0" indent="0" algn="ctr">
              <a:buNone/>
            </a:pPr>
            <a:r>
              <a:rPr lang="en-US" sz="1300" b="1" dirty="0">
                <a:solidFill>
                  <a:srgbClr val="E04E39"/>
                </a:solidFill>
                <a:latin typeface="Arial" pitchFamily="34" charset="0"/>
                <a:ea typeface="Arial" pitchFamily="34" charset="-122"/>
                <a:cs typeface="Arial" pitchFamily="34" charset="-120"/>
              </a:rPr>
              <a:t>1</a:t>
            </a:r>
            <a:endParaRPr lang="en-US" sz="1300" dirty="0"/>
          </a:p>
        </p:txBody>
      </p:sp>
      <p:sp>
        <p:nvSpPr>
          <p:cNvPr id="6" name="Text 4"/>
          <p:cNvSpPr/>
          <p:nvPr/>
        </p:nvSpPr>
        <p:spPr>
          <a:xfrm>
            <a:off x="1417320" y="1700784"/>
            <a:ext cx="2103120" cy="365760"/>
          </a:xfrm>
          <a:prstGeom prst="rect">
            <a:avLst/>
          </a:prstGeom>
          <a:noFill/>
          <a:ln/>
        </p:spPr>
        <p:txBody>
          <a:bodyPr wrap="square" lIns="0" tIns="0" rIns="0" bIns="0" rtlCol="0" anchor="ctr"/>
          <a:lstStyle/>
          <a:p>
            <a:pPr marL="0" indent="0">
              <a:buNone/>
            </a:pPr>
            <a:r>
              <a:rPr lang="en-US" sz="1800" b="1" dirty="0">
                <a:solidFill>
                  <a:srgbClr val="111114"/>
                </a:solidFill>
                <a:latin typeface="Arial" pitchFamily="34" charset="0"/>
                <a:ea typeface="Arial" pitchFamily="34" charset="-122"/>
                <a:cs typeface="Arial" pitchFamily="34" charset="-120"/>
              </a:rPr>
              <a:t>Código</a:t>
            </a:r>
            <a:endParaRPr lang="en-US" sz="1800" dirty="0"/>
          </a:p>
        </p:txBody>
      </p:sp>
      <p:sp>
        <p:nvSpPr>
          <p:cNvPr id="7" name="Text 5"/>
          <p:cNvSpPr/>
          <p:nvPr/>
        </p:nvSpPr>
        <p:spPr>
          <a:xfrm>
            <a:off x="3611880" y="1673352"/>
            <a:ext cx="7802575" cy="777240"/>
          </a:xfrm>
          <a:prstGeom prst="rect">
            <a:avLst/>
          </a:prstGeom>
          <a:noFill/>
          <a:ln/>
        </p:spPr>
        <p:txBody>
          <a:bodyPr wrap="square" lIns="0" tIns="0" rIns="0" bIns="0" rtlCol="0" anchor="ctr"/>
          <a:lstStyle/>
          <a:p>
            <a:pPr marL="0" indent="0">
              <a:lnSpc>
                <a:spcPts val="1900"/>
              </a:lnSpc>
              <a:buNone/>
            </a:pPr>
            <a:r>
              <a:rPr lang="en-US" sz="1350" dirty="0">
                <a:solidFill>
                  <a:srgbClr val="3A3A40"/>
                </a:solidFill>
                <a:latin typeface="Arial" pitchFamily="34" charset="0"/>
                <a:ea typeface="Arial" pitchFamily="34" charset="-122"/>
                <a:cs typeface="Arial" pitchFamily="34" charset="-120"/>
              </a:rPr>
              <a:t>Claude Code, Codex y Cursor operan sobre un repositorio entero: leen, escriben, prueban y despliegan sin que nadie les dicte los pasos.</a:t>
            </a:r>
            <a:endParaRPr lang="en-US" sz="1350" dirty="0"/>
          </a:p>
        </p:txBody>
      </p:sp>
      <p:sp>
        <p:nvSpPr>
          <p:cNvPr id="8" name="Shape 6"/>
          <p:cNvSpPr/>
          <p:nvPr/>
        </p:nvSpPr>
        <p:spPr>
          <a:xfrm>
            <a:off x="777240" y="2880360"/>
            <a:ext cx="384048" cy="384048"/>
          </a:xfrm>
          <a:prstGeom prst="ellipse">
            <a:avLst/>
          </a:prstGeom>
          <a:solidFill>
            <a:srgbClr val="F6F6F5"/>
          </a:solidFill>
          <a:ln w="12700">
            <a:solidFill>
              <a:srgbClr val="333333"/>
            </a:solidFill>
            <a:prstDash val="solid"/>
          </a:ln>
        </p:spPr>
        <p:txBody>
          <a:bodyPr/>
          <a:lstStyle/>
          <a:p>
            <a:endParaRPr lang="en-AR"/>
          </a:p>
        </p:txBody>
      </p:sp>
      <p:sp>
        <p:nvSpPr>
          <p:cNvPr id="9" name="Text 7"/>
          <p:cNvSpPr/>
          <p:nvPr/>
        </p:nvSpPr>
        <p:spPr>
          <a:xfrm>
            <a:off x="777240" y="2944368"/>
            <a:ext cx="384048" cy="274320"/>
          </a:xfrm>
          <a:prstGeom prst="rect">
            <a:avLst/>
          </a:prstGeom>
          <a:noFill/>
          <a:ln/>
        </p:spPr>
        <p:txBody>
          <a:bodyPr wrap="square" lIns="0" tIns="0" rIns="0" bIns="0" rtlCol="0" anchor="ctr"/>
          <a:lstStyle/>
          <a:p>
            <a:pPr marL="0" indent="0" algn="ctr">
              <a:buNone/>
            </a:pPr>
            <a:r>
              <a:rPr lang="en-US" sz="1300" b="1" dirty="0">
                <a:solidFill>
                  <a:srgbClr val="E04E39"/>
                </a:solidFill>
                <a:latin typeface="Arial" pitchFamily="34" charset="0"/>
                <a:ea typeface="Arial" pitchFamily="34" charset="-122"/>
                <a:cs typeface="Arial" pitchFamily="34" charset="-120"/>
              </a:rPr>
              <a:t>2</a:t>
            </a:r>
            <a:endParaRPr lang="en-US" sz="1300" dirty="0"/>
          </a:p>
        </p:txBody>
      </p:sp>
      <p:sp>
        <p:nvSpPr>
          <p:cNvPr id="10" name="Text 8"/>
          <p:cNvSpPr/>
          <p:nvPr/>
        </p:nvSpPr>
        <p:spPr>
          <a:xfrm>
            <a:off x="1417320" y="2843784"/>
            <a:ext cx="2103120" cy="365760"/>
          </a:xfrm>
          <a:prstGeom prst="rect">
            <a:avLst/>
          </a:prstGeom>
          <a:noFill/>
          <a:ln/>
        </p:spPr>
        <p:txBody>
          <a:bodyPr wrap="square" lIns="0" tIns="0" rIns="0" bIns="0" rtlCol="0" anchor="ctr"/>
          <a:lstStyle/>
          <a:p>
            <a:pPr marL="0" indent="0">
              <a:buNone/>
            </a:pPr>
            <a:r>
              <a:rPr lang="en-US" sz="1800" b="1" dirty="0">
                <a:solidFill>
                  <a:srgbClr val="111114"/>
                </a:solidFill>
                <a:latin typeface="Arial" pitchFamily="34" charset="0"/>
                <a:ea typeface="Arial" pitchFamily="34" charset="-122"/>
                <a:cs typeface="Arial" pitchFamily="34" charset="-120"/>
              </a:rPr>
              <a:t>Escritorio</a:t>
            </a:r>
            <a:endParaRPr lang="en-US" sz="1800" dirty="0"/>
          </a:p>
        </p:txBody>
      </p:sp>
      <p:sp>
        <p:nvSpPr>
          <p:cNvPr id="11" name="Text 9"/>
          <p:cNvSpPr/>
          <p:nvPr/>
        </p:nvSpPr>
        <p:spPr>
          <a:xfrm>
            <a:off x="3611880" y="2816352"/>
            <a:ext cx="7802575" cy="777240"/>
          </a:xfrm>
          <a:prstGeom prst="rect">
            <a:avLst/>
          </a:prstGeom>
          <a:noFill/>
          <a:ln/>
        </p:spPr>
        <p:txBody>
          <a:bodyPr wrap="square" lIns="0" tIns="0" rIns="0" bIns="0" rtlCol="0" anchor="ctr"/>
          <a:lstStyle/>
          <a:p>
            <a:pPr marL="0" indent="0">
              <a:lnSpc>
                <a:spcPts val="1900"/>
              </a:lnSpc>
              <a:buNone/>
            </a:pPr>
            <a:r>
              <a:rPr lang="en-US" sz="1350" dirty="0">
                <a:solidFill>
                  <a:srgbClr val="3A3A40"/>
                </a:solidFill>
                <a:latin typeface="Arial" pitchFamily="34" charset="0"/>
                <a:ea typeface="Arial" pitchFamily="34" charset="-122"/>
                <a:cs typeface="Arial" pitchFamily="34" charset="-120"/>
              </a:rPr>
              <a:t>Toman el control del navegador y del sistema: completan formularios, ordenan archivos, redactan y envían correos a partir de una instrucción en lenguaje natural.</a:t>
            </a:r>
            <a:endParaRPr lang="en-US" sz="1350" dirty="0"/>
          </a:p>
        </p:txBody>
      </p:sp>
      <p:sp>
        <p:nvSpPr>
          <p:cNvPr id="12" name="Shape 10"/>
          <p:cNvSpPr/>
          <p:nvPr/>
        </p:nvSpPr>
        <p:spPr>
          <a:xfrm>
            <a:off x="777240" y="4023360"/>
            <a:ext cx="384048" cy="384048"/>
          </a:xfrm>
          <a:prstGeom prst="ellipse">
            <a:avLst/>
          </a:prstGeom>
          <a:solidFill>
            <a:srgbClr val="F6F6F5"/>
          </a:solidFill>
          <a:ln w="12700">
            <a:solidFill>
              <a:srgbClr val="333333"/>
            </a:solidFill>
            <a:prstDash val="solid"/>
          </a:ln>
        </p:spPr>
        <p:txBody>
          <a:bodyPr/>
          <a:lstStyle/>
          <a:p>
            <a:endParaRPr lang="en-AR"/>
          </a:p>
        </p:txBody>
      </p:sp>
      <p:sp>
        <p:nvSpPr>
          <p:cNvPr id="13" name="Text 11"/>
          <p:cNvSpPr/>
          <p:nvPr/>
        </p:nvSpPr>
        <p:spPr>
          <a:xfrm>
            <a:off x="777240" y="4087368"/>
            <a:ext cx="384048" cy="274320"/>
          </a:xfrm>
          <a:prstGeom prst="rect">
            <a:avLst/>
          </a:prstGeom>
          <a:noFill/>
          <a:ln/>
        </p:spPr>
        <p:txBody>
          <a:bodyPr wrap="square" lIns="0" tIns="0" rIns="0" bIns="0" rtlCol="0" anchor="ctr"/>
          <a:lstStyle/>
          <a:p>
            <a:pPr marL="0" indent="0" algn="ctr">
              <a:buNone/>
            </a:pPr>
            <a:r>
              <a:rPr lang="en-US" sz="1300" b="1" dirty="0">
                <a:solidFill>
                  <a:srgbClr val="E04E39"/>
                </a:solidFill>
                <a:latin typeface="Arial" pitchFamily="34" charset="0"/>
                <a:ea typeface="Arial" pitchFamily="34" charset="-122"/>
                <a:cs typeface="Arial" pitchFamily="34" charset="-120"/>
              </a:rPr>
              <a:t>3</a:t>
            </a:r>
            <a:endParaRPr lang="en-US" sz="1300" dirty="0"/>
          </a:p>
        </p:txBody>
      </p:sp>
      <p:sp>
        <p:nvSpPr>
          <p:cNvPr id="14" name="Text 12"/>
          <p:cNvSpPr/>
          <p:nvPr/>
        </p:nvSpPr>
        <p:spPr>
          <a:xfrm>
            <a:off x="1417320" y="3986784"/>
            <a:ext cx="2103120" cy="365760"/>
          </a:xfrm>
          <a:prstGeom prst="rect">
            <a:avLst/>
          </a:prstGeom>
          <a:noFill/>
          <a:ln/>
        </p:spPr>
        <p:txBody>
          <a:bodyPr wrap="square" lIns="0" tIns="0" rIns="0" bIns="0" rtlCol="0" anchor="ctr"/>
          <a:lstStyle/>
          <a:p>
            <a:pPr marL="0" indent="0">
              <a:buNone/>
            </a:pPr>
            <a:r>
              <a:rPr lang="en-US" sz="1800" b="1" dirty="0">
                <a:solidFill>
                  <a:srgbClr val="111114"/>
                </a:solidFill>
                <a:latin typeface="Arial" pitchFamily="34" charset="0"/>
                <a:ea typeface="Arial" pitchFamily="34" charset="-122"/>
                <a:cs typeface="Arial" pitchFamily="34" charset="-120"/>
              </a:rPr>
              <a:t>Investigación</a:t>
            </a:r>
            <a:endParaRPr lang="en-US" sz="1800" dirty="0"/>
          </a:p>
        </p:txBody>
      </p:sp>
      <p:sp>
        <p:nvSpPr>
          <p:cNvPr id="15" name="Text 13"/>
          <p:cNvSpPr/>
          <p:nvPr/>
        </p:nvSpPr>
        <p:spPr>
          <a:xfrm>
            <a:off x="3611880" y="3959352"/>
            <a:ext cx="7802575" cy="777240"/>
          </a:xfrm>
          <a:prstGeom prst="rect">
            <a:avLst/>
          </a:prstGeom>
          <a:noFill/>
          <a:ln/>
        </p:spPr>
        <p:txBody>
          <a:bodyPr wrap="square" lIns="0" tIns="0" rIns="0" bIns="0" rtlCol="0" anchor="ctr"/>
          <a:lstStyle/>
          <a:p>
            <a:pPr marL="0" indent="0">
              <a:lnSpc>
                <a:spcPts val="1900"/>
              </a:lnSpc>
              <a:buNone/>
            </a:pPr>
            <a:r>
              <a:rPr lang="en-US" sz="1350" dirty="0">
                <a:solidFill>
                  <a:srgbClr val="3A3A40"/>
                </a:solidFill>
                <a:latin typeface="Arial" pitchFamily="34" charset="0"/>
                <a:ea typeface="Arial" pitchFamily="34" charset="-122"/>
                <a:cs typeface="Arial" pitchFamily="34" charset="-120"/>
              </a:rPr>
              <a:t>“Hacé un estado del arte sobre X con fuentes del último año” devuelve un reporte estructurado y referenciado en minutos.</a:t>
            </a:r>
            <a:endParaRPr lang="en-US" sz="1350" dirty="0"/>
          </a:p>
        </p:txBody>
      </p:sp>
      <p:sp>
        <p:nvSpPr>
          <p:cNvPr id="16" name="Shape 14"/>
          <p:cNvSpPr/>
          <p:nvPr/>
        </p:nvSpPr>
        <p:spPr>
          <a:xfrm>
            <a:off x="777240" y="4937760"/>
            <a:ext cx="10637215" cy="1051560"/>
          </a:xfrm>
          <a:prstGeom prst="roundRect">
            <a:avLst>
              <a:gd name="adj" fmla="val 5217"/>
            </a:avLst>
          </a:prstGeom>
          <a:solidFill>
            <a:srgbClr val="111114"/>
          </a:solidFill>
          <a:ln w="12700">
            <a:solidFill>
              <a:srgbClr val="111114"/>
            </a:solidFill>
            <a:prstDash val="solid"/>
          </a:ln>
        </p:spPr>
        <p:txBody>
          <a:bodyPr/>
          <a:lstStyle/>
          <a:p>
            <a:endParaRPr lang="en-AR"/>
          </a:p>
        </p:txBody>
      </p:sp>
      <p:sp>
        <p:nvSpPr>
          <p:cNvPr id="17" name="Text 15"/>
          <p:cNvSpPr/>
          <p:nvPr/>
        </p:nvSpPr>
        <p:spPr>
          <a:xfrm>
            <a:off x="1188720" y="5138928"/>
            <a:ext cx="2743200" cy="274320"/>
          </a:xfrm>
          <a:prstGeom prst="rect">
            <a:avLst/>
          </a:prstGeom>
          <a:noFill/>
          <a:ln/>
        </p:spPr>
        <p:txBody>
          <a:bodyPr wrap="square" lIns="0" tIns="0" rIns="0" bIns="0" rtlCol="0" anchor="ctr"/>
          <a:lstStyle/>
          <a:p>
            <a:pPr marL="0" indent="0">
              <a:buNone/>
            </a:pPr>
            <a:r>
              <a:rPr lang="en-US" sz="1000" b="1" kern="0" spc="200" dirty="0">
                <a:solidFill>
                  <a:srgbClr val="E04E39"/>
                </a:solidFill>
                <a:latin typeface="Arial" pitchFamily="34" charset="0"/>
                <a:ea typeface="Arial" pitchFamily="34" charset="-122"/>
                <a:cs typeface="Arial" pitchFamily="34" charset="-120"/>
              </a:rPr>
              <a:t>DEMO EN VIVO</a:t>
            </a:r>
            <a:endParaRPr lang="en-US" sz="1000" dirty="0"/>
          </a:p>
        </p:txBody>
      </p:sp>
      <p:sp>
        <p:nvSpPr>
          <p:cNvPr id="18" name="Text 16"/>
          <p:cNvSpPr/>
          <p:nvPr/>
        </p:nvSpPr>
        <p:spPr>
          <a:xfrm>
            <a:off x="1188720" y="5440680"/>
            <a:ext cx="9814255" cy="365760"/>
          </a:xfrm>
          <a:prstGeom prst="rect">
            <a:avLst/>
          </a:prstGeom>
          <a:noFill/>
          <a:ln/>
        </p:spPr>
        <p:txBody>
          <a:bodyPr wrap="square" lIns="0" tIns="0" rIns="0" bIns="0" rtlCol="0" anchor="ctr"/>
          <a:lstStyle/>
          <a:p>
            <a:pPr marL="0" indent="0">
              <a:buNone/>
            </a:pPr>
            <a:r>
              <a:rPr lang="en-US" sz="1450" dirty="0">
                <a:solidFill>
                  <a:srgbClr val="FFFFFF"/>
                </a:solidFill>
                <a:latin typeface="Arial" pitchFamily="34" charset="0"/>
                <a:ea typeface="Arial" pitchFamily="34" charset="-122"/>
                <a:cs typeface="Arial" pitchFamily="34" charset="-120"/>
              </a:rPr>
              <a:t>Cinco minutos mostrando un agente resolver una tarea real valen más que diez diapositivas.</a:t>
            </a:r>
            <a:endParaRPr lang="en-US" sz="1450" dirty="0"/>
          </a:p>
        </p:txBody>
      </p:sp>
      <p:sp>
        <p:nvSpPr>
          <p:cNvPr id="19" name="Text 17"/>
          <p:cNvSpPr/>
          <p:nvPr/>
        </p:nvSpPr>
        <p:spPr>
          <a:xfrm>
            <a:off x="10865815" y="6291072"/>
            <a:ext cx="548640" cy="274320"/>
          </a:xfrm>
          <a:prstGeom prst="rect">
            <a:avLst/>
          </a:prstGeom>
          <a:noFill/>
          <a:ln/>
        </p:spPr>
        <p:txBody>
          <a:bodyPr wrap="square" lIns="0" tIns="0" rIns="0" bIns="0" rtlCol="0" anchor="ctr"/>
          <a:lstStyle/>
          <a:p>
            <a:pPr marL="0" indent="0" algn="r">
              <a:buNone/>
            </a:pPr>
            <a:r>
              <a:rPr lang="en-US" sz="900" dirty="0">
                <a:solidFill>
                  <a:srgbClr val="9A9AA0"/>
                </a:solidFill>
                <a:latin typeface="Arial" pitchFamily="34" charset="0"/>
                <a:ea typeface="Arial" pitchFamily="34" charset="-122"/>
                <a:cs typeface="Arial" pitchFamily="34" charset="-120"/>
              </a:rPr>
              <a:t>22</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420624"/>
            <a:ext cx="10637215" cy="237744"/>
          </a:xfrm>
          <a:prstGeom prst="rect">
            <a:avLst/>
          </a:prstGeom>
          <a:noFill/>
          <a:ln/>
        </p:spPr>
        <p:txBody>
          <a:bodyPr wrap="square" lIns="0" tIns="0" rIns="0" bIns="0" rtlCol="0" anchor="ctr"/>
          <a:lstStyle/>
          <a:p>
            <a:pPr marL="0" indent="0">
              <a:buNone/>
            </a:pPr>
            <a:r>
              <a:rPr lang="en-US" sz="1050" b="1" kern="0" spc="200" dirty="0">
                <a:solidFill>
                  <a:srgbClr val="E04E39"/>
                </a:solidFill>
                <a:latin typeface="Arial" pitchFamily="34" charset="0"/>
                <a:ea typeface="Arial" pitchFamily="34" charset="-122"/>
                <a:cs typeface="Arial" pitchFamily="34" charset="-120"/>
              </a:rPr>
              <a:t>EVIDENCIA</a:t>
            </a:r>
            <a:endParaRPr lang="en-US" sz="1050" dirty="0"/>
          </a:p>
        </p:txBody>
      </p:sp>
      <p:sp>
        <p:nvSpPr>
          <p:cNvPr id="3" name="Text 1"/>
          <p:cNvSpPr/>
          <p:nvPr/>
        </p:nvSpPr>
        <p:spPr>
          <a:xfrm>
            <a:off x="777240" y="694944"/>
            <a:ext cx="10637215" cy="566928"/>
          </a:xfrm>
          <a:prstGeom prst="rect">
            <a:avLst/>
          </a:prstGeom>
          <a:noFill/>
          <a:ln/>
        </p:spPr>
        <p:txBody>
          <a:bodyPr wrap="square" lIns="0" tIns="0" rIns="0" bIns="0" rtlCol="0" anchor="t"/>
          <a:lstStyle/>
          <a:p>
            <a:pPr marL="0" indent="0">
              <a:lnSpc>
                <a:spcPts val="3400"/>
              </a:lnSpc>
              <a:buNone/>
            </a:pPr>
            <a:r>
              <a:rPr lang="en-US" sz="3000" b="1" dirty="0">
                <a:solidFill>
                  <a:srgbClr val="111114"/>
                </a:solidFill>
                <a:latin typeface="Arial" pitchFamily="34" charset="0"/>
                <a:ea typeface="Arial" pitchFamily="34" charset="-122"/>
                <a:cs typeface="Arial" pitchFamily="34" charset="-120"/>
              </a:rPr>
              <a:t>La autonomía, medida — no opinada</a:t>
            </a:r>
            <a:endParaRPr lang="en-US" sz="3000" dirty="0"/>
          </a:p>
        </p:txBody>
      </p:sp>
      <p:sp>
        <p:nvSpPr>
          <p:cNvPr id="4" name="Text 2"/>
          <p:cNvSpPr/>
          <p:nvPr/>
        </p:nvSpPr>
        <p:spPr>
          <a:xfrm>
            <a:off x="777240" y="1481328"/>
            <a:ext cx="7315200" cy="320040"/>
          </a:xfrm>
          <a:prstGeom prst="rect">
            <a:avLst/>
          </a:prstGeom>
          <a:noFill/>
          <a:ln/>
        </p:spPr>
        <p:txBody>
          <a:bodyPr wrap="square" lIns="0" tIns="0" rIns="0" bIns="0" rtlCol="0" anchor="t"/>
          <a:lstStyle/>
          <a:p>
            <a:pPr marL="0" indent="0">
              <a:lnSpc>
                <a:spcPts val="2030"/>
              </a:lnSpc>
              <a:buNone/>
            </a:pPr>
            <a:r>
              <a:rPr lang="en-US" sz="1400" dirty="0">
                <a:solidFill>
                  <a:srgbClr val="6E6E73"/>
                </a:solidFill>
                <a:latin typeface="Arial" pitchFamily="34" charset="0"/>
                <a:ea typeface="Arial" pitchFamily="34" charset="-122"/>
                <a:cs typeface="Arial" pitchFamily="34" charset="-120"/>
              </a:rPr>
              <a:t>Anthropic instrumentó el uso real de sus agentes y publicó los números en febrero de 2026.</a:t>
            </a:r>
            <a:endParaRPr lang="en-US" sz="1400" dirty="0"/>
          </a:p>
        </p:txBody>
      </p:sp>
      <p:sp>
        <p:nvSpPr>
          <p:cNvPr id="5" name="Text 3"/>
          <p:cNvSpPr/>
          <p:nvPr/>
        </p:nvSpPr>
        <p:spPr>
          <a:xfrm>
            <a:off x="777240" y="1965960"/>
            <a:ext cx="3200400" cy="501445"/>
          </a:xfrm>
          <a:prstGeom prst="rect">
            <a:avLst/>
          </a:prstGeom>
          <a:noFill/>
          <a:ln/>
        </p:spPr>
        <p:txBody>
          <a:bodyPr wrap="square" lIns="0" tIns="0" rIns="0" bIns="0" rtlCol="0" anchor="t"/>
          <a:lstStyle/>
          <a:p>
            <a:pPr marL="0" indent="0">
              <a:buNone/>
            </a:pPr>
            <a:r>
              <a:rPr lang="en-US" sz="3400" b="1" dirty="0">
                <a:solidFill>
                  <a:srgbClr val="E04E39"/>
                </a:solidFill>
                <a:latin typeface="Arial" pitchFamily="34" charset="0"/>
                <a:ea typeface="Arial" pitchFamily="34" charset="-122"/>
                <a:cs typeface="Arial" pitchFamily="34" charset="-120"/>
              </a:rPr>
              <a:t>25 → 45 min</a:t>
            </a:r>
            <a:endParaRPr lang="en-US" sz="3400" dirty="0"/>
          </a:p>
        </p:txBody>
      </p:sp>
      <p:sp>
        <p:nvSpPr>
          <p:cNvPr id="6" name="Text 4"/>
          <p:cNvSpPr/>
          <p:nvPr/>
        </p:nvSpPr>
        <p:spPr>
          <a:xfrm>
            <a:off x="777240" y="2522269"/>
            <a:ext cx="3200400" cy="1051560"/>
          </a:xfrm>
          <a:prstGeom prst="rect">
            <a:avLst/>
          </a:prstGeom>
          <a:noFill/>
          <a:ln/>
        </p:spPr>
        <p:txBody>
          <a:bodyPr wrap="square" lIns="0" tIns="0" rIns="0" bIns="0" rtlCol="0" anchor="t"/>
          <a:lstStyle/>
          <a:p>
            <a:pPr marL="0" indent="0">
              <a:lnSpc>
                <a:spcPts val="1500"/>
              </a:lnSpc>
              <a:buNone/>
            </a:pPr>
            <a:r>
              <a:rPr lang="en-US" sz="1150" dirty="0">
                <a:solidFill>
                  <a:srgbClr val="6E6E73"/>
                </a:solidFill>
                <a:latin typeface="Arial" pitchFamily="34" charset="0"/>
                <a:ea typeface="Arial" pitchFamily="34" charset="-122"/>
                <a:cs typeface="Arial" pitchFamily="34" charset="-120"/>
              </a:rPr>
              <a:t>Duración del turno autónomo en el percentil 99,9. Casi el doble en tres meses.</a:t>
            </a:r>
            <a:endParaRPr lang="en-US" sz="1150" dirty="0"/>
          </a:p>
        </p:txBody>
      </p:sp>
      <p:sp>
        <p:nvSpPr>
          <p:cNvPr id="7" name="Text 5"/>
          <p:cNvSpPr/>
          <p:nvPr/>
        </p:nvSpPr>
        <p:spPr>
          <a:xfrm>
            <a:off x="4480560" y="1965960"/>
            <a:ext cx="3200400" cy="501445"/>
          </a:xfrm>
          <a:prstGeom prst="rect">
            <a:avLst/>
          </a:prstGeom>
          <a:noFill/>
          <a:ln/>
        </p:spPr>
        <p:txBody>
          <a:bodyPr wrap="square" lIns="0" tIns="0" rIns="0" bIns="0" rtlCol="0" anchor="t"/>
          <a:lstStyle/>
          <a:p>
            <a:pPr marL="0" indent="0">
              <a:buNone/>
            </a:pPr>
            <a:r>
              <a:rPr lang="en-US" sz="3400" b="1" dirty="0">
                <a:solidFill>
                  <a:srgbClr val="111114"/>
                </a:solidFill>
                <a:latin typeface="Arial" pitchFamily="34" charset="0"/>
                <a:ea typeface="Arial" pitchFamily="34" charset="-122"/>
                <a:cs typeface="Arial" pitchFamily="34" charset="-120"/>
              </a:rPr>
              <a:t>40%</a:t>
            </a:r>
            <a:endParaRPr lang="en-US" sz="3400" dirty="0"/>
          </a:p>
        </p:txBody>
      </p:sp>
      <p:sp>
        <p:nvSpPr>
          <p:cNvPr id="8" name="Text 6"/>
          <p:cNvSpPr/>
          <p:nvPr/>
        </p:nvSpPr>
        <p:spPr>
          <a:xfrm>
            <a:off x="4480560" y="2522269"/>
            <a:ext cx="3200400" cy="1051560"/>
          </a:xfrm>
          <a:prstGeom prst="rect">
            <a:avLst/>
          </a:prstGeom>
          <a:noFill/>
          <a:ln/>
        </p:spPr>
        <p:txBody>
          <a:bodyPr wrap="square" lIns="0" tIns="0" rIns="0" bIns="0" rtlCol="0" anchor="t"/>
          <a:lstStyle/>
          <a:p>
            <a:pPr marL="0" indent="0">
              <a:lnSpc>
                <a:spcPts val="1500"/>
              </a:lnSpc>
              <a:buNone/>
            </a:pPr>
            <a:r>
              <a:rPr lang="en-US" sz="1150" dirty="0">
                <a:solidFill>
                  <a:srgbClr val="6E6E73"/>
                </a:solidFill>
                <a:latin typeface="Arial" pitchFamily="34" charset="0"/>
                <a:ea typeface="Arial" pitchFamily="34" charset="-122"/>
                <a:cs typeface="Arial" pitchFamily="34" charset="-120"/>
              </a:rPr>
              <a:t>de las sesiones en auto-aprobación total entre usuarios con más de 750 sesiones (20% en novatos).</a:t>
            </a:r>
            <a:endParaRPr lang="en-US" sz="1150" dirty="0"/>
          </a:p>
        </p:txBody>
      </p:sp>
      <p:sp>
        <p:nvSpPr>
          <p:cNvPr id="9" name="Text 7"/>
          <p:cNvSpPr/>
          <p:nvPr/>
        </p:nvSpPr>
        <p:spPr>
          <a:xfrm>
            <a:off x="8183880" y="1965960"/>
            <a:ext cx="3200400" cy="501445"/>
          </a:xfrm>
          <a:prstGeom prst="rect">
            <a:avLst/>
          </a:prstGeom>
          <a:noFill/>
          <a:ln/>
        </p:spPr>
        <p:txBody>
          <a:bodyPr wrap="square" lIns="0" tIns="0" rIns="0" bIns="0" rtlCol="0" anchor="t"/>
          <a:lstStyle/>
          <a:p>
            <a:pPr marL="0" indent="0">
              <a:buNone/>
            </a:pPr>
            <a:r>
              <a:rPr lang="en-US" sz="3400" b="1" dirty="0">
                <a:solidFill>
                  <a:srgbClr val="111114"/>
                </a:solidFill>
                <a:latin typeface="Arial" pitchFamily="34" charset="0"/>
                <a:ea typeface="Arial" pitchFamily="34" charset="-122"/>
                <a:cs typeface="Arial" pitchFamily="34" charset="-120"/>
              </a:rPr>
              <a:t>0,8%</a:t>
            </a:r>
            <a:endParaRPr lang="en-US" sz="3400" dirty="0"/>
          </a:p>
        </p:txBody>
      </p:sp>
      <p:sp>
        <p:nvSpPr>
          <p:cNvPr id="10" name="Text 8"/>
          <p:cNvSpPr/>
          <p:nvPr/>
        </p:nvSpPr>
        <p:spPr>
          <a:xfrm>
            <a:off x="8183880" y="2522269"/>
            <a:ext cx="3200400" cy="1051560"/>
          </a:xfrm>
          <a:prstGeom prst="rect">
            <a:avLst/>
          </a:prstGeom>
          <a:noFill/>
          <a:ln/>
        </p:spPr>
        <p:txBody>
          <a:bodyPr wrap="square" lIns="0" tIns="0" rIns="0" bIns="0" rtlCol="0" anchor="t"/>
          <a:lstStyle/>
          <a:p>
            <a:pPr marL="0" indent="0">
              <a:lnSpc>
                <a:spcPts val="1500"/>
              </a:lnSpc>
              <a:buNone/>
            </a:pPr>
            <a:r>
              <a:rPr lang="en-US" sz="1150" dirty="0">
                <a:solidFill>
                  <a:srgbClr val="6E6E73"/>
                </a:solidFill>
                <a:latin typeface="Arial" pitchFamily="34" charset="0"/>
                <a:ea typeface="Arial" pitchFamily="34" charset="-122"/>
                <a:cs typeface="Arial" pitchFamily="34" charset="-120"/>
              </a:rPr>
              <a:t>de las acciones que ejecuta un agente son irreversibles.</a:t>
            </a:r>
            <a:endParaRPr lang="en-US" sz="1150" dirty="0"/>
          </a:p>
        </p:txBody>
      </p:sp>
      <p:sp>
        <p:nvSpPr>
          <p:cNvPr id="11" name="Shape 9"/>
          <p:cNvSpPr/>
          <p:nvPr/>
        </p:nvSpPr>
        <p:spPr>
          <a:xfrm>
            <a:off x="777240" y="3611880"/>
            <a:ext cx="10637215" cy="10973"/>
          </a:xfrm>
          <a:prstGeom prst="rect">
            <a:avLst/>
          </a:prstGeom>
          <a:solidFill>
            <a:srgbClr val="E4E4E6"/>
          </a:solidFill>
          <a:ln w="12700">
            <a:solidFill>
              <a:srgbClr val="333333"/>
            </a:solidFill>
            <a:prstDash val="solid"/>
          </a:ln>
        </p:spPr>
        <p:txBody>
          <a:bodyPr/>
          <a:lstStyle/>
          <a:p>
            <a:endParaRPr lang="en-AR"/>
          </a:p>
        </p:txBody>
      </p:sp>
      <p:sp>
        <p:nvSpPr>
          <p:cNvPr id="12" name="Text 10"/>
          <p:cNvSpPr/>
          <p:nvPr/>
        </p:nvSpPr>
        <p:spPr>
          <a:xfrm>
            <a:off x="777240" y="3840480"/>
            <a:ext cx="10637215" cy="548640"/>
          </a:xfrm>
          <a:prstGeom prst="rect">
            <a:avLst/>
          </a:prstGeom>
          <a:noFill/>
          <a:ln/>
        </p:spPr>
        <p:txBody>
          <a:bodyPr wrap="square" lIns="0" tIns="0" rIns="0" bIns="0" rtlCol="0" anchor="ctr"/>
          <a:lstStyle/>
          <a:p>
            <a:pPr marL="0" indent="0">
              <a:lnSpc>
                <a:spcPts val="1900"/>
              </a:lnSpc>
              <a:buNone/>
            </a:pPr>
            <a:r>
              <a:rPr lang="en-US" sz="1400" dirty="0">
                <a:solidFill>
                  <a:srgbClr val="3A3A40"/>
                </a:solidFill>
                <a:latin typeface="Arial" pitchFamily="34" charset="0"/>
                <a:ea typeface="Arial" pitchFamily="34" charset="-122"/>
                <a:cs typeface="Arial" pitchFamily="34" charset="-120"/>
              </a:rPr>
              <a:t>Y algo contraintuitivo: los expertos interrumpen más que los novatos (9% de los turnos contra 5%). Dejan de aprobar acción por acción y pasan a supervisar.</a:t>
            </a:r>
            <a:endParaRPr lang="en-US" sz="1400" dirty="0"/>
          </a:p>
        </p:txBody>
      </p:sp>
      <p:sp>
        <p:nvSpPr>
          <p:cNvPr id="13" name="Shape 11"/>
          <p:cNvSpPr/>
          <p:nvPr/>
        </p:nvSpPr>
        <p:spPr>
          <a:xfrm>
            <a:off x="777240" y="4572000"/>
            <a:ext cx="10637215" cy="1417320"/>
          </a:xfrm>
          <a:prstGeom prst="roundRect">
            <a:avLst>
              <a:gd name="adj" fmla="val 3871"/>
            </a:avLst>
          </a:prstGeom>
          <a:solidFill>
            <a:srgbClr val="111114"/>
          </a:solidFill>
          <a:ln w="12700">
            <a:solidFill>
              <a:srgbClr val="111114"/>
            </a:solidFill>
            <a:prstDash val="solid"/>
          </a:ln>
        </p:spPr>
        <p:txBody>
          <a:bodyPr/>
          <a:lstStyle/>
          <a:p>
            <a:endParaRPr lang="en-AR"/>
          </a:p>
        </p:txBody>
      </p:sp>
      <p:sp>
        <p:nvSpPr>
          <p:cNvPr id="14" name="Text 12"/>
          <p:cNvSpPr/>
          <p:nvPr/>
        </p:nvSpPr>
        <p:spPr>
          <a:xfrm>
            <a:off x="1234440" y="4800600"/>
            <a:ext cx="4572000" cy="365760"/>
          </a:xfrm>
          <a:prstGeom prst="rect">
            <a:avLst/>
          </a:prstGeom>
          <a:noFill/>
          <a:ln/>
        </p:spPr>
        <p:txBody>
          <a:bodyPr wrap="square" lIns="0" tIns="0" rIns="0" bIns="0" rtlCol="0" anchor="ctr"/>
          <a:lstStyle/>
          <a:p>
            <a:pPr marL="0" indent="0">
              <a:buNone/>
            </a:pPr>
            <a:r>
              <a:rPr lang="en-US" sz="1900" b="1" dirty="0">
                <a:solidFill>
                  <a:srgbClr val="E04E39"/>
                </a:solidFill>
                <a:latin typeface="Arial" pitchFamily="34" charset="0"/>
                <a:ea typeface="Arial" pitchFamily="34" charset="-122"/>
                <a:cs typeface="Arial" pitchFamily="34" charset="-120"/>
              </a:rPr>
              <a:t>“Deployment overhang”</a:t>
            </a:r>
            <a:endParaRPr lang="en-US" sz="1900" dirty="0"/>
          </a:p>
        </p:txBody>
      </p:sp>
      <p:sp>
        <p:nvSpPr>
          <p:cNvPr id="15" name="Text 13"/>
          <p:cNvSpPr/>
          <p:nvPr/>
        </p:nvSpPr>
        <p:spPr>
          <a:xfrm>
            <a:off x="1234440" y="5230368"/>
            <a:ext cx="9722815" cy="640080"/>
          </a:xfrm>
          <a:prstGeom prst="rect">
            <a:avLst/>
          </a:prstGeom>
          <a:noFill/>
          <a:ln/>
        </p:spPr>
        <p:txBody>
          <a:bodyPr wrap="square" lIns="0" tIns="0" rIns="0" bIns="0" rtlCol="0" anchor="ctr"/>
          <a:lstStyle/>
          <a:p>
            <a:pPr marL="0" indent="0">
              <a:lnSpc>
                <a:spcPts val="1900"/>
              </a:lnSpc>
              <a:buNone/>
            </a:pPr>
            <a:r>
              <a:rPr lang="en-US" sz="1400" dirty="0">
                <a:solidFill>
                  <a:srgbClr val="D8D8DC"/>
                </a:solidFill>
                <a:latin typeface="Arial" pitchFamily="34" charset="0"/>
                <a:ea typeface="Arial" pitchFamily="34" charset="-122"/>
                <a:cs typeface="Arial" pitchFamily="34" charset="-120"/>
              </a:rPr>
              <a:t>La conclusión del propio paper: los modelos toleran más autonomía de la que los usuarios les dan. El cuello de botella hoy no es la capacidad. Es la confianza, el proceso y el diseño organizacional.</a:t>
            </a:r>
            <a:endParaRPr lang="en-US" sz="1400" dirty="0"/>
          </a:p>
        </p:txBody>
      </p:sp>
      <p:sp>
        <p:nvSpPr>
          <p:cNvPr id="16" name="Text 14"/>
          <p:cNvSpPr/>
          <p:nvPr/>
        </p:nvSpPr>
        <p:spPr>
          <a:xfrm>
            <a:off x="10865815" y="6291072"/>
            <a:ext cx="548640" cy="274320"/>
          </a:xfrm>
          <a:prstGeom prst="rect">
            <a:avLst/>
          </a:prstGeom>
          <a:noFill/>
          <a:ln/>
        </p:spPr>
        <p:txBody>
          <a:bodyPr wrap="square" lIns="0" tIns="0" rIns="0" bIns="0" rtlCol="0" anchor="ctr"/>
          <a:lstStyle/>
          <a:p>
            <a:pPr marL="0" indent="0" algn="r">
              <a:buNone/>
            </a:pPr>
            <a:r>
              <a:rPr lang="en-US" sz="900" dirty="0">
                <a:solidFill>
                  <a:srgbClr val="9A9AA0"/>
                </a:solidFill>
                <a:latin typeface="Arial" pitchFamily="34" charset="0"/>
                <a:ea typeface="Arial" pitchFamily="34" charset="-122"/>
                <a:cs typeface="Arial" pitchFamily="34" charset="-120"/>
              </a:rPr>
              <a:t>23</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4">
    <p:bg>
      <p:bgPr>
        <a:solidFill>
          <a:srgbClr val="111114"/>
        </a:solidFill>
        <a:effectLst/>
      </p:bgPr>
    </p:bg>
    <p:spTree>
      <p:nvGrpSpPr>
        <p:cNvPr id="1" name=""/>
        <p:cNvGrpSpPr/>
        <p:nvPr/>
      </p:nvGrpSpPr>
      <p:grpSpPr>
        <a:xfrm>
          <a:off x="0" y="0"/>
          <a:ext cx="0" cy="0"/>
          <a:chOff x="0" y="0"/>
          <a:chExt cx="0" cy="0"/>
        </a:xfrm>
      </p:grpSpPr>
      <p:sp>
        <p:nvSpPr>
          <p:cNvPr id="2" name="Text 0"/>
          <p:cNvSpPr/>
          <p:nvPr/>
        </p:nvSpPr>
        <p:spPr>
          <a:xfrm>
            <a:off x="777240" y="1371600"/>
            <a:ext cx="1828800" cy="822960"/>
          </a:xfrm>
          <a:prstGeom prst="rect">
            <a:avLst/>
          </a:prstGeom>
          <a:noFill/>
          <a:ln/>
        </p:spPr>
        <p:txBody>
          <a:bodyPr wrap="square" lIns="0" tIns="0" rIns="0" bIns="0" rtlCol="0" anchor="ctr"/>
          <a:lstStyle/>
          <a:p>
            <a:pPr marL="0" indent="0">
              <a:buNone/>
            </a:pPr>
            <a:r>
              <a:rPr lang="en-US" sz="1500" b="1" kern="0" spc="300" dirty="0">
                <a:solidFill>
                  <a:srgbClr val="E04E39"/>
                </a:solidFill>
                <a:latin typeface="Arial" pitchFamily="34" charset="0"/>
                <a:ea typeface="Arial" pitchFamily="34" charset="-122"/>
                <a:cs typeface="Arial" pitchFamily="34" charset="-120"/>
              </a:rPr>
              <a:t>03</a:t>
            </a:r>
            <a:endParaRPr lang="en-US" sz="1500" dirty="0"/>
          </a:p>
        </p:txBody>
      </p:sp>
      <p:sp>
        <p:nvSpPr>
          <p:cNvPr id="3" name="Text 1"/>
          <p:cNvSpPr/>
          <p:nvPr/>
        </p:nvSpPr>
        <p:spPr>
          <a:xfrm>
            <a:off x="777240" y="1783080"/>
            <a:ext cx="7315200" cy="731520"/>
          </a:xfrm>
          <a:prstGeom prst="rect">
            <a:avLst/>
          </a:prstGeom>
          <a:noFill/>
          <a:ln/>
        </p:spPr>
        <p:txBody>
          <a:bodyPr wrap="square" lIns="0" tIns="0" rIns="0" bIns="0" rtlCol="0" anchor="ctr"/>
          <a:lstStyle/>
          <a:p>
            <a:pPr marL="0" indent="0">
              <a:buNone/>
            </a:pPr>
            <a:r>
              <a:rPr lang="en-US" sz="2000" dirty="0">
                <a:solidFill>
                  <a:srgbClr val="8A8A92"/>
                </a:solidFill>
                <a:latin typeface="Arial" pitchFamily="34" charset="0"/>
                <a:ea typeface="Arial" pitchFamily="34" charset="-122"/>
                <a:cs typeface="Arial" pitchFamily="34" charset="-120"/>
              </a:rPr>
              <a:t>Qué está cambiando</a:t>
            </a:r>
            <a:endParaRPr lang="en-US" sz="2000" dirty="0"/>
          </a:p>
        </p:txBody>
      </p:sp>
      <p:sp>
        <p:nvSpPr>
          <p:cNvPr id="4" name="Text 2"/>
          <p:cNvSpPr/>
          <p:nvPr/>
        </p:nvSpPr>
        <p:spPr>
          <a:xfrm>
            <a:off x="777240" y="2651760"/>
            <a:ext cx="9601200" cy="1828800"/>
          </a:xfrm>
          <a:prstGeom prst="rect">
            <a:avLst/>
          </a:prstGeom>
          <a:noFill/>
          <a:ln/>
        </p:spPr>
        <p:txBody>
          <a:bodyPr wrap="square" lIns="0" tIns="0" rIns="0" bIns="0" rtlCol="0" anchor="ctr"/>
          <a:lstStyle/>
          <a:p>
            <a:pPr marL="0" indent="0">
              <a:lnSpc>
                <a:spcPts val="5000"/>
              </a:lnSpc>
              <a:buNone/>
            </a:pPr>
            <a:r>
              <a:rPr lang="en-US" sz="4000" b="1" dirty="0">
                <a:solidFill>
                  <a:srgbClr val="FFFFFF"/>
                </a:solidFill>
                <a:latin typeface="Arial" pitchFamily="34" charset="0"/>
                <a:ea typeface="Arial" pitchFamily="34" charset="-122"/>
                <a:cs typeface="Arial" pitchFamily="34" charset="-120"/>
              </a:rPr>
              <a:t>Código, ciencia</a:t>
            </a:r>
            <a:endParaRPr lang="en-US" sz="4000" dirty="0"/>
          </a:p>
          <a:p>
            <a:pPr marL="0" indent="0">
              <a:lnSpc>
                <a:spcPts val="5000"/>
              </a:lnSpc>
              <a:buNone/>
            </a:pPr>
            <a:r>
              <a:rPr lang="en-US" sz="4000" b="1" dirty="0">
                <a:solidFill>
                  <a:srgbClr val="FFFFFF"/>
                </a:solidFill>
                <a:latin typeface="Arial" pitchFamily="34" charset="0"/>
                <a:ea typeface="Arial" pitchFamily="34" charset="-122"/>
                <a:cs typeface="Arial" pitchFamily="34" charset="-120"/>
              </a:rPr>
              <a:t>y creatividad</a:t>
            </a:r>
            <a:endParaRPr lang="en-US" sz="4000" dirty="0"/>
          </a:p>
        </p:txBody>
      </p:sp>
      <p:sp>
        <p:nvSpPr>
          <p:cNvPr id="5" name="Text 3"/>
          <p:cNvSpPr/>
          <p:nvPr/>
        </p:nvSpPr>
        <p:spPr>
          <a:xfrm>
            <a:off x="777240" y="4663440"/>
            <a:ext cx="7315200" cy="365760"/>
          </a:xfrm>
          <a:prstGeom prst="rect">
            <a:avLst/>
          </a:prstGeom>
          <a:noFill/>
          <a:ln/>
        </p:spPr>
        <p:txBody>
          <a:bodyPr wrap="square" lIns="0" tIns="0" rIns="0" bIns="0" rtlCol="0" anchor="ctr"/>
          <a:lstStyle/>
          <a:p>
            <a:pPr marL="0" indent="0">
              <a:buNone/>
            </a:pPr>
            <a:r>
              <a:rPr lang="en-US" sz="1500" dirty="0">
                <a:solidFill>
                  <a:srgbClr val="8A8A92"/>
                </a:solidFill>
                <a:latin typeface="Arial" pitchFamily="34" charset="0"/>
                <a:ea typeface="Arial" pitchFamily="34" charset="-122"/>
                <a:cs typeface="Arial" pitchFamily="34" charset="-120"/>
              </a:rPr>
              <a:t>Con la letra chica de cada caso.</a:t>
            </a:r>
            <a:endParaRPr lang="en-US" sz="1500" dirty="0"/>
          </a:p>
        </p:txBody>
      </p:sp>
      <p:sp>
        <p:nvSpPr>
          <p:cNvPr id="6" name="Text 4"/>
          <p:cNvSpPr/>
          <p:nvPr/>
        </p:nvSpPr>
        <p:spPr>
          <a:xfrm>
            <a:off x="10865815" y="6291072"/>
            <a:ext cx="548640" cy="274320"/>
          </a:xfrm>
          <a:prstGeom prst="rect">
            <a:avLst/>
          </a:prstGeom>
          <a:noFill/>
          <a:ln/>
        </p:spPr>
        <p:txBody>
          <a:bodyPr wrap="square" lIns="0" tIns="0" rIns="0" bIns="0" rtlCol="0" anchor="ctr"/>
          <a:lstStyle/>
          <a:p>
            <a:pPr marL="0" indent="0" algn="r">
              <a:buNone/>
            </a:pPr>
            <a:r>
              <a:rPr lang="en-US" sz="900" dirty="0">
                <a:solidFill>
                  <a:srgbClr val="55555C"/>
                </a:solidFill>
                <a:latin typeface="Arial" pitchFamily="34" charset="0"/>
                <a:ea typeface="Arial" pitchFamily="34" charset="-122"/>
                <a:cs typeface="Arial" pitchFamily="34" charset="-120"/>
              </a:rPr>
              <a:t>24</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420624"/>
            <a:ext cx="10637215" cy="237744"/>
          </a:xfrm>
          <a:prstGeom prst="rect">
            <a:avLst/>
          </a:prstGeom>
          <a:noFill/>
          <a:ln/>
        </p:spPr>
        <p:txBody>
          <a:bodyPr wrap="square" lIns="0" tIns="0" rIns="0" bIns="0" rtlCol="0" anchor="ctr"/>
          <a:lstStyle/>
          <a:p>
            <a:pPr marL="0" indent="0">
              <a:buNone/>
            </a:pPr>
            <a:r>
              <a:rPr lang="en-US" sz="1050" b="1" kern="0" spc="200" dirty="0">
                <a:solidFill>
                  <a:srgbClr val="E04E39"/>
                </a:solidFill>
                <a:latin typeface="Arial" pitchFamily="34" charset="0"/>
                <a:ea typeface="Arial" pitchFamily="34" charset="-122"/>
                <a:cs typeface="Arial" pitchFamily="34" charset="-120"/>
              </a:rPr>
              <a:t>SOFTWARE</a:t>
            </a:r>
            <a:endParaRPr lang="en-US" sz="1050" dirty="0"/>
          </a:p>
        </p:txBody>
      </p:sp>
      <p:sp>
        <p:nvSpPr>
          <p:cNvPr id="3" name="Text 1"/>
          <p:cNvSpPr/>
          <p:nvPr/>
        </p:nvSpPr>
        <p:spPr>
          <a:xfrm>
            <a:off x="777240" y="694944"/>
            <a:ext cx="10637215" cy="566928"/>
          </a:xfrm>
          <a:prstGeom prst="rect">
            <a:avLst/>
          </a:prstGeom>
          <a:noFill/>
          <a:ln/>
        </p:spPr>
        <p:txBody>
          <a:bodyPr wrap="square" lIns="0" tIns="0" rIns="0" bIns="0" rtlCol="0" anchor="t"/>
          <a:lstStyle/>
          <a:p>
            <a:pPr marL="0" indent="0">
              <a:lnSpc>
                <a:spcPts val="3400"/>
              </a:lnSpc>
              <a:buNone/>
            </a:pPr>
            <a:r>
              <a:rPr lang="en-US" sz="3000" b="1" dirty="0">
                <a:solidFill>
                  <a:srgbClr val="111114"/>
                </a:solidFill>
                <a:latin typeface="Arial" pitchFamily="34" charset="0"/>
                <a:ea typeface="Arial" pitchFamily="34" charset="-122"/>
                <a:cs typeface="Arial" pitchFamily="34" charset="-120"/>
              </a:rPr>
              <a:t>La primera profesión que se transformó</a:t>
            </a:r>
            <a:endParaRPr lang="en-US" sz="3000" dirty="0"/>
          </a:p>
        </p:txBody>
      </p:sp>
      <p:sp>
        <p:nvSpPr>
          <p:cNvPr id="4" name="Text 2"/>
          <p:cNvSpPr/>
          <p:nvPr/>
        </p:nvSpPr>
        <p:spPr>
          <a:xfrm>
            <a:off x="777240" y="1691640"/>
            <a:ext cx="3108960" cy="855406"/>
          </a:xfrm>
          <a:prstGeom prst="rect">
            <a:avLst/>
          </a:prstGeom>
          <a:noFill/>
          <a:ln/>
        </p:spPr>
        <p:txBody>
          <a:bodyPr wrap="square" lIns="0" tIns="0" rIns="0" bIns="0" rtlCol="0" anchor="t"/>
          <a:lstStyle/>
          <a:p>
            <a:pPr marL="0" indent="0">
              <a:buNone/>
            </a:pPr>
            <a:r>
              <a:rPr lang="en-US" sz="5800" b="1" dirty="0">
                <a:solidFill>
                  <a:srgbClr val="E04E39"/>
                </a:solidFill>
                <a:latin typeface="Arial" pitchFamily="34" charset="0"/>
                <a:ea typeface="Arial" pitchFamily="34" charset="-122"/>
                <a:cs typeface="Arial" pitchFamily="34" charset="-120"/>
              </a:rPr>
              <a:t>90%</a:t>
            </a:r>
            <a:endParaRPr lang="en-US" sz="5800" dirty="0"/>
          </a:p>
        </p:txBody>
      </p:sp>
      <p:sp>
        <p:nvSpPr>
          <p:cNvPr id="5" name="Text 3"/>
          <p:cNvSpPr/>
          <p:nvPr/>
        </p:nvSpPr>
        <p:spPr>
          <a:xfrm>
            <a:off x="777240" y="2601910"/>
            <a:ext cx="3108960" cy="1051560"/>
          </a:xfrm>
          <a:prstGeom prst="rect">
            <a:avLst/>
          </a:prstGeom>
          <a:noFill/>
          <a:ln/>
        </p:spPr>
        <p:txBody>
          <a:bodyPr wrap="square" lIns="0" tIns="0" rIns="0" bIns="0" rtlCol="0" anchor="t"/>
          <a:lstStyle/>
          <a:p>
            <a:pPr marL="0" indent="0">
              <a:lnSpc>
                <a:spcPts val="1500"/>
              </a:lnSpc>
              <a:buNone/>
            </a:pPr>
            <a:r>
              <a:rPr lang="en-US" sz="1150" dirty="0">
                <a:solidFill>
                  <a:srgbClr val="6E6E73"/>
                </a:solidFill>
                <a:latin typeface="Arial" pitchFamily="34" charset="0"/>
                <a:ea typeface="Arial" pitchFamily="34" charset="-122"/>
                <a:cs typeface="Arial" pitchFamily="34" charset="-120"/>
              </a:rPr>
              <a:t>de los desarrolladores profesionales usaba alguna herramienta de IA en el trabajo en enero de 2026.</a:t>
            </a:r>
            <a:endParaRPr lang="en-US" sz="1150" dirty="0"/>
          </a:p>
        </p:txBody>
      </p:sp>
      <p:sp>
        <p:nvSpPr>
          <p:cNvPr id="6" name="Text 4"/>
          <p:cNvSpPr/>
          <p:nvPr/>
        </p:nvSpPr>
        <p:spPr>
          <a:xfrm>
            <a:off x="4480560" y="1691640"/>
            <a:ext cx="3200400" cy="855406"/>
          </a:xfrm>
          <a:prstGeom prst="rect">
            <a:avLst/>
          </a:prstGeom>
          <a:noFill/>
          <a:ln/>
        </p:spPr>
        <p:txBody>
          <a:bodyPr wrap="square" lIns="0" tIns="0" rIns="0" bIns="0" rtlCol="0" anchor="t"/>
          <a:lstStyle/>
          <a:p>
            <a:pPr marL="0" indent="0">
              <a:buNone/>
            </a:pPr>
            <a:r>
              <a:rPr lang="en-US" sz="5800" b="1" dirty="0">
                <a:solidFill>
                  <a:srgbClr val="111114"/>
                </a:solidFill>
                <a:latin typeface="Arial" pitchFamily="34" charset="0"/>
                <a:ea typeface="Arial" pitchFamily="34" charset="-122"/>
                <a:cs typeface="Arial" pitchFamily="34" charset="-120"/>
              </a:rPr>
              <a:t>80-90%</a:t>
            </a:r>
            <a:endParaRPr lang="en-US" sz="5800" dirty="0"/>
          </a:p>
        </p:txBody>
      </p:sp>
      <p:sp>
        <p:nvSpPr>
          <p:cNvPr id="7" name="Text 5"/>
          <p:cNvSpPr/>
          <p:nvPr/>
        </p:nvSpPr>
        <p:spPr>
          <a:xfrm>
            <a:off x="4480560" y="2601910"/>
            <a:ext cx="3200400" cy="1051560"/>
          </a:xfrm>
          <a:prstGeom prst="rect">
            <a:avLst/>
          </a:prstGeom>
          <a:noFill/>
          <a:ln/>
        </p:spPr>
        <p:txBody>
          <a:bodyPr wrap="square" lIns="0" tIns="0" rIns="0" bIns="0" rtlCol="0" anchor="t"/>
          <a:lstStyle/>
          <a:p>
            <a:pPr marL="0" indent="0">
              <a:lnSpc>
                <a:spcPts val="1500"/>
              </a:lnSpc>
              <a:buNone/>
            </a:pPr>
            <a:r>
              <a:rPr lang="en-US" sz="1150" dirty="0">
                <a:solidFill>
                  <a:srgbClr val="6E6E73"/>
                </a:solidFill>
                <a:latin typeface="Arial" pitchFamily="34" charset="0"/>
                <a:ea typeface="Arial" pitchFamily="34" charset="-122"/>
                <a:cs typeface="Arial" pitchFamily="34" charset="-120"/>
              </a:rPr>
              <a:t>del código nuevo de producción de Anthropic lo escribe Claude. Microsoft ~30%, Google ~25%.</a:t>
            </a:r>
            <a:endParaRPr lang="en-US" sz="1150" dirty="0"/>
          </a:p>
        </p:txBody>
      </p:sp>
      <p:sp>
        <p:nvSpPr>
          <p:cNvPr id="8" name="Text 6"/>
          <p:cNvSpPr/>
          <p:nvPr/>
        </p:nvSpPr>
        <p:spPr>
          <a:xfrm>
            <a:off x="8183880" y="1691640"/>
            <a:ext cx="3200400" cy="855406"/>
          </a:xfrm>
          <a:prstGeom prst="rect">
            <a:avLst/>
          </a:prstGeom>
          <a:noFill/>
          <a:ln/>
        </p:spPr>
        <p:txBody>
          <a:bodyPr wrap="square" lIns="0" tIns="0" rIns="0" bIns="0" rtlCol="0" anchor="t"/>
          <a:lstStyle/>
          <a:p>
            <a:pPr marL="0" indent="0">
              <a:buNone/>
            </a:pPr>
            <a:r>
              <a:rPr lang="en-US" sz="5800" b="1" dirty="0">
                <a:solidFill>
                  <a:srgbClr val="111114"/>
                </a:solidFill>
                <a:latin typeface="Arial" pitchFamily="34" charset="0"/>
                <a:ea typeface="Arial" pitchFamily="34" charset="-122"/>
                <a:cs typeface="Arial" pitchFamily="34" charset="-120"/>
              </a:rPr>
              <a:t>29%</a:t>
            </a:r>
            <a:endParaRPr lang="en-US" sz="5800" dirty="0"/>
          </a:p>
        </p:txBody>
      </p:sp>
      <p:sp>
        <p:nvSpPr>
          <p:cNvPr id="9" name="Text 7"/>
          <p:cNvSpPr/>
          <p:nvPr/>
        </p:nvSpPr>
        <p:spPr>
          <a:xfrm>
            <a:off x="8183880" y="2601910"/>
            <a:ext cx="3200400" cy="1051560"/>
          </a:xfrm>
          <a:prstGeom prst="rect">
            <a:avLst/>
          </a:prstGeom>
          <a:noFill/>
          <a:ln/>
        </p:spPr>
        <p:txBody>
          <a:bodyPr wrap="square" lIns="0" tIns="0" rIns="0" bIns="0" rtlCol="0" anchor="t"/>
          <a:lstStyle/>
          <a:p>
            <a:pPr marL="0" indent="0">
              <a:lnSpc>
                <a:spcPts val="1500"/>
              </a:lnSpc>
              <a:buNone/>
            </a:pPr>
            <a:r>
              <a:rPr lang="en-US" sz="1150" dirty="0">
                <a:solidFill>
                  <a:srgbClr val="6E6E73"/>
                </a:solidFill>
                <a:latin typeface="Arial" pitchFamily="34" charset="0"/>
                <a:ea typeface="Arial" pitchFamily="34" charset="-122"/>
                <a:cs typeface="Arial" pitchFamily="34" charset="-120"/>
              </a:rPr>
              <a:t>de los desarrolladores confía en la exactitud de lo que la IA produce. Eran 40% en 2024.</a:t>
            </a:r>
            <a:endParaRPr lang="en-US" sz="1150" dirty="0"/>
          </a:p>
        </p:txBody>
      </p:sp>
      <p:sp>
        <p:nvSpPr>
          <p:cNvPr id="10" name="Shape 8"/>
          <p:cNvSpPr/>
          <p:nvPr/>
        </p:nvSpPr>
        <p:spPr>
          <a:xfrm>
            <a:off x="777240" y="3840480"/>
            <a:ext cx="10637215" cy="1737360"/>
          </a:xfrm>
          <a:prstGeom prst="roundRect">
            <a:avLst>
              <a:gd name="adj" fmla="val 3158"/>
            </a:avLst>
          </a:prstGeom>
          <a:solidFill>
            <a:srgbClr val="111114"/>
          </a:solidFill>
          <a:ln w="12700">
            <a:solidFill>
              <a:srgbClr val="111114"/>
            </a:solidFill>
            <a:prstDash val="solid"/>
          </a:ln>
        </p:spPr>
        <p:txBody>
          <a:bodyPr/>
          <a:lstStyle/>
          <a:p>
            <a:endParaRPr lang="en-AR"/>
          </a:p>
        </p:txBody>
      </p:sp>
      <p:sp>
        <p:nvSpPr>
          <p:cNvPr id="11" name="Text 9"/>
          <p:cNvSpPr/>
          <p:nvPr/>
        </p:nvSpPr>
        <p:spPr>
          <a:xfrm>
            <a:off x="1234440" y="4096512"/>
            <a:ext cx="3657600" cy="274320"/>
          </a:xfrm>
          <a:prstGeom prst="rect">
            <a:avLst/>
          </a:prstGeom>
          <a:noFill/>
          <a:ln/>
        </p:spPr>
        <p:txBody>
          <a:bodyPr wrap="square" lIns="0" tIns="0" rIns="0" bIns="0" rtlCol="0" anchor="ctr"/>
          <a:lstStyle/>
          <a:p>
            <a:pPr marL="0" indent="0">
              <a:buNone/>
            </a:pPr>
            <a:r>
              <a:rPr lang="en-US" sz="1000" b="1" kern="0" spc="200" dirty="0">
                <a:solidFill>
                  <a:srgbClr val="E04E39"/>
                </a:solidFill>
                <a:latin typeface="Arial" pitchFamily="34" charset="0"/>
                <a:ea typeface="Arial" pitchFamily="34" charset="-122"/>
                <a:cs typeface="Arial" pitchFamily="34" charset="-120"/>
              </a:rPr>
              <a:t>LA ANOMALÍA</a:t>
            </a:r>
            <a:endParaRPr lang="en-US" sz="1000" dirty="0"/>
          </a:p>
        </p:txBody>
      </p:sp>
      <p:sp>
        <p:nvSpPr>
          <p:cNvPr id="12" name="Text 10"/>
          <p:cNvSpPr/>
          <p:nvPr/>
        </p:nvSpPr>
        <p:spPr>
          <a:xfrm>
            <a:off x="1234440" y="4434840"/>
            <a:ext cx="9722815" cy="365760"/>
          </a:xfrm>
          <a:prstGeom prst="rect">
            <a:avLst/>
          </a:prstGeom>
          <a:noFill/>
          <a:ln/>
        </p:spPr>
        <p:txBody>
          <a:bodyPr wrap="square" lIns="0" tIns="0" rIns="0" bIns="0" rtlCol="0" anchor="ctr"/>
          <a:lstStyle/>
          <a:p>
            <a:pPr marL="0" indent="0">
              <a:buNone/>
            </a:pPr>
            <a:r>
              <a:rPr lang="en-US" sz="2100" b="1" dirty="0">
                <a:solidFill>
                  <a:srgbClr val="FFFFFF"/>
                </a:solidFill>
                <a:latin typeface="Arial" pitchFamily="34" charset="0"/>
                <a:ea typeface="Arial" pitchFamily="34" charset="-122"/>
                <a:cs typeface="Arial" pitchFamily="34" charset="-120"/>
              </a:rPr>
              <a:t>El uso sube y la confianza baja al mismo tiempo.</a:t>
            </a:r>
            <a:endParaRPr lang="en-US" sz="2100" dirty="0"/>
          </a:p>
        </p:txBody>
      </p:sp>
      <p:sp>
        <p:nvSpPr>
          <p:cNvPr id="13" name="Text 11"/>
          <p:cNvSpPr/>
          <p:nvPr/>
        </p:nvSpPr>
        <p:spPr>
          <a:xfrm>
            <a:off x="1234440" y="4919472"/>
            <a:ext cx="9722815" cy="457200"/>
          </a:xfrm>
          <a:prstGeom prst="rect">
            <a:avLst/>
          </a:prstGeom>
          <a:noFill/>
          <a:ln/>
        </p:spPr>
        <p:txBody>
          <a:bodyPr wrap="square" lIns="0" tIns="0" rIns="0" bIns="0" rtlCol="0" anchor="t"/>
          <a:lstStyle/>
          <a:p>
            <a:pPr marL="0" indent="0">
              <a:buNone/>
            </a:pPr>
            <a:r>
              <a:rPr lang="en-US" sz="1400" dirty="0">
                <a:solidFill>
                  <a:srgbClr val="9A9AA2"/>
                </a:solidFill>
                <a:latin typeface="Arial" pitchFamily="34" charset="0"/>
                <a:ea typeface="Arial" pitchFamily="34" charset="-122"/>
                <a:cs typeface="Arial" pitchFamily="34" charset="-120"/>
              </a:rPr>
              <a:t>Eso casi nunca pasa con una tecnología: normalmente la confianza crece con el uso. ¿Por qué acá no?</a:t>
            </a:r>
            <a:endParaRPr lang="en-US" sz="1400" dirty="0"/>
          </a:p>
        </p:txBody>
      </p:sp>
      <p:sp>
        <p:nvSpPr>
          <p:cNvPr id="14" name="Text 12"/>
          <p:cNvSpPr/>
          <p:nvPr/>
        </p:nvSpPr>
        <p:spPr>
          <a:xfrm>
            <a:off x="777240" y="5806440"/>
            <a:ext cx="10637215" cy="320040"/>
          </a:xfrm>
          <a:prstGeom prst="rect">
            <a:avLst/>
          </a:prstGeom>
          <a:noFill/>
          <a:ln/>
        </p:spPr>
        <p:txBody>
          <a:bodyPr wrap="square" lIns="0" tIns="0" rIns="0" bIns="0" rtlCol="0" anchor="t"/>
          <a:lstStyle/>
          <a:p>
            <a:pPr marL="0" indent="0">
              <a:buNone/>
            </a:pPr>
            <a:r>
              <a:rPr lang="en-US" sz="900" i="1" dirty="0">
                <a:solidFill>
                  <a:srgbClr val="9A9AA0"/>
                </a:solidFill>
                <a:latin typeface="Arial" pitchFamily="34" charset="0"/>
                <a:ea typeface="Arial" pitchFamily="34" charset="-122"/>
                <a:cs typeface="Arial" pitchFamily="34" charset="-120"/>
              </a:rPr>
              <a:t>JetBrains AI Pulse (&gt;10.000 desarrolladores, abril 2026) y Stack Overflow (febrero 2026).</a:t>
            </a:r>
            <a:endParaRPr lang="en-US" sz="900" dirty="0"/>
          </a:p>
        </p:txBody>
      </p:sp>
      <p:sp>
        <p:nvSpPr>
          <p:cNvPr id="15" name="Text 13"/>
          <p:cNvSpPr/>
          <p:nvPr/>
        </p:nvSpPr>
        <p:spPr>
          <a:xfrm>
            <a:off x="777240" y="6254496"/>
            <a:ext cx="9905695" cy="310896"/>
          </a:xfrm>
          <a:prstGeom prst="rect">
            <a:avLst/>
          </a:prstGeom>
          <a:noFill/>
          <a:ln/>
        </p:spPr>
        <p:txBody>
          <a:bodyPr wrap="square" lIns="0" tIns="0" rIns="0" bIns="0" rtlCol="0" anchor="t"/>
          <a:lstStyle/>
          <a:p>
            <a:pPr marL="0" indent="0">
              <a:buNone/>
            </a:pPr>
            <a:endParaRPr lang="en-US" sz="900" dirty="0"/>
          </a:p>
        </p:txBody>
      </p:sp>
      <p:sp>
        <p:nvSpPr>
          <p:cNvPr id="16" name="Text 14"/>
          <p:cNvSpPr/>
          <p:nvPr/>
        </p:nvSpPr>
        <p:spPr>
          <a:xfrm>
            <a:off x="10865815" y="6291072"/>
            <a:ext cx="548640" cy="274320"/>
          </a:xfrm>
          <a:prstGeom prst="rect">
            <a:avLst/>
          </a:prstGeom>
          <a:noFill/>
          <a:ln/>
        </p:spPr>
        <p:txBody>
          <a:bodyPr wrap="square" lIns="0" tIns="0" rIns="0" bIns="0" rtlCol="0" anchor="ctr"/>
          <a:lstStyle/>
          <a:p>
            <a:pPr marL="0" indent="0" algn="r">
              <a:buNone/>
            </a:pPr>
            <a:r>
              <a:rPr lang="en-US" sz="900" dirty="0">
                <a:solidFill>
                  <a:srgbClr val="9A9AA0"/>
                </a:solidFill>
                <a:latin typeface="Arial" pitchFamily="34" charset="0"/>
                <a:ea typeface="Arial" pitchFamily="34" charset="-122"/>
                <a:cs typeface="Arial" pitchFamily="34" charset="-120"/>
              </a:rPr>
              <a:t>25</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420624"/>
            <a:ext cx="10637215" cy="237744"/>
          </a:xfrm>
          <a:prstGeom prst="rect">
            <a:avLst/>
          </a:prstGeom>
          <a:noFill/>
          <a:ln/>
        </p:spPr>
        <p:txBody>
          <a:bodyPr wrap="square" lIns="0" tIns="0" rIns="0" bIns="0" rtlCol="0" anchor="ctr"/>
          <a:lstStyle/>
          <a:p>
            <a:pPr marL="0" indent="0">
              <a:buNone/>
            </a:pPr>
            <a:r>
              <a:rPr lang="en-US" sz="1050" b="1" kern="0" spc="200" dirty="0">
                <a:solidFill>
                  <a:srgbClr val="E04E39"/>
                </a:solidFill>
                <a:latin typeface="Arial" pitchFamily="34" charset="0"/>
                <a:ea typeface="Arial" pitchFamily="34" charset="-122"/>
                <a:cs typeface="Arial" pitchFamily="34" charset="-120"/>
              </a:rPr>
              <a:t>VIBE CODING</a:t>
            </a:r>
            <a:endParaRPr lang="en-US" sz="1050" dirty="0"/>
          </a:p>
        </p:txBody>
      </p:sp>
      <p:sp>
        <p:nvSpPr>
          <p:cNvPr id="3" name="Text 1"/>
          <p:cNvSpPr/>
          <p:nvPr/>
        </p:nvSpPr>
        <p:spPr>
          <a:xfrm>
            <a:off x="777240" y="694944"/>
            <a:ext cx="10637215" cy="566928"/>
          </a:xfrm>
          <a:prstGeom prst="rect">
            <a:avLst/>
          </a:prstGeom>
          <a:noFill/>
          <a:ln/>
        </p:spPr>
        <p:txBody>
          <a:bodyPr wrap="square" lIns="0" tIns="0" rIns="0" bIns="0" rtlCol="0" anchor="t"/>
          <a:lstStyle/>
          <a:p>
            <a:pPr marL="0" indent="0">
              <a:lnSpc>
                <a:spcPts val="3400"/>
              </a:lnSpc>
              <a:buNone/>
            </a:pPr>
            <a:r>
              <a:rPr lang="en-US" sz="3000" b="1" dirty="0">
                <a:solidFill>
                  <a:srgbClr val="111114"/>
                </a:solidFill>
                <a:latin typeface="Arial" pitchFamily="34" charset="0"/>
                <a:ea typeface="Arial" pitchFamily="34" charset="-122"/>
                <a:cs typeface="Arial" pitchFamily="34" charset="-120"/>
              </a:rPr>
              <a:t>La barrera de entrada al software no bajó: desapareció</a:t>
            </a:r>
            <a:endParaRPr lang="en-US" sz="3000" dirty="0"/>
          </a:p>
        </p:txBody>
      </p:sp>
      <p:sp>
        <p:nvSpPr>
          <p:cNvPr id="4" name="Text 2"/>
          <p:cNvSpPr/>
          <p:nvPr/>
        </p:nvSpPr>
        <p:spPr>
          <a:xfrm>
            <a:off x="777240" y="1536192"/>
            <a:ext cx="5943600" cy="914400"/>
          </a:xfrm>
          <a:prstGeom prst="rect">
            <a:avLst/>
          </a:prstGeom>
          <a:noFill/>
          <a:ln/>
        </p:spPr>
        <p:txBody>
          <a:bodyPr wrap="square" lIns="0" tIns="0" rIns="0" bIns="0" rtlCol="0" anchor="t"/>
          <a:lstStyle/>
          <a:p>
            <a:pPr marL="0" indent="0">
              <a:lnSpc>
                <a:spcPts val="2248"/>
              </a:lnSpc>
              <a:buNone/>
            </a:pPr>
            <a:r>
              <a:rPr lang="en-US" sz="1550" dirty="0">
                <a:solidFill>
                  <a:srgbClr val="3A3A40"/>
                </a:solidFill>
                <a:latin typeface="Arial" pitchFamily="34" charset="0"/>
                <a:ea typeface="Arial" pitchFamily="34" charset="-122"/>
                <a:cs typeface="Arial" pitchFamily="34" charset="-120"/>
              </a:rPr>
              <a:t>Una persona sin formación técnica describe en lenguaje natural la aplicación que necesita y obtiene un producto funcional, desplegado y con una dirección web. En minutos.</a:t>
            </a:r>
            <a:endParaRPr lang="en-US" sz="1550" dirty="0"/>
          </a:p>
        </p:txBody>
      </p:sp>
      <p:sp>
        <p:nvSpPr>
          <p:cNvPr id="5" name="Text 3"/>
          <p:cNvSpPr/>
          <p:nvPr/>
        </p:nvSpPr>
        <p:spPr>
          <a:xfrm>
            <a:off x="777240" y="2697480"/>
            <a:ext cx="5943600" cy="320040"/>
          </a:xfrm>
          <a:prstGeom prst="rect">
            <a:avLst/>
          </a:prstGeom>
          <a:noFill/>
          <a:ln/>
        </p:spPr>
        <p:txBody>
          <a:bodyPr wrap="square" lIns="0" tIns="0" rIns="0" bIns="0" rtlCol="0" anchor="ctr"/>
          <a:lstStyle/>
          <a:p>
            <a:pPr marL="0" indent="0">
              <a:buNone/>
            </a:pPr>
            <a:r>
              <a:rPr lang="en-US" sz="1100" b="1" kern="0" spc="150" dirty="0">
                <a:solidFill>
                  <a:srgbClr val="E04E39"/>
                </a:solidFill>
                <a:latin typeface="Arial" pitchFamily="34" charset="0"/>
                <a:ea typeface="Arial" pitchFamily="34" charset="-122"/>
                <a:cs typeface="Arial" pitchFamily="34" charset="-120"/>
              </a:rPr>
              <a:t>Lo que dice el mercado</a:t>
            </a:r>
            <a:endParaRPr lang="en-US" sz="1100" dirty="0"/>
          </a:p>
        </p:txBody>
      </p:sp>
      <p:sp>
        <p:nvSpPr>
          <p:cNvPr id="6" name="Text 4"/>
          <p:cNvSpPr/>
          <p:nvPr/>
        </p:nvSpPr>
        <p:spPr>
          <a:xfrm>
            <a:off x="777240" y="3063240"/>
            <a:ext cx="5943600" cy="1645920"/>
          </a:xfrm>
          <a:prstGeom prst="rect">
            <a:avLst/>
          </a:prstGeom>
          <a:noFill/>
          <a:ln/>
        </p:spPr>
        <p:txBody>
          <a:bodyPr wrap="square" lIns="0" tIns="0" rIns="0" bIns="0" rtlCol="0" anchor="t"/>
          <a:lstStyle/>
          <a:p>
            <a:pPr marL="0" indent="0">
              <a:lnSpc>
                <a:spcPts val="2000"/>
              </a:lnSpc>
              <a:buNone/>
            </a:pPr>
            <a:r>
              <a:rPr lang="en-US" sz="1400" b="1" dirty="0">
                <a:solidFill>
                  <a:srgbClr val="111114"/>
                </a:solidFill>
                <a:latin typeface="Arial" pitchFamily="34" charset="0"/>
                <a:ea typeface="Arial" pitchFamily="34" charset="-122"/>
                <a:cs typeface="Arial" pitchFamily="34" charset="-120"/>
              </a:rPr>
              <a:t>Cursor pasó de US$2.000 a US$4.000 millones</a:t>
            </a:r>
            <a:endParaRPr lang="en-US" sz="1400" dirty="0"/>
          </a:p>
          <a:p>
            <a:pPr marL="0" indent="0">
              <a:lnSpc>
                <a:spcPts val="2000"/>
              </a:lnSpc>
              <a:buNone/>
            </a:pPr>
            <a:r>
              <a:rPr lang="en-US" sz="1400" dirty="0">
                <a:solidFill>
                  <a:srgbClr val="55555C"/>
                </a:solidFill>
                <a:latin typeface="Arial" pitchFamily="34" charset="0"/>
                <a:ea typeface="Arial" pitchFamily="34" charset="-122"/>
                <a:cs typeface="Arial" pitchFamily="34" charset="-120"/>
              </a:rPr>
              <a:t>de ingresos anualizados entre febrero y junio de 2026.
</a:t>
            </a:r>
            <a:endParaRPr lang="en-US" sz="1400" dirty="0"/>
          </a:p>
          <a:p>
            <a:pPr marL="0" indent="0">
              <a:lnSpc>
                <a:spcPts val="2000"/>
              </a:lnSpc>
              <a:buNone/>
            </a:pPr>
            <a:r>
              <a:rPr lang="en-US" sz="1400" b="1" dirty="0">
                <a:solidFill>
                  <a:srgbClr val="111114"/>
                </a:solidFill>
                <a:latin typeface="Arial" pitchFamily="34" charset="0"/>
                <a:ea typeface="Arial" pitchFamily="34" charset="-122"/>
                <a:cs typeface="Arial" pitchFamily="34" charset="-120"/>
              </a:rPr>
              <a:t>Lovable levantó US$400 millones</a:t>
            </a:r>
            <a:endParaRPr lang="en-US" sz="1400" dirty="0"/>
          </a:p>
          <a:p>
            <a:pPr marL="0" indent="0">
              <a:lnSpc>
                <a:spcPts val="2000"/>
              </a:lnSpc>
              <a:buNone/>
            </a:pPr>
            <a:r>
              <a:rPr lang="en-US" sz="1400" dirty="0">
                <a:solidFill>
                  <a:srgbClr val="55555C"/>
                </a:solidFill>
                <a:latin typeface="Arial" pitchFamily="34" charset="0"/>
                <a:ea typeface="Arial" pitchFamily="34" charset="-122"/>
                <a:cs typeface="Arial" pitchFamily="34" charset="-120"/>
              </a:rPr>
              <a:t>a una valuación de US$13.300 millones, el 12 de agosto de 2026.</a:t>
            </a:r>
            <a:endParaRPr lang="en-US" sz="1400" dirty="0"/>
          </a:p>
        </p:txBody>
      </p:sp>
      <p:sp>
        <p:nvSpPr>
          <p:cNvPr id="7" name="Text 5"/>
          <p:cNvSpPr/>
          <p:nvPr/>
        </p:nvSpPr>
        <p:spPr>
          <a:xfrm>
            <a:off x="777240" y="4617720"/>
            <a:ext cx="5943600" cy="914400"/>
          </a:xfrm>
          <a:prstGeom prst="rect">
            <a:avLst/>
          </a:prstGeom>
          <a:noFill/>
          <a:ln/>
        </p:spPr>
        <p:txBody>
          <a:bodyPr wrap="square" lIns="0" tIns="0" rIns="0" bIns="0" rtlCol="0" anchor="t"/>
          <a:lstStyle/>
          <a:p>
            <a:pPr marL="0" indent="0">
              <a:lnSpc>
                <a:spcPts val="2100"/>
              </a:lnSpc>
              <a:buNone/>
            </a:pPr>
            <a:r>
              <a:rPr lang="en-US" sz="1450" b="1" dirty="0">
                <a:solidFill>
                  <a:srgbClr val="111114"/>
                </a:solidFill>
                <a:latin typeface="Arial" pitchFamily="34" charset="0"/>
                <a:ea typeface="Arial" pitchFamily="34" charset="-122"/>
                <a:cs typeface="Arial" pitchFamily="34" charset="-120"/>
              </a:rPr>
              <a:t>El costo de producir software tiende a cero. Lo que antes pedía un equipo y meses de trabajo, hoy lo resuelve una persona sola en horas.</a:t>
            </a:r>
            <a:endParaRPr lang="en-US" sz="1450" dirty="0"/>
          </a:p>
        </p:txBody>
      </p:sp>
      <p:sp>
        <p:nvSpPr>
          <p:cNvPr id="8" name="Shape 6"/>
          <p:cNvSpPr/>
          <p:nvPr/>
        </p:nvSpPr>
        <p:spPr>
          <a:xfrm>
            <a:off x="7223760" y="1481328"/>
            <a:ext cx="4187952" cy="4023360"/>
          </a:xfrm>
          <a:prstGeom prst="roundRect">
            <a:avLst>
              <a:gd name="adj" fmla="val 1364"/>
            </a:avLst>
          </a:prstGeom>
          <a:solidFill>
            <a:srgbClr val="111114"/>
          </a:solidFill>
          <a:ln w="12700">
            <a:solidFill>
              <a:srgbClr val="111114"/>
            </a:solidFill>
            <a:prstDash val="solid"/>
          </a:ln>
        </p:spPr>
        <p:txBody>
          <a:bodyPr/>
          <a:lstStyle/>
          <a:p>
            <a:endParaRPr lang="en-AR"/>
          </a:p>
        </p:txBody>
      </p:sp>
      <p:sp>
        <p:nvSpPr>
          <p:cNvPr id="9" name="Text 7"/>
          <p:cNvSpPr/>
          <p:nvPr/>
        </p:nvSpPr>
        <p:spPr>
          <a:xfrm>
            <a:off x="7589520" y="1783080"/>
            <a:ext cx="3566160" cy="274320"/>
          </a:xfrm>
          <a:prstGeom prst="rect">
            <a:avLst/>
          </a:prstGeom>
          <a:noFill/>
          <a:ln/>
        </p:spPr>
        <p:txBody>
          <a:bodyPr wrap="square" lIns="0" tIns="0" rIns="0" bIns="0" rtlCol="0" anchor="ctr"/>
          <a:lstStyle/>
          <a:p>
            <a:pPr marL="0" indent="0">
              <a:buNone/>
            </a:pPr>
            <a:r>
              <a:rPr lang="en-US" sz="1000" b="1" kern="0" spc="150" dirty="0">
                <a:solidFill>
                  <a:srgbClr val="E04E39"/>
                </a:solidFill>
                <a:latin typeface="Arial" pitchFamily="34" charset="0"/>
                <a:ea typeface="Arial" pitchFamily="34" charset="-122"/>
                <a:cs typeface="Arial" pitchFamily="34" charset="-120"/>
              </a:rPr>
              <a:t>QUÉ SIGNIFICA PARA USTEDES</a:t>
            </a:r>
            <a:endParaRPr lang="en-US" sz="1000" dirty="0"/>
          </a:p>
        </p:txBody>
      </p:sp>
      <p:sp>
        <p:nvSpPr>
          <p:cNvPr id="10" name="Text 8"/>
          <p:cNvSpPr/>
          <p:nvPr/>
        </p:nvSpPr>
        <p:spPr>
          <a:xfrm>
            <a:off x="7589520" y="2194560"/>
            <a:ext cx="3520440" cy="1920240"/>
          </a:xfrm>
          <a:prstGeom prst="rect">
            <a:avLst/>
          </a:prstGeom>
          <a:noFill/>
          <a:ln/>
        </p:spPr>
        <p:txBody>
          <a:bodyPr wrap="square" lIns="0" tIns="0" rIns="0" bIns="0" rtlCol="0" anchor="t"/>
          <a:lstStyle/>
          <a:p>
            <a:pPr marL="0" indent="0">
              <a:lnSpc>
                <a:spcPts val="2100"/>
              </a:lnSpc>
              <a:spcAft>
                <a:spcPts val="1000"/>
              </a:spcAft>
              <a:buNone/>
            </a:pPr>
            <a:r>
              <a:rPr lang="en-US" sz="1450" dirty="0">
                <a:solidFill>
                  <a:srgbClr val="FFFFFF"/>
                </a:solidFill>
                <a:latin typeface="Arial" pitchFamily="34" charset="0"/>
                <a:ea typeface="Arial" pitchFamily="34" charset="-122"/>
                <a:cs typeface="Arial" pitchFamily="34" charset="-120"/>
              </a:rPr>
              <a:t>Automatizar un proceso repetitivo del trabajo.</a:t>
            </a:r>
            <a:endParaRPr lang="en-US" sz="1450" dirty="0"/>
          </a:p>
          <a:p>
            <a:pPr marL="0" indent="0">
              <a:lnSpc>
                <a:spcPts val="2100"/>
              </a:lnSpc>
              <a:spcAft>
                <a:spcPts val="1000"/>
              </a:spcAft>
              <a:buNone/>
            </a:pPr>
            <a:r>
              <a:rPr lang="en-US" sz="1450" dirty="0">
                <a:solidFill>
                  <a:srgbClr val="FFFFFF"/>
                </a:solidFill>
                <a:latin typeface="Arial" pitchFamily="34" charset="0"/>
                <a:ea typeface="Arial" pitchFamily="34" charset="-122"/>
                <a:cs typeface="Arial" pitchFamily="34" charset="-120"/>
              </a:rPr>
              <a:t>Construir una herramienta a medida para un problema propio.</a:t>
            </a:r>
            <a:endParaRPr lang="en-US" sz="1450" dirty="0"/>
          </a:p>
          <a:p>
            <a:pPr marL="0" indent="0">
              <a:lnSpc>
                <a:spcPts val="2100"/>
              </a:lnSpc>
              <a:spcAft>
                <a:spcPts val="1000"/>
              </a:spcAft>
              <a:buNone/>
            </a:pPr>
            <a:r>
              <a:rPr lang="en-US" sz="1450" dirty="0">
                <a:solidFill>
                  <a:srgbClr val="FFFFFF"/>
                </a:solidFill>
                <a:latin typeface="Arial" pitchFamily="34" charset="0"/>
                <a:ea typeface="Arial" pitchFamily="34" charset="-122"/>
                <a:cs typeface="Arial" pitchFamily="34" charset="-120"/>
              </a:rPr>
              <a:t>Lanzar un producto sin equipo de desarrollo.</a:t>
            </a:r>
            <a:endParaRPr lang="en-US" sz="1450" dirty="0"/>
          </a:p>
        </p:txBody>
      </p:sp>
      <p:sp>
        <p:nvSpPr>
          <p:cNvPr id="11" name="Shape 9"/>
          <p:cNvSpPr/>
          <p:nvPr/>
        </p:nvSpPr>
        <p:spPr>
          <a:xfrm>
            <a:off x="7589520" y="4315968"/>
            <a:ext cx="3520440" cy="13716"/>
          </a:xfrm>
          <a:prstGeom prst="rect">
            <a:avLst/>
          </a:prstGeom>
          <a:solidFill>
            <a:srgbClr val="3A3A42"/>
          </a:solidFill>
          <a:ln w="12700">
            <a:solidFill>
              <a:srgbClr val="333333"/>
            </a:solidFill>
            <a:prstDash val="solid"/>
          </a:ln>
        </p:spPr>
        <p:txBody>
          <a:bodyPr/>
          <a:lstStyle/>
          <a:p>
            <a:endParaRPr lang="en-AR"/>
          </a:p>
        </p:txBody>
      </p:sp>
      <p:sp>
        <p:nvSpPr>
          <p:cNvPr id="12" name="Text 10"/>
          <p:cNvSpPr/>
          <p:nvPr/>
        </p:nvSpPr>
        <p:spPr>
          <a:xfrm>
            <a:off x="7589520" y="4526280"/>
            <a:ext cx="3520440" cy="822960"/>
          </a:xfrm>
          <a:prstGeom prst="rect">
            <a:avLst/>
          </a:prstGeom>
          <a:noFill/>
          <a:ln/>
        </p:spPr>
        <p:txBody>
          <a:bodyPr wrap="square" lIns="0" tIns="0" rIns="0" bIns="0" rtlCol="0" anchor="t"/>
          <a:lstStyle/>
          <a:p>
            <a:pPr marL="0" indent="0">
              <a:lnSpc>
                <a:spcPts val="1900"/>
              </a:lnSpc>
              <a:buNone/>
            </a:pPr>
            <a:r>
              <a:rPr lang="en-US" sz="1400" b="1" dirty="0">
                <a:solidFill>
                  <a:srgbClr val="E04E39"/>
                </a:solidFill>
                <a:latin typeface="Arial" pitchFamily="34" charset="0"/>
                <a:ea typeface="Arial" pitchFamily="34" charset="-122"/>
                <a:cs typeface="Arial" pitchFamily="34" charset="-120"/>
              </a:rPr>
              <a:t>Ya no requiere saber programar. Requiere saber qué construir.</a:t>
            </a:r>
            <a:endParaRPr lang="en-US" sz="1400" dirty="0"/>
          </a:p>
        </p:txBody>
      </p:sp>
      <p:sp>
        <p:nvSpPr>
          <p:cNvPr id="13" name="Text 11"/>
          <p:cNvSpPr/>
          <p:nvPr/>
        </p:nvSpPr>
        <p:spPr>
          <a:xfrm>
            <a:off x="10865815" y="6291072"/>
            <a:ext cx="548640" cy="274320"/>
          </a:xfrm>
          <a:prstGeom prst="rect">
            <a:avLst/>
          </a:prstGeom>
          <a:noFill/>
          <a:ln/>
        </p:spPr>
        <p:txBody>
          <a:bodyPr wrap="square" lIns="0" tIns="0" rIns="0" bIns="0" rtlCol="0" anchor="ctr"/>
          <a:lstStyle/>
          <a:p>
            <a:pPr marL="0" indent="0" algn="r">
              <a:buNone/>
            </a:pPr>
            <a:r>
              <a:rPr lang="en-US" sz="900" dirty="0">
                <a:solidFill>
                  <a:srgbClr val="9A9AA0"/>
                </a:solidFill>
                <a:latin typeface="Arial" pitchFamily="34" charset="0"/>
                <a:ea typeface="Arial" pitchFamily="34" charset="-122"/>
                <a:cs typeface="Arial" pitchFamily="34" charset="-120"/>
              </a:rPr>
              <a:t>26</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420624"/>
            <a:ext cx="10637215" cy="237744"/>
          </a:xfrm>
          <a:prstGeom prst="rect">
            <a:avLst/>
          </a:prstGeom>
          <a:noFill/>
          <a:ln/>
        </p:spPr>
        <p:txBody>
          <a:bodyPr wrap="square" lIns="0" tIns="0" rIns="0" bIns="0" rtlCol="0" anchor="ctr"/>
          <a:lstStyle/>
          <a:p>
            <a:pPr marL="0" indent="0">
              <a:buNone/>
            </a:pPr>
            <a:r>
              <a:rPr lang="en-US" sz="1050" b="1" kern="0" spc="200" dirty="0">
                <a:solidFill>
                  <a:srgbClr val="E04E39"/>
                </a:solidFill>
                <a:latin typeface="Arial" pitchFamily="34" charset="0"/>
                <a:ea typeface="Arial" pitchFamily="34" charset="-122"/>
                <a:cs typeface="Arial" pitchFamily="34" charset="-120"/>
              </a:rPr>
              <a:t>CIENCIA</a:t>
            </a:r>
            <a:endParaRPr lang="en-US" sz="1050" dirty="0"/>
          </a:p>
        </p:txBody>
      </p:sp>
      <p:sp>
        <p:nvSpPr>
          <p:cNvPr id="3" name="Text 1"/>
          <p:cNvSpPr/>
          <p:nvPr/>
        </p:nvSpPr>
        <p:spPr>
          <a:xfrm>
            <a:off x="777240" y="694944"/>
            <a:ext cx="10637215" cy="566928"/>
          </a:xfrm>
          <a:prstGeom prst="rect">
            <a:avLst/>
          </a:prstGeom>
          <a:noFill/>
          <a:ln/>
        </p:spPr>
        <p:txBody>
          <a:bodyPr wrap="square" lIns="0" tIns="0" rIns="0" bIns="0" rtlCol="0" anchor="t"/>
          <a:lstStyle/>
          <a:p>
            <a:pPr marL="0" indent="0">
              <a:lnSpc>
                <a:spcPts val="3400"/>
              </a:lnSpc>
              <a:buNone/>
            </a:pPr>
            <a:r>
              <a:rPr lang="en-US" sz="3000" b="1" dirty="0">
                <a:solidFill>
                  <a:srgbClr val="111114"/>
                </a:solidFill>
                <a:latin typeface="Arial" pitchFamily="34" charset="0"/>
                <a:ea typeface="Arial" pitchFamily="34" charset="-122"/>
                <a:cs typeface="Arial" pitchFamily="34" charset="-120"/>
              </a:rPr>
              <a:t>La IA ya produce conocimiento original</a:t>
            </a:r>
            <a:endParaRPr lang="en-US" sz="3000" dirty="0"/>
          </a:p>
        </p:txBody>
      </p:sp>
      <p:sp>
        <p:nvSpPr>
          <p:cNvPr id="4" name="Text 2"/>
          <p:cNvSpPr/>
          <p:nvPr/>
        </p:nvSpPr>
        <p:spPr>
          <a:xfrm>
            <a:off x="777240" y="1517904"/>
            <a:ext cx="5760720" cy="822960"/>
          </a:xfrm>
          <a:prstGeom prst="rect">
            <a:avLst/>
          </a:prstGeom>
          <a:noFill/>
          <a:ln/>
        </p:spPr>
        <p:txBody>
          <a:bodyPr wrap="square" lIns="0" tIns="0" rIns="0" bIns="0" rtlCol="0" anchor="t"/>
          <a:lstStyle/>
          <a:p>
            <a:pPr marL="0" indent="0">
              <a:lnSpc>
                <a:spcPts val="2103"/>
              </a:lnSpc>
              <a:buNone/>
            </a:pPr>
            <a:r>
              <a:rPr lang="en-US" sz="1450" dirty="0">
                <a:solidFill>
                  <a:srgbClr val="3A3A40"/>
                </a:solidFill>
                <a:latin typeface="Arial" pitchFamily="34" charset="0"/>
                <a:ea typeface="Arial" pitchFamily="34" charset="-122"/>
                <a:cs typeface="Arial" pitchFamily="34" charset="-120"/>
              </a:rPr>
              <a:t>Aletheia, agente de investigación matemática de Google DeepMind, desplegado sobre 700 problemas abiertos de la base de Erdős. Febrero y marzo de 2026.</a:t>
            </a:r>
            <a:endParaRPr lang="en-US" sz="1450" dirty="0"/>
          </a:p>
        </p:txBody>
      </p:sp>
      <p:sp>
        <p:nvSpPr>
          <p:cNvPr id="5" name="Text 3"/>
          <p:cNvSpPr/>
          <p:nvPr/>
        </p:nvSpPr>
        <p:spPr>
          <a:xfrm>
            <a:off x="777240" y="2514600"/>
            <a:ext cx="5760720" cy="2011680"/>
          </a:xfrm>
          <a:prstGeom prst="rect">
            <a:avLst/>
          </a:prstGeom>
          <a:noFill/>
          <a:ln/>
        </p:spPr>
        <p:txBody>
          <a:bodyPr wrap="square" lIns="0" tIns="0" rIns="0" bIns="0" rtlCol="0" anchor="t"/>
          <a:lstStyle/>
          <a:p>
            <a:pPr marL="342900" indent="-342900">
              <a:lnSpc>
                <a:spcPts val="1890"/>
              </a:lnSpc>
              <a:spcAft>
                <a:spcPts val="900"/>
              </a:spcAft>
              <a:buSzPct val="100000"/>
              <a:buChar char="•"/>
            </a:pPr>
            <a:r>
              <a:rPr lang="en-US" sz="1400" dirty="0">
                <a:solidFill>
                  <a:srgbClr val="3A3A40"/>
                </a:solidFill>
                <a:latin typeface="Arial" pitchFamily="34" charset="0"/>
                <a:ea typeface="Arial" pitchFamily="34" charset="-122"/>
                <a:cs typeface="Arial" pitchFamily="34" charset="-120"/>
              </a:rPr>
              <a:t>Cuatro soluciones novedosas y autónomas a problemas abiertos</a:t>
            </a:r>
            <a:endParaRPr lang="en-US" sz="1400" dirty="0"/>
          </a:p>
          <a:p>
            <a:pPr marL="342900" indent="-342900">
              <a:lnSpc>
                <a:spcPts val="1890"/>
              </a:lnSpc>
              <a:spcAft>
                <a:spcPts val="900"/>
              </a:spcAft>
              <a:buSzPct val="100000"/>
              <a:buChar char="•"/>
            </a:pPr>
            <a:r>
              <a:rPr lang="en-US" sz="1400" dirty="0">
                <a:solidFill>
                  <a:srgbClr val="3A3A40"/>
                </a:solidFill>
                <a:latin typeface="Arial" pitchFamily="34" charset="0"/>
                <a:ea typeface="Arial" pitchFamily="34" charset="-122"/>
                <a:cs typeface="Arial" pitchFamily="34" charset="-120"/>
              </a:rPr>
              <a:t>Refutó una conjetura de una década con un contraejemplo de tres elementos</a:t>
            </a:r>
            <a:endParaRPr lang="en-US" sz="1400" dirty="0"/>
          </a:p>
          <a:p>
            <a:pPr marL="342900" indent="-342900">
              <a:lnSpc>
                <a:spcPts val="1890"/>
              </a:lnSpc>
              <a:spcAft>
                <a:spcPts val="900"/>
              </a:spcAft>
              <a:buSzPct val="100000"/>
              <a:buChar char="•"/>
            </a:pPr>
            <a:r>
              <a:rPr lang="en-US" sz="1400" dirty="0">
                <a:solidFill>
                  <a:srgbClr val="3A3A40"/>
                </a:solidFill>
                <a:latin typeface="Arial" pitchFamily="34" charset="0"/>
                <a:ea typeface="Arial" pitchFamily="34" charset="-122"/>
                <a:cs typeface="Arial" pitchFamily="34" charset="-120"/>
              </a:rPr>
              <a:t>Detectó un error en un preprint de criptografía que los revisores humanos no vieron</a:t>
            </a:r>
            <a:endParaRPr lang="en-US" sz="1400" dirty="0"/>
          </a:p>
          <a:p>
            <a:pPr marL="342900" indent="-342900">
              <a:lnSpc>
                <a:spcPts val="1890"/>
              </a:lnSpc>
              <a:spcAft>
                <a:spcPts val="900"/>
              </a:spcAft>
              <a:buSzPct val="100000"/>
              <a:buChar char="•"/>
            </a:pPr>
            <a:r>
              <a:rPr lang="en-US" sz="1400" dirty="0">
                <a:solidFill>
                  <a:srgbClr val="3A3A40"/>
                </a:solidFill>
                <a:latin typeface="Arial" pitchFamily="34" charset="0"/>
                <a:ea typeface="Arial" pitchFamily="34" charset="-122"/>
                <a:cs typeface="Arial" pitchFamily="34" charset="-120"/>
              </a:rPr>
              <a:t>Escribió un paper completo de geometría aritmética</a:t>
            </a:r>
            <a:endParaRPr lang="en-US" sz="1400" dirty="0"/>
          </a:p>
        </p:txBody>
      </p:sp>
      <p:sp>
        <p:nvSpPr>
          <p:cNvPr id="6" name="Shape 4"/>
          <p:cNvSpPr/>
          <p:nvPr/>
        </p:nvSpPr>
        <p:spPr>
          <a:xfrm>
            <a:off x="7223760" y="1481328"/>
            <a:ext cx="4187952" cy="3063240"/>
          </a:xfrm>
          <a:prstGeom prst="roundRect">
            <a:avLst>
              <a:gd name="adj" fmla="val 1791"/>
            </a:avLst>
          </a:prstGeom>
          <a:solidFill>
            <a:srgbClr val="111114"/>
          </a:solidFill>
          <a:ln w="12700">
            <a:solidFill>
              <a:srgbClr val="111114"/>
            </a:solidFill>
            <a:prstDash val="solid"/>
          </a:ln>
        </p:spPr>
        <p:txBody>
          <a:bodyPr/>
          <a:lstStyle/>
          <a:p>
            <a:endParaRPr lang="en-AR"/>
          </a:p>
        </p:txBody>
      </p:sp>
      <p:sp>
        <p:nvSpPr>
          <p:cNvPr id="7" name="Text 5"/>
          <p:cNvSpPr/>
          <p:nvPr/>
        </p:nvSpPr>
        <p:spPr>
          <a:xfrm>
            <a:off x="7589520" y="1783080"/>
            <a:ext cx="3566160" cy="914400"/>
          </a:xfrm>
          <a:prstGeom prst="rect">
            <a:avLst/>
          </a:prstGeom>
          <a:noFill/>
          <a:ln/>
        </p:spPr>
        <p:txBody>
          <a:bodyPr wrap="square" lIns="0" tIns="0" rIns="0" bIns="0" rtlCol="0" anchor="ctr"/>
          <a:lstStyle/>
          <a:p>
            <a:pPr marL="0" indent="0">
              <a:buNone/>
            </a:pPr>
            <a:r>
              <a:rPr lang="en-US" sz="5800" b="1" dirty="0">
                <a:solidFill>
                  <a:srgbClr val="E04E39"/>
                </a:solidFill>
                <a:latin typeface="Arial" pitchFamily="34" charset="0"/>
                <a:ea typeface="Arial" pitchFamily="34" charset="-122"/>
                <a:cs typeface="Arial" pitchFamily="34" charset="-120"/>
              </a:rPr>
              <a:t>95,1%</a:t>
            </a:r>
            <a:endParaRPr lang="en-US" sz="5800" dirty="0"/>
          </a:p>
        </p:txBody>
      </p:sp>
      <p:sp>
        <p:nvSpPr>
          <p:cNvPr id="8" name="Text 6"/>
          <p:cNvSpPr/>
          <p:nvPr/>
        </p:nvSpPr>
        <p:spPr>
          <a:xfrm>
            <a:off x="7589520" y="2788920"/>
            <a:ext cx="3520440" cy="822960"/>
          </a:xfrm>
          <a:prstGeom prst="rect">
            <a:avLst/>
          </a:prstGeom>
          <a:noFill/>
          <a:ln/>
        </p:spPr>
        <p:txBody>
          <a:bodyPr wrap="square" lIns="0" tIns="0" rIns="0" bIns="0" rtlCol="0" anchor="ctr"/>
          <a:lstStyle/>
          <a:p>
            <a:pPr marL="0" indent="0">
              <a:lnSpc>
                <a:spcPts val="1900"/>
              </a:lnSpc>
              <a:buNone/>
            </a:pPr>
            <a:r>
              <a:rPr lang="en-US" sz="1350" dirty="0">
                <a:solidFill>
                  <a:srgbClr val="FFFFFF"/>
                </a:solidFill>
                <a:latin typeface="Arial" pitchFamily="34" charset="0"/>
                <a:ea typeface="Arial" pitchFamily="34" charset="-122"/>
                <a:cs typeface="Arial" pitchFamily="34" charset="-120"/>
              </a:rPr>
              <a:t>de acierto en problemas de olimpíada difíciles.</a:t>
            </a:r>
            <a:endParaRPr lang="en-US" sz="1350" dirty="0"/>
          </a:p>
          <a:p>
            <a:pPr marL="0" indent="0">
              <a:lnSpc>
                <a:spcPts val="1900"/>
              </a:lnSpc>
              <a:buNone/>
            </a:pPr>
            <a:r>
              <a:rPr lang="en-US" sz="1350" dirty="0">
                <a:solidFill>
                  <a:srgbClr val="FFFFFF"/>
                </a:solidFill>
                <a:latin typeface="Arial" pitchFamily="34" charset="0"/>
                <a:ea typeface="Arial" pitchFamily="34" charset="-122"/>
                <a:cs typeface="Arial" pitchFamily="34" charset="-120"/>
              </a:rPr>
              <a:t>En julio de 2025 era 65,7%.</a:t>
            </a:r>
            <a:endParaRPr lang="en-US" sz="1350" dirty="0"/>
          </a:p>
        </p:txBody>
      </p:sp>
      <p:sp>
        <p:nvSpPr>
          <p:cNvPr id="9" name="Text 7"/>
          <p:cNvSpPr/>
          <p:nvPr/>
        </p:nvSpPr>
        <p:spPr>
          <a:xfrm>
            <a:off x="7589520" y="3749040"/>
            <a:ext cx="3520440" cy="365760"/>
          </a:xfrm>
          <a:prstGeom prst="rect">
            <a:avLst/>
          </a:prstGeom>
          <a:noFill/>
          <a:ln/>
        </p:spPr>
        <p:txBody>
          <a:bodyPr wrap="square" lIns="0" tIns="0" rIns="0" bIns="0" rtlCol="0" anchor="ctr"/>
          <a:lstStyle/>
          <a:p>
            <a:pPr marL="0" indent="0">
              <a:buNone/>
            </a:pPr>
            <a:r>
              <a:rPr lang="en-US" sz="1300" i="1" dirty="0">
                <a:solidFill>
                  <a:srgbClr val="9A9AA2"/>
                </a:solidFill>
                <a:latin typeface="Arial" pitchFamily="34" charset="0"/>
                <a:ea typeface="Arial" pitchFamily="34" charset="-122"/>
                <a:cs typeface="Arial" pitchFamily="34" charset="-120"/>
              </a:rPr>
              <a:t>Siete meses de diferencia.</a:t>
            </a:r>
            <a:endParaRPr lang="en-US" sz="1300" dirty="0"/>
          </a:p>
        </p:txBody>
      </p:sp>
      <p:sp>
        <p:nvSpPr>
          <p:cNvPr id="10" name="Shape 8"/>
          <p:cNvSpPr/>
          <p:nvPr/>
        </p:nvSpPr>
        <p:spPr>
          <a:xfrm>
            <a:off x="777240" y="4754880"/>
            <a:ext cx="10637215" cy="1188720"/>
          </a:xfrm>
          <a:prstGeom prst="roundRect">
            <a:avLst>
              <a:gd name="adj" fmla="val 4615"/>
            </a:avLst>
          </a:prstGeom>
          <a:solidFill>
            <a:srgbClr val="F6F6F5"/>
          </a:solidFill>
          <a:ln w="12700">
            <a:solidFill>
              <a:srgbClr val="F6F6F5"/>
            </a:solidFill>
            <a:prstDash val="solid"/>
          </a:ln>
        </p:spPr>
        <p:txBody>
          <a:bodyPr/>
          <a:lstStyle/>
          <a:p>
            <a:endParaRPr lang="en-AR"/>
          </a:p>
        </p:txBody>
      </p:sp>
      <p:sp>
        <p:nvSpPr>
          <p:cNvPr id="11" name="Text 9"/>
          <p:cNvSpPr/>
          <p:nvPr/>
        </p:nvSpPr>
        <p:spPr>
          <a:xfrm>
            <a:off x="1188720" y="5010912"/>
            <a:ext cx="9814255" cy="731520"/>
          </a:xfrm>
          <a:prstGeom prst="rect">
            <a:avLst/>
          </a:prstGeom>
          <a:noFill/>
          <a:ln/>
        </p:spPr>
        <p:txBody>
          <a:bodyPr wrap="square" lIns="0" tIns="0" rIns="0" bIns="0" rtlCol="0" anchor="ctr"/>
          <a:lstStyle/>
          <a:p>
            <a:pPr marL="0" indent="0">
              <a:lnSpc>
                <a:spcPts val="1900"/>
              </a:lnSpc>
              <a:buNone/>
            </a:pPr>
            <a:r>
              <a:rPr lang="en-US" sz="1400" dirty="0">
                <a:solidFill>
                  <a:srgbClr val="3A3A40"/>
                </a:solidFill>
                <a:latin typeface="Arial" pitchFamily="34" charset="0"/>
                <a:ea typeface="Arial" pitchFamily="34" charset="-122"/>
                <a:cs typeface="Arial" pitchFamily="34" charset="-120"/>
              </a:rPr>
              <a:t>Terence Tao, el matemático vivo más influyente, describió a la IA como su “co-autor junior” y montó una wiki comunitaria para rastrear el progreso asistido por IA en problemas abiertos.</a:t>
            </a:r>
            <a:endParaRPr lang="en-US" sz="1400" dirty="0"/>
          </a:p>
        </p:txBody>
      </p:sp>
      <p:sp>
        <p:nvSpPr>
          <p:cNvPr id="12" name="Text 10"/>
          <p:cNvSpPr/>
          <p:nvPr/>
        </p:nvSpPr>
        <p:spPr>
          <a:xfrm>
            <a:off x="10865815" y="6291072"/>
            <a:ext cx="548640" cy="274320"/>
          </a:xfrm>
          <a:prstGeom prst="rect">
            <a:avLst/>
          </a:prstGeom>
          <a:noFill/>
          <a:ln/>
        </p:spPr>
        <p:txBody>
          <a:bodyPr wrap="square" lIns="0" tIns="0" rIns="0" bIns="0" rtlCol="0" anchor="ctr"/>
          <a:lstStyle/>
          <a:p>
            <a:pPr marL="0" indent="0" algn="r">
              <a:buNone/>
            </a:pPr>
            <a:r>
              <a:rPr lang="en-US" sz="900" dirty="0">
                <a:solidFill>
                  <a:srgbClr val="9A9AA0"/>
                </a:solidFill>
                <a:latin typeface="Arial" pitchFamily="34" charset="0"/>
                <a:ea typeface="Arial" pitchFamily="34" charset="-122"/>
                <a:cs typeface="Arial" pitchFamily="34" charset="-120"/>
              </a:rPr>
              <a:t>27</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420624"/>
            <a:ext cx="10637215" cy="237744"/>
          </a:xfrm>
          <a:prstGeom prst="rect">
            <a:avLst/>
          </a:prstGeom>
          <a:noFill/>
          <a:ln/>
        </p:spPr>
        <p:txBody>
          <a:bodyPr wrap="square" lIns="0" tIns="0" rIns="0" bIns="0" rtlCol="0" anchor="ctr"/>
          <a:lstStyle/>
          <a:p>
            <a:pPr marL="0" indent="0">
              <a:buNone/>
            </a:pPr>
            <a:r>
              <a:rPr lang="en-US" sz="1050" b="1" kern="0" spc="200" dirty="0">
                <a:solidFill>
                  <a:srgbClr val="E04E39"/>
                </a:solidFill>
                <a:latin typeface="Arial" pitchFamily="34" charset="0"/>
                <a:ea typeface="Arial" pitchFamily="34" charset="-122"/>
                <a:cs typeface="Arial" pitchFamily="34" charset="-120"/>
              </a:rPr>
              <a:t>LA LETRA CHICA</a:t>
            </a:r>
            <a:endParaRPr lang="en-US" sz="1050" dirty="0"/>
          </a:p>
        </p:txBody>
      </p:sp>
      <p:sp>
        <p:nvSpPr>
          <p:cNvPr id="3" name="Text 1"/>
          <p:cNvSpPr/>
          <p:nvPr/>
        </p:nvSpPr>
        <p:spPr>
          <a:xfrm>
            <a:off x="777240" y="694944"/>
            <a:ext cx="10637215" cy="566928"/>
          </a:xfrm>
          <a:prstGeom prst="rect">
            <a:avLst/>
          </a:prstGeom>
          <a:noFill/>
          <a:ln/>
        </p:spPr>
        <p:txBody>
          <a:bodyPr wrap="square" lIns="0" tIns="0" rIns="0" bIns="0" rtlCol="0" anchor="t"/>
          <a:lstStyle/>
          <a:p>
            <a:pPr marL="0" indent="0">
              <a:lnSpc>
                <a:spcPts val="3400"/>
              </a:lnSpc>
              <a:buNone/>
            </a:pPr>
            <a:r>
              <a:rPr lang="en-US" sz="3000" b="1" dirty="0">
                <a:solidFill>
                  <a:srgbClr val="111114"/>
                </a:solidFill>
                <a:latin typeface="Arial" pitchFamily="34" charset="0"/>
                <a:ea typeface="Arial" pitchFamily="34" charset="-122"/>
                <a:cs typeface="Arial" pitchFamily="34" charset="-120"/>
              </a:rPr>
              <a:t>Y sin embargo, casi siempre se equivoca</a:t>
            </a:r>
            <a:endParaRPr lang="en-US" sz="3000" dirty="0"/>
          </a:p>
        </p:txBody>
      </p:sp>
      <p:sp>
        <p:nvSpPr>
          <p:cNvPr id="4" name="Text 2"/>
          <p:cNvSpPr/>
          <p:nvPr/>
        </p:nvSpPr>
        <p:spPr>
          <a:xfrm>
            <a:off x="777240" y="1517904"/>
            <a:ext cx="7315200" cy="320040"/>
          </a:xfrm>
          <a:prstGeom prst="rect">
            <a:avLst/>
          </a:prstGeom>
          <a:noFill/>
          <a:ln/>
        </p:spPr>
        <p:txBody>
          <a:bodyPr wrap="square" lIns="0" tIns="0" rIns="0" bIns="0" rtlCol="0" anchor="t"/>
          <a:lstStyle/>
          <a:p>
            <a:pPr marL="0" indent="0">
              <a:lnSpc>
                <a:spcPts val="2030"/>
              </a:lnSpc>
              <a:buNone/>
            </a:pPr>
            <a:r>
              <a:rPr lang="en-US" sz="1400" dirty="0">
                <a:solidFill>
                  <a:srgbClr val="6E6E73"/>
                </a:solidFill>
                <a:latin typeface="Arial" pitchFamily="34" charset="0"/>
                <a:ea typeface="Arial" pitchFamily="34" charset="-122"/>
                <a:cs typeface="Arial" pitchFamily="34" charset="-120"/>
              </a:rPr>
              <a:t>Del mismo trabajo, sobre 200 respuestas evaluables a problemas abiertos:</a:t>
            </a:r>
            <a:endParaRPr lang="en-US" sz="1400" dirty="0"/>
          </a:p>
        </p:txBody>
      </p:sp>
      <p:sp>
        <p:nvSpPr>
          <p:cNvPr id="5" name="Text 3"/>
          <p:cNvSpPr/>
          <p:nvPr/>
        </p:nvSpPr>
        <p:spPr>
          <a:xfrm>
            <a:off x="777240" y="1920240"/>
            <a:ext cx="3108960" cy="914400"/>
          </a:xfrm>
          <a:prstGeom prst="rect">
            <a:avLst/>
          </a:prstGeom>
          <a:noFill/>
          <a:ln/>
        </p:spPr>
        <p:txBody>
          <a:bodyPr wrap="square" lIns="0" tIns="0" rIns="0" bIns="0" rtlCol="0" anchor="t"/>
          <a:lstStyle/>
          <a:p>
            <a:pPr marL="0" indent="0">
              <a:buNone/>
            </a:pPr>
            <a:r>
              <a:rPr lang="en-US" sz="6200" b="1" dirty="0">
                <a:solidFill>
                  <a:srgbClr val="E04E39"/>
                </a:solidFill>
                <a:latin typeface="Arial" pitchFamily="34" charset="0"/>
                <a:ea typeface="Arial" pitchFamily="34" charset="-122"/>
                <a:cs typeface="Arial" pitchFamily="34" charset="-120"/>
              </a:rPr>
              <a:t>68,5%</a:t>
            </a:r>
            <a:endParaRPr lang="en-US" sz="6200" dirty="0"/>
          </a:p>
        </p:txBody>
      </p:sp>
      <p:sp>
        <p:nvSpPr>
          <p:cNvPr id="6" name="Text 4"/>
          <p:cNvSpPr/>
          <p:nvPr/>
        </p:nvSpPr>
        <p:spPr>
          <a:xfrm>
            <a:off x="777240" y="2889504"/>
            <a:ext cx="3108960" cy="1051560"/>
          </a:xfrm>
          <a:prstGeom prst="rect">
            <a:avLst/>
          </a:prstGeom>
          <a:noFill/>
          <a:ln/>
        </p:spPr>
        <p:txBody>
          <a:bodyPr wrap="square" lIns="0" tIns="0" rIns="0" bIns="0" rtlCol="0" anchor="t"/>
          <a:lstStyle/>
          <a:p>
            <a:pPr marL="0" indent="0">
              <a:lnSpc>
                <a:spcPts val="1500"/>
              </a:lnSpc>
              <a:buNone/>
            </a:pPr>
            <a:r>
              <a:rPr lang="en-US" sz="1150" dirty="0">
                <a:solidFill>
                  <a:srgbClr val="6E6E73"/>
                </a:solidFill>
                <a:latin typeface="Arial" pitchFamily="34" charset="0"/>
                <a:ea typeface="Arial" pitchFamily="34" charset="-122"/>
                <a:cs typeface="Arial" pitchFamily="34" charset="-120"/>
              </a:rPr>
              <a:t>fundamentalmente incorrectas</a:t>
            </a:r>
            <a:endParaRPr lang="en-US" sz="1150" dirty="0"/>
          </a:p>
        </p:txBody>
      </p:sp>
      <p:sp>
        <p:nvSpPr>
          <p:cNvPr id="7" name="Text 5"/>
          <p:cNvSpPr/>
          <p:nvPr/>
        </p:nvSpPr>
        <p:spPr>
          <a:xfrm>
            <a:off x="4480560" y="1920240"/>
            <a:ext cx="3108960" cy="914400"/>
          </a:xfrm>
          <a:prstGeom prst="rect">
            <a:avLst/>
          </a:prstGeom>
          <a:noFill/>
          <a:ln/>
        </p:spPr>
        <p:txBody>
          <a:bodyPr wrap="square" lIns="0" tIns="0" rIns="0" bIns="0" rtlCol="0" anchor="t"/>
          <a:lstStyle/>
          <a:p>
            <a:pPr marL="0" indent="0">
              <a:buNone/>
            </a:pPr>
            <a:r>
              <a:rPr lang="en-US" sz="6200" b="1" dirty="0">
                <a:solidFill>
                  <a:srgbClr val="111114"/>
                </a:solidFill>
                <a:latin typeface="Arial" pitchFamily="34" charset="0"/>
                <a:ea typeface="Arial" pitchFamily="34" charset="-122"/>
                <a:cs typeface="Arial" pitchFamily="34" charset="-120"/>
              </a:rPr>
              <a:t>31,5%</a:t>
            </a:r>
            <a:endParaRPr lang="en-US" sz="6200" dirty="0"/>
          </a:p>
        </p:txBody>
      </p:sp>
      <p:sp>
        <p:nvSpPr>
          <p:cNvPr id="8" name="Text 6"/>
          <p:cNvSpPr/>
          <p:nvPr/>
        </p:nvSpPr>
        <p:spPr>
          <a:xfrm>
            <a:off x="4480560" y="2889504"/>
            <a:ext cx="3108960" cy="1051560"/>
          </a:xfrm>
          <a:prstGeom prst="rect">
            <a:avLst/>
          </a:prstGeom>
          <a:noFill/>
          <a:ln/>
        </p:spPr>
        <p:txBody>
          <a:bodyPr wrap="square" lIns="0" tIns="0" rIns="0" bIns="0" rtlCol="0" anchor="t"/>
          <a:lstStyle/>
          <a:p>
            <a:pPr marL="0" indent="0">
              <a:lnSpc>
                <a:spcPts val="1500"/>
              </a:lnSpc>
              <a:buNone/>
            </a:pPr>
            <a:r>
              <a:rPr lang="en-US" sz="1150" dirty="0">
                <a:solidFill>
                  <a:srgbClr val="6E6E73"/>
                </a:solidFill>
                <a:latin typeface="Arial" pitchFamily="34" charset="0"/>
                <a:ea typeface="Arial" pitchFamily="34" charset="-122"/>
                <a:cs typeface="Arial" pitchFamily="34" charset="-120"/>
              </a:rPr>
              <a:t>técnicamente correctas</a:t>
            </a:r>
            <a:endParaRPr lang="en-US" sz="1150" dirty="0"/>
          </a:p>
        </p:txBody>
      </p:sp>
      <p:sp>
        <p:nvSpPr>
          <p:cNvPr id="9" name="Text 7"/>
          <p:cNvSpPr/>
          <p:nvPr/>
        </p:nvSpPr>
        <p:spPr>
          <a:xfrm>
            <a:off x="8183880" y="1920240"/>
            <a:ext cx="3108960" cy="914400"/>
          </a:xfrm>
          <a:prstGeom prst="rect">
            <a:avLst/>
          </a:prstGeom>
          <a:noFill/>
          <a:ln/>
        </p:spPr>
        <p:txBody>
          <a:bodyPr wrap="square" lIns="0" tIns="0" rIns="0" bIns="0" rtlCol="0" anchor="t"/>
          <a:lstStyle/>
          <a:p>
            <a:pPr marL="0" indent="0">
              <a:buNone/>
            </a:pPr>
            <a:r>
              <a:rPr lang="en-US" sz="6200" b="1" dirty="0">
                <a:solidFill>
                  <a:srgbClr val="111114"/>
                </a:solidFill>
                <a:latin typeface="Arial" pitchFamily="34" charset="0"/>
                <a:ea typeface="Arial" pitchFamily="34" charset="-122"/>
                <a:cs typeface="Arial" pitchFamily="34" charset="-120"/>
              </a:rPr>
              <a:t>6,5%</a:t>
            </a:r>
            <a:endParaRPr lang="en-US" sz="6200" dirty="0"/>
          </a:p>
        </p:txBody>
      </p:sp>
      <p:sp>
        <p:nvSpPr>
          <p:cNvPr id="10" name="Text 8"/>
          <p:cNvSpPr/>
          <p:nvPr/>
        </p:nvSpPr>
        <p:spPr>
          <a:xfrm>
            <a:off x="8183880" y="2889504"/>
            <a:ext cx="3108960" cy="1051560"/>
          </a:xfrm>
          <a:prstGeom prst="rect">
            <a:avLst/>
          </a:prstGeom>
          <a:noFill/>
          <a:ln/>
        </p:spPr>
        <p:txBody>
          <a:bodyPr wrap="square" lIns="0" tIns="0" rIns="0" bIns="0" rtlCol="0" anchor="t"/>
          <a:lstStyle/>
          <a:p>
            <a:pPr marL="0" indent="0">
              <a:lnSpc>
                <a:spcPts val="1500"/>
              </a:lnSpc>
              <a:buNone/>
            </a:pPr>
            <a:r>
              <a:rPr lang="en-US" sz="1150" dirty="0">
                <a:solidFill>
                  <a:srgbClr val="6E6E73"/>
                </a:solidFill>
                <a:latin typeface="Arial" pitchFamily="34" charset="0"/>
                <a:ea typeface="Arial" pitchFamily="34" charset="-122"/>
                <a:cs typeface="Arial" pitchFamily="34" charset="-120"/>
              </a:rPr>
              <a:t>respondían efectivamente</a:t>
            </a:r>
            <a:endParaRPr lang="en-US" sz="1150" dirty="0"/>
          </a:p>
          <a:p>
            <a:pPr marL="0" indent="0">
              <a:lnSpc>
                <a:spcPts val="1500"/>
              </a:lnSpc>
              <a:buNone/>
            </a:pPr>
            <a:r>
              <a:rPr lang="en-US" sz="1150" dirty="0">
                <a:solidFill>
                  <a:srgbClr val="6E6E73"/>
                </a:solidFill>
                <a:latin typeface="Arial" pitchFamily="34" charset="0"/>
                <a:ea typeface="Arial" pitchFamily="34" charset="-122"/>
                <a:cs typeface="Arial" pitchFamily="34" charset="-120"/>
              </a:rPr>
              <a:t>la pregunta planteada</a:t>
            </a:r>
            <a:endParaRPr lang="en-US" sz="1150" dirty="0"/>
          </a:p>
        </p:txBody>
      </p:sp>
      <p:sp>
        <p:nvSpPr>
          <p:cNvPr id="11" name="Shape 9"/>
          <p:cNvSpPr/>
          <p:nvPr/>
        </p:nvSpPr>
        <p:spPr>
          <a:xfrm>
            <a:off x="777240" y="3611880"/>
            <a:ext cx="10637215" cy="10973"/>
          </a:xfrm>
          <a:prstGeom prst="rect">
            <a:avLst/>
          </a:prstGeom>
          <a:solidFill>
            <a:srgbClr val="E4E4E6"/>
          </a:solidFill>
          <a:ln w="12700">
            <a:solidFill>
              <a:srgbClr val="333333"/>
            </a:solidFill>
            <a:prstDash val="solid"/>
          </a:ln>
        </p:spPr>
        <p:txBody>
          <a:bodyPr/>
          <a:lstStyle/>
          <a:p>
            <a:endParaRPr lang="en-AR"/>
          </a:p>
        </p:txBody>
      </p:sp>
      <p:sp>
        <p:nvSpPr>
          <p:cNvPr id="12" name="Text 10"/>
          <p:cNvSpPr/>
          <p:nvPr/>
        </p:nvSpPr>
        <p:spPr>
          <a:xfrm>
            <a:off x="777240" y="3840480"/>
            <a:ext cx="10637215" cy="548640"/>
          </a:xfrm>
          <a:prstGeom prst="rect">
            <a:avLst/>
          </a:prstGeom>
          <a:noFill/>
          <a:ln/>
        </p:spPr>
        <p:txBody>
          <a:bodyPr wrap="square" lIns="0" tIns="0" rIns="0" bIns="0" rtlCol="0" anchor="t"/>
          <a:lstStyle/>
          <a:p>
            <a:pPr marL="0" indent="0">
              <a:lnSpc>
                <a:spcPts val="2000"/>
              </a:lnSpc>
              <a:buNone/>
            </a:pPr>
            <a:r>
              <a:rPr lang="en-US" sz="1450" dirty="0">
                <a:solidFill>
                  <a:srgbClr val="3A3A40"/>
                </a:solidFill>
                <a:latin typeface="Arial" pitchFamily="34" charset="0"/>
                <a:ea typeface="Arial" pitchFamily="34" charset="-122"/>
                <a:cs typeface="Arial" pitchFamily="34" charset="-120"/>
              </a:rPr>
              <a:t>Y el patrón más peligroso: </a:t>
            </a:r>
            <a:r>
              <a:rPr lang="en-US" sz="1450" b="1" i="1" dirty="0">
                <a:solidFill>
                  <a:srgbClr val="111114"/>
                </a:solidFill>
                <a:latin typeface="Arial" pitchFamily="34" charset="0"/>
                <a:ea typeface="Arial" pitchFamily="34" charset="-122"/>
                <a:cs typeface="Arial" pitchFamily="34" charset="-120"/>
              </a:rPr>
              <a:t>specification gaming</a:t>
            </a:r>
            <a:r>
              <a:rPr lang="en-US" sz="1450" dirty="0">
                <a:solidFill>
                  <a:srgbClr val="3A3A40"/>
                </a:solidFill>
                <a:latin typeface="Arial" pitchFamily="34" charset="0"/>
                <a:ea typeface="Arial" pitchFamily="34" charset="-122"/>
                <a:cs typeface="Arial" pitchFamily="34" charset="-120"/>
              </a:rPr>
              <a:t>. El modelo reinterpreta el problema para poder dar una respuesta trivial — y la presenta con total confianza.</a:t>
            </a:r>
            <a:endParaRPr lang="en-US" sz="1450" dirty="0"/>
          </a:p>
        </p:txBody>
      </p:sp>
      <p:sp>
        <p:nvSpPr>
          <p:cNvPr id="13" name="Shape 11"/>
          <p:cNvSpPr/>
          <p:nvPr/>
        </p:nvSpPr>
        <p:spPr>
          <a:xfrm>
            <a:off x="777240" y="4572000"/>
            <a:ext cx="10637215" cy="1371600"/>
          </a:xfrm>
          <a:prstGeom prst="roundRect">
            <a:avLst>
              <a:gd name="adj" fmla="val 4000"/>
            </a:avLst>
          </a:prstGeom>
          <a:solidFill>
            <a:srgbClr val="111114"/>
          </a:solidFill>
          <a:ln w="12700">
            <a:solidFill>
              <a:srgbClr val="111114"/>
            </a:solidFill>
            <a:prstDash val="solid"/>
          </a:ln>
        </p:spPr>
        <p:txBody>
          <a:bodyPr/>
          <a:lstStyle/>
          <a:p>
            <a:endParaRPr lang="en-AR"/>
          </a:p>
        </p:txBody>
      </p:sp>
      <p:sp>
        <p:nvSpPr>
          <p:cNvPr id="14" name="Text 12"/>
          <p:cNvSpPr/>
          <p:nvPr/>
        </p:nvSpPr>
        <p:spPr>
          <a:xfrm>
            <a:off x="1234440" y="4773168"/>
            <a:ext cx="9722815" cy="640080"/>
          </a:xfrm>
          <a:prstGeom prst="rect">
            <a:avLst/>
          </a:prstGeom>
          <a:noFill/>
          <a:ln/>
        </p:spPr>
        <p:txBody>
          <a:bodyPr wrap="square" lIns="0" tIns="0" rIns="0" bIns="0" rtlCol="0" anchor="ctr"/>
          <a:lstStyle/>
          <a:p>
            <a:pPr marL="0" indent="0">
              <a:lnSpc>
                <a:spcPts val="2500"/>
              </a:lnSpc>
              <a:buNone/>
            </a:pPr>
            <a:r>
              <a:rPr lang="en-US" sz="1900" b="1" dirty="0">
                <a:solidFill>
                  <a:srgbClr val="FFFFFF"/>
                </a:solidFill>
                <a:latin typeface="Arial" pitchFamily="34" charset="0"/>
                <a:ea typeface="Arial" pitchFamily="34" charset="-122"/>
                <a:cs typeface="Arial" pitchFamily="34" charset="-120"/>
              </a:rPr>
              <a:t>El problema no es que la IA se equivoque.</a:t>
            </a:r>
            <a:endParaRPr lang="en-US" sz="1900" dirty="0"/>
          </a:p>
          <a:p>
            <a:pPr marL="0" indent="0">
              <a:lnSpc>
                <a:spcPts val="2500"/>
              </a:lnSpc>
              <a:buNone/>
            </a:pPr>
            <a:r>
              <a:rPr lang="en-US" sz="1900" b="1" dirty="0">
                <a:solidFill>
                  <a:srgbClr val="FFFFFF"/>
                </a:solidFill>
                <a:latin typeface="Arial" pitchFamily="34" charset="0"/>
                <a:ea typeface="Arial" pitchFamily="34" charset="-122"/>
                <a:cs typeface="Arial" pitchFamily="34" charset="-120"/>
              </a:rPr>
              <a:t>Es que se equivoca con la misma seguridad con la que acierta.</a:t>
            </a:r>
            <a:endParaRPr lang="en-US" sz="1900" dirty="0"/>
          </a:p>
        </p:txBody>
      </p:sp>
      <p:sp>
        <p:nvSpPr>
          <p:cNvPr id="15" name="Text 13"/>
          <p:cNvSpPr/>
          <p:nvPr/>
        </p:nvSpPr>
        <p:spPr>
          <a:xfrm>
            <a:off x="1234440" y="5486400"/>
            <a:ext cx="9722815" cy="320040"/>
          </a:xfrm>
          <a:prstGeom prst="rect">
            <a:avLst/>
          </a:prstGeom>
          <a:noFill/>
          <a:ln/>
        </p:spPr>
        <p:txBody>
          <a:bodyPr wrap="square" lIns="0" tIns="0" rIns="0" bIns="0" rtlCol="0" anchor="ctr"/>
          <a:lstStyle/>
          <a:p>
            <a:pPr marL="0" indent="0">
              <a:buNone/>
            </a:pPr>
            <a:r>
              <a:rPr lang="en-US" sz="1400" dirty="0">
                <a:solidFill>
                  <a:srgbClr val="E04E39"/>
                </a:solidFill>
                <a:latin typeface="Arial" pitchFamily="34" charset="0"/>
                <a:ea typeface="Arial" pitchFamily="34" charset="-122"/>
                <a:cs typeface="Arial" pitchFamily="34" charset="-120"/>
              </a:rPr>
              <a:t>Por eso, todo diseño de un proceso con IA es, en el fondo, un diseño de verificación.</a:t>
            </a:r>
            <a:endParaRPr lang="en-US" sz="1400" dirty="0"/>
          </a:p>
        </p:txBody>
      </p:sp>
      <p:sp>
        <p:nvSpPr>
          <p:cNvPr id="16" name="Text 14"/>
          <p:cNvSpPr/>
          <p:nvPr/>
        </p:nvSpPr>
        <p:spPr>
          <a:xfrm>
            <a:off x="10865815" y="6291072"/>
            <a:ext cx="548640" cy="274320"/>
          </a:xfrm>
          <a:prstGeom prst="rect">
            <a:avLst/>
          </a:prstGeom>
          <a:noFill/>
          <a:ln/>
        </p:spPr>
        <p:txBody>
          <a:bodyPr wrap="square" lIns="0" tIns="0" rIns="0" bIns="0" rtlCol="0" anchor="ctr"/>
          <a:lstStyle/>
          <a:p>
            <a:pPr marL="0" indent="0" algn="r">
              <a:buNone/>
            </a:pPr>
            <a:r>
              <a:rPr lang="en-US" sz="900" dirty="0">
                <a:solidFill>
                  <a:srgbClr val="9A9AA0"/>
                </a:solidFill>
                <a:latin typeface="Arial" pitchFamily="34" charset="0"/>
                <a:ea typeface="Arial" pitchFamily="34" charset="-122"/>
                <a:cs typeface="Arial" pitchFamily="34" charset="-120"/>
              </a:rPr>
              <a:t>28</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420624"/>
            <a:ext cx="10637215" cy="237744"/>
          </a:xfrm>
          <a:prstGeom prst="rect">
            <a:avLst/>
          </a:prstGeom>
          <a:noFill/>
          <a:ln/>
        </p:spPr>
        <p:txBody>
          <a:bodyPr wrap="square" lIns="0" tIns="0" rIns="0" bIns="0" rtlCol="0" anchor="ctr"/>
          <a:lstStyle/>
          <a:p>
            <a:pPr marL="0" indent="0">
              <a:buNone/>
            </a:pPr>
            <a:r>
              <a:rPr lang="en-US" sz="1050" b="1" kern="0" spc="200" dirty="0">
                <a:solidFill>
                  <a:srgbClr val="E04E39"/>
                </a:solidFill>
                <a:latin typeface="Arial" pitchFamily="34" charset="0"/>
                <a:ea typeface="Arial" pitchFamily="34" charset="-122"/>
                <a:cs typeface="Arial" pitchFamily="34" charset="-120"/>
              </a:rPr>
              <a:t>CIENCIA APLICADA</a:t>
            </a:r>
            <a:endParaRPr lang="en-US" sz="1050" dirty="0"/>
          </a:p>
        </p:txBody>
      </p:sp>
      <p:sp>
        <p:nvSpPr>
          <p:cNvPr id="3" name="Text 1"/>
          <p:cNvSpPr/>
          <p:nvPr/>
        </p:nvSpPr>
        <p:spPr>
          <a:xfrm>
            <a:off x="777240" y="694944"/>
            <a:ext cx="10637215" cy="566928"/>
          </a:xfrm>
          <a:prstGeom prst="rect">
            <a:avLst/>
          </a:prstGeom>
          <a:noFill/>
          <a:ln/>
        </p:spPr>
        <p:txBody>
          <a:bodyPr wrap="square" lIns="0" tIns="0" rIns="0" bIns="0" rtlCol="0" anchor="t"/>
          <a:lstStyle/>
          <a:p>
            <a:pPr marL="0" indent="0">
              <a:lnSpc>
                <a:spcPts val="3400"/>
              </a:lnSpc>
              <a:buNone/>
            </a:pPr>
            <a:r>
              <a:rPr lang="en-US" sz="3000" b="1" dirty="0">
                <a:solidFill>
                  <a:srgbClr val="111114"/>
                </a:solidFill>
                <a:latin typeface="Arial" pitchFamily="34" charset="0"/>
                <a:ea typeface="Arial" pitchFamily="34" charset="-122"/>
                <a:cs typeface="Arial" pitchFamily="34" charset="-120"/>
              </a:rPr>
              <a:t>Donde ya no hay benchmark: hay pacientes</a:t>
            </a:r>
            <a:endParaRPr lang="en-US" sz="3000" dirty="0"/>
          </a:p>
        </p:txBody>
      </p:sp>
      <p:sp>
        <p:nvSpPr>
          <p:cNvPr id="4" name="Shape 2"/>
          <p:cNvSpPr/>
          <p:nvPr/>
        </p:nvSpPr>
        <p:spPr>
          <a:xfrm>
            <a:off x="777240" y="1554480"/>
            <a:ext cx="5120640" cy="3977640"/>
          </a:xfrm>
          <a:prstGeom prst="roundRect">
            <a:avLst>
              <a:gd name="adj" fmla="val 1379"/>
            </a:avLst>
          </a:prstGeom>
          <a:solidFill>
            <a:srgbClr val="F6F6F5"/>
          </a:solidFill>
          <a:ln w="12700">
            <a:solidFill>
              <a:srgbClr val="F6F6F5"/>
            </a:solidFill>
            <a:prstDash val="solid"/>
          </a:ln>
        </p:spPr>
        <p:txBody>
          <a:bodyPr/>
          <a:lstStyle/>
          <a:p>
            <a:endParaRPr lang="en-AR"/>
          </a:p>
        </p:txBody>
      </p:sp>
      <p:sp>
        <p:nvSpPr>
          <p:cNvPr id="5" name="Text 3"/>
          <p:cNvSpPr/>
          <p:nvPr/>
        </p:nvSpPr>
        <p:spPr>
          <a:xfrm>
            <a:off x="1161288" y="1828800"/>
            <a:ext cx="4389120" cy="274320"/>
          </a:xfrm>
          <a:prstGeom prst="rect">
            <a:avLst/>
          </a:prstGeom>
          <a:noFill/>
          <a:ln/>
        </p:spPr>
        <p:txBody>
          <a:bodyPr wrap="square" lIns="0" tIns="0" rIns="0" bIns="0" rtlCol="0" anchor="ctr"/>
          <a:lstStyle/>
          <a:p>
            <a:pPr marL="0" indent="0">
              <a:buNone/>
            </a:pPr>
            <a:r>
              <a:rPr lang="en-US" sz="1050" b="1" kern="0" spc="200" dirty="0">
                <a:solidFill>
                  <a:srgbClr val="E04E39"/>
                </a:solidFill>
                <a:latin typeface="Arial" pitchFamily="34" charset="0"/>
                <a:ea typeface="Arial" pitchFamily="34" charset="-122"/>
                <a:cs typeface="Arial" pitchFamily="34" charset="-120"/>
              </a:rPr>
              <a:t>RENTOSERTIB</a:t>
            </a:r>
            <a:endParaRPr lang="en-US" sz="1050" dirty="0"/>
          </a:p>
        </p:txBody>
      </p:sp>
      <p:sp>
        <p:nvSpPr>
          <p:cNvPr id="6" name="Text 4"/>
          <p:cNvSpPr/>
          <p:nvPr/>
        </p:nvSpPr>
        <p:spPr>
          <a:xfrm>
            <a:off x="1161288" y="2176272"/>
            <a:ext cx="4352544" cy="685800"/>
          </a:xfrm>
          <a:prstGeom prst="rect">
            <a:avLst/>
          </a:prstGeom>
          <a:noFill/>
          <a:ln/>
        </p:spPr>
        <p:txBody>
          <a:bodyPr wrap="square" lIns="0" tIns="0" rIns="0" bIns="0" rtlCol="0" anchor="ctr"/>
          <a:lstStyle/>
          <a:p>
            <a:pPr marL="0" indent="0">
              <a:lnSpc>
                <a:spcPts val="2300"/>
              </a:lnSpc>
              <a:buNone/>
            </a:pPr>
            <a:r>
              <a:rPr lang="en-US" sz="1700" b="1" dirty="0">
                <a:solidFill>
                  <a:srgbClr val="111114"/>
                </a:solidFill>
                <a:latin typeface="Arial" pitchFamily="34" charset="0"/>
                <a:ea typeface="Arial" pitchFamily="34" charset="-122"/>
                <a:cs typeface="Arial" pitchFamily="34" charset="-120"/>
              </a:rPr>
              <a:t>Blanco molecular y molécula diseñados por IA, en 18 meses.</a:t>
            </a:r>
            <a:endParaRPr lang="en-US" sz="1700" dirty="0"/>
          </a:p>
        </p:txBody>
      </p:sp>
      <p:sp>
        <p:nvSpPr>
          <p:cNvPr id="7" name="Text 5"/>
          <p:cNvSpPr/>
          <p:nvPr/>
        </p:nvSpPr>
        <p:spPr>
          <a:xfrm>
            <a:off x="1161288" y="2926080"/>
            <a:ext cx="4352544" cy="640080"/>
          </a:xfrm>
          <a:prstGeom prst="rect">
            <a:avLst/>
          </a:prstGeom>
          <a:noFill/>
          <a:ln/>
        </p:spPr>
        <p:txBody>
          <a:bodyPr wrap="square" lIns="0" tIns="0" rIns="0" bIns="0" rtlCol="0" anchor="ctr"/>
          <a:lstStyle/>
          <a:p>
            <a:pPr marL="0" indent="0">
              <a:lnSpc>
                <a:spcPts val="1700"/>
              </a:lnSpc>
              <a:buNone/>
            </a:pPr>
            <a:r>
              <a:rPr lang="en-US" sz="1250" dirty="0">
                <a:solidFill>
                  <a:srgbClr val="55555C"/>
                </a:solidFill>
                <a:latin typeface="Arial" pitchFamily="34" charset="0"/>
                <a:ea typeface="Arial" pitchFamily="34" charset="-122"/>
                <a:cs typeface="Arial" pitchFamily="34" charset="-120"/>
              </a:rPr>
              <a:t>Para fibrosis pulmonar idiopática. Fase 2a publicada en Nature Medicine, a doce semanas:</a:t>
            </a:r>
            <a:endParaRPr lang="en-US" sz="1250" dirty="0"/>
          </a:p>
        </p:txBody>
      </p:sp>
      <p:sp>
        <p:nvSpPr>
          <p:cNvPr id="8" name="Text 6"/>
          <p:cNvSpPr/>
          <p:nvPr/>
        </p:nvSpPr>
        <p:spPr>
          <a:xfrm>
            <a:off x="1161288" y="3611880"/>
            <a:ext cx="4352544" cy="1325880"/>
          </a:xfrm>
          <a:prstGeom prst="rect">
            <a:avLst/>
          </a:prstGeom>
          <a:noFill/>
          <a:ln/>
        </p:spPr>
        <p:txBody>
          <a:bodyPr wrap="square" lIns="0" tIns="0" rIns="0" bIns="0" rtlCol="0" anchor="t"/>
          <a:lstStyle/>
          <a:p>
            <a:pPr marL="0" indent="0">
              <a:lnSpc>
                <a:spcPts val="2500"/>
              </a:lnSpc>
              <a:buNone/>
            </a:pPr>
            <a:r>
              <a:rPr lang="en-US" sz="2200" b="1" dirty="0">
                <a:solidFill>
                  <a:srgbClr val="6E6E73"/>
                </a:solidFill>
                <a:latin typeface="Arial" pitchFamily="34" charset="0"/>
                <a:ea typeface="Arial" pitchFamily="34" charset="-122"/>
                <a:cs typeface="Arial" pitchFamily="34" charset="-120"/>
              </a:rPr>
              <a:t>−62,3 mL</a:t>
            </a:r>
            <a:endParaRPr lang="en-US" sz="2200" dirty="0"/>
          </a:p>
          <a:p>
            <a:pPr marL="0" indent="0">
              <a:lnSpc>
                <a:spcPts val="2500"/>
              </a:lnSpc>
              <a:buNone/>
            </a:pPr>
            <a:r>
              <a:rPr lang="en-US" sz="1200" dirty="0">
                <a:solidFill>
                  <a:srgbClr val="6E6E73"/>
                </a:solidFill>
                <a:latin typeface="Arial" pitchFamily="34" charset="0"/>
                <a:ea typeface="Arial" pitchFamily="34" charset="-122"/>
                <a:cs typeface="Arial" pitchFamily="34" charset="-120"/>
              </a:rPr>
              <a:t>capacidad pulmonar en el grupo placebo</a:t>
            </a:r>
            <a:endParaRPr lang="en-US" sz="2200" dirty="0"/>
          </a:p>
          <a:p>
            <a:pPr marL="0" indent="0">
              <a:lnSpc>
                <a:spcPts val="2500"/>
              </a:lnSpc>
              <a:buNone/>
            </a:pPr>
            <a:r>
              <a:rPr lang="en-US" sz="2200" b="1" dirty="0">
                <a:solidFill>
                  <a:srgbClr val="E04E39"/>
                </a:solidFill>
                <a:latin typeface="Arial" pitchFamily="34" charset="0"/>
                <a:ea typeface="Arial" pitchFamily="34" charset="-122"/>
                <a:cs typeface="Arial" pitchFamily="34" charset="-120"/>
              </a:rPr>
              <a:t>+98,4 mL</a:t>
            </a:r>
            <a:endParaRPr lang="en-US" sz="2200" dirty="0"/>
          </a:p>
          <a:p>
            <a:pPr marL="0" indent="0">
              <a:lnSpc>
                <a:spcPts val="2500"/>
              </a:lnSpc>
              <a:buNone/>
            </a:pPr>
            <a:r>
              <a:rPr lang="en-US" sz="1200" dirty="0">
                <a:solidFill>
                  <a:srgbClr val="6E6E73"/>
                </a:solidFill>
                <a:latin typeface="Arial" pitchFamily="34" charset="0"/>
                <a:ea typeface="Arial" pitchFamily="34" charset="-122"/>
                <a:cs typeface="Arial" pitchFamily="34" charset="-120"/>
              </a:rPr>
              <a:t>en el grupo tratado</a:t>
            </a:r>
            <a:endParaRPr lang="en-US" sz="2200" dirty="0"/>
          </a:p>
        </p:txBody>
      </p:sp>
      <p:sp>
        <p:nvSpPr>
          <p:cNvPr id="9" name="Text 7"/>
          <p:cNvSpPr/>
          <p:nvPr/>
        </p:nvSpPr>
        <p:spPr>
          <a:xfrm>
            <a:off x="1161288" y="5047488"/>
            <a:ext cx="4352544" cy="274320"/>
          </a:xfrm>
          <a:prstGeom prst="rect">
            <a:avLst/>
          </a:prstGeom>
          <a:noFill/>
          <a:ln/>
        </p:spPr>
        <p:txBody>
          <a:bodyPr wrap="square" lIns="0" tIns="0" rIns="0" bIns="0" rtlCol="0" anchor="t"/>
          <a:lstStyle/>
          <a:p>
            <a:pPr marL="0" indent="0">
              <a:buNone/>
            </a:pPr>
            <a:r>
              <a:rPr lang="en-US" sz="1250" i="1" dirty="0">
                <a:solidFill>
                  <a:srgbClr val="6E6E73"/>
                </a:solidFill>
                <a:latin typeface="Arial" pitchFamily="34" charset="0"/>
                <a:ea typeface="Arial" pitchFamily="34" charset="-122"/>
                <a:cs typeface="Arial" pitchFamily="34" charset="-120"/>
              </a:rPr>
              <a:t>Ya está en Fase III.</a:t>
            </a:r>
            <a:endParaRPr lang="en-US" sz="1250" dirty="0"/>
          </a:p>
        </p:txBody>
      </p:sp>
      <p:sp>
        <p:nvSpPr>
          <p:cNvPr id="10" name="Shape 8"/>
          <p:cNvSpPr/>
          <p:nvPr/>
        </p:nvSpPr>
        <p:spPr>
          <a:xfrm>
            <a:off x="6291072" y="1554480"/>
            <a:ext cx="5120640" cy="3977640"/>
          </a:xfrm>
          <a:prstGeom prst="roundRect">
            <a:avLst>
              <a:gd name="adj" fmla="val 1379"/>
            </a:avLst>
          </a:prstGeom>
          <a:solidFill>
            <a:srgbClr val="111114"/>
          </a:solidFill>
          <a:ln w="12700">
            <a:solidFill>
              <a:srgbClr val="111114"/>
            </a:solidFill>
            <a:prstDash val="solid"/>
          </a:ln>
        </p:spPr>
        <p:txBody>
          <a:bodyPr/>
          <a:lstStyle/>
          <a:p>
            <a:endParaRPr lang="en-AR"/>
          </a:p>
        </p:txBody>
      </p:sp>
      <p:sp>
        <p:nvSpPr>
          <p:cNvPr id="11" name="Text 9"/>
          <p:cNvSpPr/>
          <p:nvPr/>
        </p:nvSpPr>
        <p:spPr>
          <a:xfrm>
            <a:off x="6675120" y="1828800"/>
            <a:ext cx="4389120" cy="274320"/>
          </a:xfrm>
          <a:prstGeom prst="rect">
            <a:avLst/>
          </a:prstGeom>
          <a:noFill/>
          <a:ln/>
        </p:spPr>
        <p:txBody>
          <a:bodyPr wrap="square" lIns="0" tIns="0" rIns="0" bIns="0" rtlCol="0" anchor="ctr"/>
          <a:lstStyle/>
          <a:p>
            <a:pPr marL="0" indent="0">
              <a:buNone/>
            </a:pPr>
            <a:r>
              <a:rPr lang="en-US" sz="1050" b="1" kern="0" spc="200" dirty="0">
                <a:solidFill>
                  <a:srgbClr val="E04E39"/>
                </a:solidFill>
                <a:latin typeface="Arial" pitchFamily="34" charset="0"/>
                <a:ea typeface="Arial" pitchFamily="34" charset="-122"/>
                <a:cs typeface="Arial" pitchFamily="34" charset="-120"/>
              </a:rPr>
              <a:t>ISOMORPHIC LABS</a:t>
            </a:r>
            <a:endParaRPr lang="en-US" sz="1050" dirty="0"/>
          </a:p>
        </p:txBody>
      </p:sp>
      <p:sp>
        <p:nvSpPr>
          <p:cNvPr id="12" name="Text 10"/>
          <p:cNvSpPr/>
          <p:nvPr/>
        </p:nvSpPr>
        <p:spPr>
          <a:xfrm>
            <a:off x="6675120" y="2176272"/>
            <a:ext cx="4352544" cy="685800"/>
          </a:xfrm>
          <a:prstGeom prst="rect">
            <a:avLst/>
          </a:prstGeom>
          <a:noFill/>
          <a:ln/>
        </p:spPr>
        <p:txBody>
          <a:bodyPr wrap="square" lIns="0" tIns="0" rIns="0" bIns="0" rtlCol="0" anchor="ctr"/>
          <a:lstStyle/>
          <a:p>
            <a:pPr marL="0" indent="0">
              <a:lnSpc>
                <a:spcPts val="2300"/>
              </a:lnSpc>
              <a:buNone/>
            </a:pPr>
            <a:r>
              <a:rPr lang="en-US" sz="1700" b="1" dirty="0">
                <a:solidFill>
                  <a:srgbClr val="FFFFFF"/>
                </a:solidFill>
                <a:latin typeface="Arial" pitchFamily="34" charset="0"/>
                <a:ea typeface="Arial" pitchFamily="34" charset="-122"/>
                <a:cs typeface="Arial" pitchFamily="34" charset="-120"/>
              </a:rPr>
              <a:t>El spin-off de DeepMind construido sobre AlphaFold 3.</a:t>
            </a:r>
            <a:endParaRPr lang="en-US" sz="1700" dirty="0"/>
          </a:p>
        </p:txBody>
      </p:sp>
      <p:sp>
        <p:nvSpPr>
          <p:cNvPr id="13" name="Text 11"/>
          <p:cNvSpPr/>
          <p:nvPr/>
        </p:nvSpPr>
        <p:spPr>
          <a:xfrm>
            <a:off x="6675120" y="2926080"/>
            <a:ext cx="4352544" cy="548640"/>
          </a:xfrm>
          <a:prstGeom prst="rect">
            <a:avLst/>
          </a:prstGeom>
          <a:noFill/>
          <a:ln/>
        </p:spPr>
        <p:txBody>
          <a:bodyPr wrap="square" lIns="0" tIns="0" rIns="0" bIns="0" rtlCol="0" anchor="ctr"/>
          <a:lstStyle/>
          <a:p>
            <a:pPr marL="0" indent="0">
              <a:lnSpc>
                <a:spcPts val="1700"/>
              </a:lnSpc>
              <a:buNone/>
            </a:pPr>
            <a:r>
              <a:rPr lang="en-US" sz="1250" dirty="0">
                <a:solidFill>
                  <a:srgbClr val="9A9AA2"/>
                </a:solidFill>
                <a:latin typeface="Arial" pitchFamily="34" charset="0"/>
                <a:ea typeface="Arial" pitchFamily="34" charset="-122"/>
                <a:cs typeface="Arial" pitchFamily="34" charset="-120"/>
              </a:rPr>
              <a:t>AlphaFold le valió a Hassabis y Jumper el Nobel de Química 2024.</a:t>
            </a:r>
            <a:endParaRPr lang="en-US" sz="1250" dirty="0"/>
          </a:p>
        </p:txBody>
      </p:sp>
      <p:sp>
        <p:nvSpPr>
          <p:cNvPr id="14" name="Text 12"/>
          <p:cNvSpPr/>
          <p:nvPr/>
        </p:nvSpPr>
        <p:spPr>
          <a:xfrm>
            <a:off x="6675120" y="3611880"/>
            <a:ext cx="4352544" cy="1325880"/>
          </a:xfrm>
          <a:prstGeom prst="rect">
            <a:avLst/>
          </a:prstGeom>
          <a:noFill/>
          <a:ln/>
        </p:spPr>
        <p:txBody>
          <a:bodyPr wrap="square" lIns="0" tIns="0" rIns="0" bIns="0" rtlCol="0" anchor="t"/>
          <a:lstStyle/>
          <a:p>
            <a:pPr marL="0" indent="0">
              <a:lnSpc>
                <a:spcPts val="2500"/>
              </a:lnSpc>
              <a:buNone/>
            </a:pPr>
            <a:r>
              <a:rPr lang="en-US" sz="2200" b="1" dirty="0">
                <a:solidFill>
                  <a:srgbClr val="FFFFFF"/>
                </a:solidFill>
                <a:latin typeface="Arial" pitchFamily="34" charset="0"/>
                <a:ea typeface="Arial" pitchFamily="34" charset="-122"/>
                <a:cs typeface="Arial" pitchFamily="34" charset="-120"/>
              </a:rPr>
              <a:t>US$2.100 M</a:t>
            </a:r>
            <a:endParaRPr lang="en-US" sz="2200" dirty="0"/>
          </a:p>
          <a:p>
            <a:pPr marL="0" indent="0">
              <a:lnSpc>
                <a:spcPts val="2500"/>
              </a:lnSpc>
              <a:buNone/>
            </a:pPr>
            <a:r>
              <a:rPr lang="en-US" sz="1200" dirty="0">
                <a:solidFill>
                  <a:srgbClr val="9A9AA2"/>
                </a:solidFill>
                <a:latin typeface="Arial" pitchFamily="34" charset="0"/>
                <a:ea typeface="Arial" pitchFamily="34" charset="-122"/>
                <a:cs typeface="Arial" pitchFamily="34" charset="-120"/>
              </a:rPr>
              <a:t>levantados</a:t>
            </a:r>
            <a:endParaRPr lang="en-US" sz="2200" dirty="0"/>
          </a:p>
          <a:p>
            <a:pPr marL="0" indent="0">
              <a:lnSpc>
                <a:spcPts val="2500"/>
              </a:lnSpc>
              <a:buNone/>
            </a:pPr>
            <a:r>
              <a:rPr lang="en-US" sz="2200" b="1" dirty="0">
                <a:solidFill>
                  <a:srgbClr val="FFFFFF"/>
                </a:solidFill>
                <a:latin typeface="Arial" pitchFamily="34" charset="0"/>
                <a:ea typeface="Arial" pitchFamily="34" charset="-122"/>
                <a:cs typeface="Arial" pitchFamily="34" charset="-120"/>
              </a:rPr>
              <a:t>US$3.000 M</a:t>
            </a:r>
            <a:endParaRPr lang="en-US" sz="2200" dirty="0"/>
          </a:p>
          <a:p>
            <a:pPr marL="0" indent="0">
              <a:lnSpc>
                <a:spcPts val="2500"/>
              </a:lnSpc>
              <a:buNone/>
            </a:pPr>
            <a:r>
              <a:rPr lang="en-US" sz="1200" dirty="0">
                <a:solidFill>
                  <a:srgbClr val="9A9AA2"/>
                </a:solidFill>
                <a:latin typeface="Arial" pitchFamily="34" charset="0"/>
                <a:ea typeface="Arial" pitchFamily="34" charset="-122"/>
                <a:cs typeface="Arial" pitchFamily="34" charset="-120"/>
              </a:rPr>
              <a:t>en acuerdos con Novartis y Eli Lilly</a:t>
            </a:r>
            <a:endParaRPr lang="en-US" sz="2200" dirty="0"/>
          </a:p>
        </p:txBody>
      </p:sp>
      <p:sp>
        <p:nvSpPr>
          <p:cNvPr id="15" name="Text 13"/>
          <p:cNvSpPr/>
          <p:nvPr/>
        </p:nvSpPr>
        <p:spPr>
          <a:xfrm>
            <a:off x="6675120" y="5047488"/>
            <a:ext cx="4352544" cy="274320"/>
          </a:xfrm>
          <a:prstGeom prst="rect">
            <a:avLst/>
          </a:prstGeom>
          <a:noFill/>
          <a:ln/>
        </p:spPr>
        <p:txBody>
          <a:bodyPr wrap="square" lIns="0" tIns="0" rIns="0" bIns="0" rtlCol="0" anchor="t"/>
          <a:lstStyle/>
          <a:p>
            <a:pPr marL="0" indent="0">
              <a:buNone/>
            </a:pPr>
            <a:r>
              <a:rPr lang="en-US" sz="1250" i="1" dirty="0">
                <a:solidFill>
                  <a:srgbClr val="78787F"/>
                </a:solidFill>
                <a:latin typeface="Arial" pitchFamily="34" charset="0"/>
                <a:ea typeface="Arial" pitchFamily="34" charset="-122"/>
                <a:cs typeface="Arial" pitchFamily="34" charset="-120"/>
              </a:rPr>
              <a:t>Ensayos en humanos en oncología, 2026.</a:t>
            </a:r>
            <a:endParaRPr lang="en-US" sz="1250" dirty="0"/>
          </a:p>
        </p:txBody>
      </p:sp>
      <p:sp>
        <p:nvSpPr>
          <p:cNvPr id="16" name="Text 14"/>
          <p:cNvSpPr/>
          <p:nvPr/>
        </p:nvSpPr>
        <p:spPr>
          <a:xfrm>
            <a:off x="10865815" y="6291072"/>
            <a:ext cx="548640" cy="274320"/>
          </a:xfrm>
          <a:prstGeom prst="rect">
            <a:avLst/>
          </a:prstGeom>
          <a:noFill/>
          <a:ln/>
        </p:spPr>
        <p:txBody>
          <a:bodyPr wrap="square" lIns="0" tIns="0" rIns="0" bIns="0" rtlCol="0" anchor="ctr"/>
          <a:lstStyle/>
          <a:p>
            <a:pPr marL="0" indent="0" algn="r">
              <a:buNone/>
            </a:pPr>
            <a:r>
              <a:rPr lang="en-US" sz="900" dirty="0">
                <a:solidFill>
                  <a:srgbClr val="9A9AA0"/>
                </a:solidFill>
                <a:latin typeface="Arial" pitchFamily="34" charset="0"/>
                <a:ea typeface="Arial" pitchFamily="34" charset="-122"/>
                <a:cs typeface="Arial" pitchFamily="34" charset="-120"/>
              </a:rPr>
              <a:t>29</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420624"/>
            <a:ext cx="10637215" cy="237744"/>
          </a:xfrm>
          <a:prstGeom prst="rect">
            <a:avLst/>
          </a:prstGeom>
          <a:noFill/>
          <a:ln/>
        </p:spPr>
        <p:txBody>
          <a:bodyPr wrap="square" lIns="0" tIns="0" rIns="0" bIns="0" rtlCol="0" anchor="ctr"/>
          <a:lstStyle/>
          <a:p>
            <a:pPr marL="0" indent="0">
              <a:buNone/>
            </a:pPr>
            <a:r>
              <a:rPr lang="en-US" sz="1050" b="1" kern="0" spc="200" dirty="0">
                <a:solidFill>
                  <a:srgbClr val="E04E39"/>
                </a:solidFill>
                <a:latin typeface="Arial" pitchFamily="34" charset="0"/>
                <a:ea typeface="Arial" pitchFamily="34" charset="-122"/>
                <a:cs typeface="Arial" pitchFamily="34" charset="-120"/>
              </a:rPr>
              <a:t>CREATIVIDAD</a:t>
            </a:r>
            <a:endParaRPr lang="en-US" sz="1050" dirty="0"/>
          </a:p>
        </p:txBody>
      </p:sp>
      <p:sp>
        <p:nvSpPr>
          <p:cNvPr id="3" name="Text 1"/>
          <p:cNvSpPr/>
          <p:nvPr/>
        </p:nvSpPr>
        <p:spPr>
          <a:xfrm>
            <a:off x="777240" y="694944"/>
            <a:ext cx="10637215" cy="566928"/>
          </a:xfrm>
          <a:prstGeom prst="rect">
            <a:avLst/>
          </a:prstGeom>
          <a:noFill/>
          <a:ln/>
        </p:spPr>
        <p:txBody>
          <a:bodyPr wrap="square" lIns="0" tIns="0" rIns="0" bIns="0" rtlCol="0" anchor="t"/>
          <a:lstStyle/>
          <a:p>
            <a:pPr marL="0" indent="0">
              <a:lnSpc>
                <a:spcPts val="3400"/>
              </a:lnSpc>
              <a:buNone/>
            </a:pPr>
            <a:r>
              <a:rPr lang="en-US" sz="3000" b="1" dirty="0">
                <a:solidFill>
                  <a:srgbClr val="111114"/>
                </a:solidFill>
                <a:latin typeface="Arial" pitchFamily="34" charset="0"/>
                <a:ea typeface="Arial" pitchFamily="34" charset="-122"/>
                <a:cs typeface="Arial" pitchFamily="34" charset="-120"/>
              </a:rPr>
              <a:t>¿Es la IA más creativa que nosotros?</a:t>
            </a:r>
            <a:endParaRPr lang="en-US" sz="3000" dirty="0"/>
          </a:p>
        </p:txBody>
      </p:sp>
      <p:sp>
        <p:nvSpPr>
          <p:cNvPr id="4" name="Text 2"/>
          <p:cNvSpPr/>
          <p:nvPr/>
        </p:nvSpPr>
        <p:spPr>
          <a:xfrm>
            <a:off x="777240" y="1481328"/>
            <a:ext cx="7315200" cy="292608"/>
          </a:xfrm>
          <a:prstGeom prst="rect">
            <a:avLst/>
          </a:prstGeom>
          <a:noFill/>
          <a:ln/>
        </p:spPr>
        <p:txBody>
          <a:bodyPr wrap="square" lIns="0" tIns="0" rIns="0" bIns="0" rtlCol="0" anchor="t"/>
          <a:lstStyle/>
          <a:p>
            <a:pPr marL="0" indent="0">
              <a:lnSpc>
                <a:spcPts val="2030"/>
              </a:lnSpc>
              <a:buNone/>
            </a:pPr>
            <a:r>
              <a:rPr lang="en-US" sz="1400" dirty="0">
                <a:solidFill>
                  <a:srgbClr val="6E6E73"/>
                </a:solidFill>
                <a:latin typeface="Arial" pitchFamily="34" charset="0"/>
                <a:ea typeface="Arial" pitchFamily="34" charset="-122"/>
                <a:cs typeface="Arial" pitchFamily="34" charset="-120"/>
              </a:rPr>
              <a:t>Primero, los estudios que dicen que sí.</a:t>
            </a:r>
            <a:endParaRPr lang="en-US" sz="1400" dirty="0"/>
          </a:p>
        </p:txBody>
      </p:sp>
      <p:sp>
        <p:nvSpPr>
          <p:cNvPr id="5" name="Text 3"/>
          <p:cNvSpPr/>
          <p:nvPr/>
        </p:nvSpPr>
        <p:spPr>
          <a:xfrm>
            <a:off x="777240" y="1874520"/>
            <a:ext cx="2286000" cy="411480"/>
          </a:xfrm>
          <a:prstGeom prst="rect">
            <a:avLst/>
          </a:prstGeom>
          <a:noFill/>
          <a:ln/>
        </p:spPr>
        <p:txBody>
          <a:bodyPr wrap="square" lIns="0" tIns="0" rIns="0" bIns="0" rtlCol="0" anchor="ctr"/>
          <a:lstStyle/>
          <a:p>
            <a:pPr marL="0" indent="0">
              <a:buNone/>
            </a:pPr>
            <a:r>
              <a:rPr lang="en-US" sz="2100" b="1" dirty="0">
                <a:solidFill>
                  <a:srgbClr val="E04E39"/>
                </a:solidFill>
                <a:latin typeface="Arial" pitchFamily="34" charset="0"/>
                <a:ea typeface="Arial" pitchFamily="34" charset="-122"/>
                <a:cs typeface="Arial" pitchFamily="34" charset="-120"/>
              </a:rPr>
              <a:t>Percentil 99</a:t>
            </a:r>
            <a:endParaRPr lang="en-US" sz="2100" dirty="0"/>
          </a:p>
        </p:txBody>
      </p:sp>
      <p:sp>
        <p:nvSpPr>
          <p:cNvPr id="6" name="Text 4"/>
          <p:cNvSpPr/>
          <p:nvPr/>
        </p:nvSpPr>
        <p:spPr>
          <a:xfrm>
            <a:off x="3291840" y="1874520"/>
            <a:ext cx="5669280" cy="868680"/>
          </a:xfrm>
          <a:prstGeom prst="rect">
            <a:avLst/>
          </a:prstGeom>
          <a:noFill/>
          <a:ln/>
        </p:spPr>
        <p:txBody>
          <a:bodyPr wrap="square" lIns="0" tIns="0" rIns="0" bIns="0" rtlCol="0" anchor="ctr"/>
          <a:lstStyle/>
          <a:p>
            <a:pPr marL="0" indent="0">
              <a:lnSpc>
                <a:spcPts val="1850"/>
              </a:lnSpc>
              <a:buNone/>
            </a:pPr>
            <a:r>
              <a:rPr lang="en-US" sz="1350" dirty="0">
                <a:solidFill>
                  <a:srgbClr val="3A3A40"/>
                </a:solidFill>
                <a:latin typeface="Arial" pitchFamily="34" charset="0"/>
                <a:ea typeface="Arial" pitchFamily="34" charset="-122"/>
                <a:cs typeface="Arial" pitchFamily="34" charset="-120"/>
              </a:rPr>
              <a:t>en originalidad obtuvo GPT-4 en el test de Torrance, el estándar psicométrico de pensamiento creativo. Percentil 97 en flexibilidad.</a:t>
            </a:r>
            <a:endParaRPr lang="en-US" sz="1350" dirty="0"/>
          </a:p>
        </p:txBody>
      </p:sp>
      <p:sp>
        <p:nvSpPr>
          <p:cNvPr id="7" name="Text 5"/>
          <p:cNvSpPr/>
          <p:nvPr/>
        </p:nvSpPr>
        <p:spPr>
          <a:xfrm>
            <a:off x="9189720" y="1920240"/>
            <a:ext cx="2221992" cy="731520"/>
          </a:xfrm>
          <a:prstGeom prst="rect">
            <a:avLst/>
          </a:prstGeom>
          <a:noFill/>
          <a:ln/>
        </p:spPr>
        <p:txBody>
          <a:bodyPr wrap="square" lIns="0" tIns="0" rIns="0" bIns="0" rtlCol="0" anchor="ctr"/>
          <a:lstStyle/>
          <a:p>
            <a:pPr marL="0" indent="0">
              <a:lnSpc>
                <a:spcPts val="1400"/>
              </a:lnSpc>
              <a:buNone/>
            </a:pPr>
            <a:r>
              <a:rPr lang="en-US" sz="1050" dirty="0">
                <a:solidFill>
                  <a:srgbClr val="9A9AA0"/>
                </a:solidFill>
                <a:latin typeface="Arial" pitchFamily="34" charset="0"/>
                <a:ea typeface="Arial" pitchFamily="34" charset="-122"/>
                <a:cs typeface="Arial" pitchFamily="34" charset="-120"/>
              </a:rPr>
              <a:t>Universidad de Montana, 2023</a:t>
            </a:r>
            <a:endParaRPr lang="en-US" sz="1050" dirty="0"/>
          </a:p>
        </p:txBody>
      </p:sp>
      <p:sp>
        <p:nvSpPr>
          <p:cNvPr id="8" name="Shape 6"/>
          <p:cNvSpPr/>
          <p:nvPr/>
        </p:nvSpPr>
        <p:spPr>
          <a:xfrm>
            <a:off x="777240" y="2825496"/>
            <a:ext cx="10637215" cy="10973"/>
          </a:xfrm>
          <a:prstGeom prst="rect">
            <a:avLst/>
          </a:prstGeom>
          <a:solidFill>
            <a:srgbClr val="E4E4E6"/>
          </a:solidFill>
          <a:ln w="12700">
            <a:solidFill>
              <a:srgbClr val="333333"/>
            </a:solidFill>
            <a:prstDash val="solid"/>
          </a:ln>
        </p:spPr>
        <p:txBody>
          <a:bodyPr/>
          <a:lstStyle/>
          <a:p>
            <a:endParaRPr lang="en-AR"/>
          </a:p>
        </p:txBody>
      </p:sp>
      <p:sp>
        <p:nvSpPr>
          <p:cNvPr id="9" name="Text 7"/>
          <p:cNvSpPr/>
          <p:nvPr/>
        </p:nvSpPr>
        <p:spPr>
          <a:xfrm>
            <a:off x="777240" y="3044952"/>
            <a:ext cx="2286000" cy="411480"/>
          </a:xfrm>
          <a:prstGeom prst="rect">
            <a:avLst/>
          </a:prstGeom>
          <a:noFill/>
          <a:ln/>
        </p:spPr>
        <p:txBody>
          <a:bodyPr wrap="square" lIns="0" tIns="0" rIns="0" bIns="0" rtlCol="0" anchor="ctr"/>
          <a:lstStyle/>
          <a:p>
            <a:pPr marL="0" indent="0">
              <a:buNone/>
            </a:pPr>
            <a:r>
              <a:rPr lang="en-US" sz="2100" b="1" dirty="0">
                <a:solidFill>
                  <a:srgbClr val="E04E39"/>
                </a:solidFill>
                <a:latin typeface="Arial" pitchFamily="34" charset="0"/>
                <a:ea typeface="Arial" pitchFamily="34" charset="-122"/>
                <a:cs typeface="Arial" pitchFamily="34" charset="-120"/>
              </a:rPr>
              <a:t>46,6%</a:t>
            </a:r>
            <a:endParaRPr lang="en-US" sz="2100" dirty="0"/>
          </a:p>
        </p:txBody>
      </p:sp>
      <p:sp>
        <p:nvSpPr>
          <p:cNvPr id="10" name="Text 8"/>
          <p:cNvSpPr/>
          <p:nvPr/>
        </p:nvSpPr>
        <p:spPr>
          <a:xfrm>
            <a:off x="3291840" y="3044952"/>
            <a:ext cx="5669280" cy="868680"/>
          </a:xfrm>
          <a:prstGeom prst="rect">
            <a:avLst/>
          </a:prstGeom>
          <a:noFill/>
          <a:ln/>
        </p:spPr>
        <p:txBody>
          <a:bodyPr wrap="square" lIns="0" tIns="0" rIns="0" bIns="0" rtlCol="0" anchor="ctr"/>
          <a:lstStyle/>
          <a:p>
            <a:pPr marL="0" indent="0">
              <a:lnSpc>
                <a:spcPts val="1850"/>
              </a:lnSpc>
              <a:buNone/>
            </a:pPr>
            <a:r>
              <a:rPr lang="en-US" sz="1350" dirty="0">
                <a:solidFill>
                  <a:srgbClr val="3A3A40"/>
                </a:solidFill>
                <a:latin typeface="Arial" pitchFamily="34" charset="0"/>
                <a:ea typeface="Arial" pitchFamily="34" charset="-122"/>
                <a:cs typeface="Arial" pitchFamily="34" charset="-120"/>
              </a:rPr>
              <a:t>de acierto tuvo la gente al distinguir poemas de IA de poemas de diez poetas canónicos. Es por debajo del azar. Y calificaron mejor a los de IA en ritmo y belleza.</a:t>
            </a:r>
            <a:endParaRPr lang="en-US" sz="1350" dirty="0"/>
          </a:p>
        </p:txBody>
      </p:sp>
      <p:sp>
        <p:nvSpPr>
          <p:cNvPr id="11" name="Text 9"/>
          <p:cNvSpPr/>
          <p:nvPr/>
        </p:nvSpPr>
        <p:spPr>
          <a:xfrm>
            <a:off x="9189720" y="3090672"/>
            <a:ext cx="2221992" cy="731520"/>
          </a:xfrm>
          <a:prstGeom prst="rect">
            <a:avLst/>
          </a:prstGeom>
          <a:noFill/>
          <a:ln/>
        </p:spPr>
        <p:txBody>
          <a:bodyPr wrap="square" lIns="0" tIns="0" rIns="0" bIns="0" rtlCol="0" anchor="ctr"/>
          <a:lstStyle/>
          <a:p>
            <a:pPr marL="0" indent="0">
              <a:lnSpc>
                <a:spcPts val="1400"/>
              </a:lnSpc>
              <a:buNone/>
            </a:pPr>
            <a:r>
              <a:rPr lang="en-US" sz="1050" dirty="0">
                <a:solidFill>
                  <a:srgbClr val="9A9AA0"/>
                </a:solidFill>
                <a:latin typeface="Arial" pitchFamily="34" charset="0"/>
                <a:ea typeface="Arial" pitchFamily="34" charset="-122"/>
                <a:cs typeface="Arial" pitchFamily="34" charset="-120"/>
              </a:rPr>
              <a:t>Scientific Reports, n=1.634</a:t>
            </a:r>
            <a:endParaRPr lang="en-US" sz="1050" dirty="0"/>
          </a:p>
        </p:txBody>
      </p:sp>
      <p:sp>
        <p:nvSpPr>
          <p:cNvPr id="12" name="Shape 10"/>
          <p:cNvSpPr/>
          <p:nvPr/>
        </p:nvSpPr>
        <p:spPr>
          <a:xfrm>
            <a:off x="777240" y="3995928"/>
            <a:ext cx="10637215" cy="10973"/>
          </a:xfrm>
          <a:prstGeom prst="rect">
            <a:avLst/>
          </a:prstGeom>
          <a:solidFill>
            <a:srgbClr val="E4E4E6"/>
          </a:solidFill>
          <a:ln w="12700">
            <a:solidFill>
              <a:srgbClr val="333333"/>
            </a:solidFill>
            <a:prstDash val="solid"/>
          </a:ln>
        </p:spPr>
        <p:txBody>
          <a:bodyPr/>
          <a:lstStyle/>
          <a:p>
            <a:endParaRPr lang="en-AR"/>
          </a:p>
        </p:txBody>
      </p:sp>
      <p:sp>
        <p:nvSpPr>
          <p:cNvPr id="13" name="Text 11"/>
          <p:cNvSpPr/>
          <p:nvPr/>
        </p:nvSpPr>
        <p:spPr>
          <a:xfrm>
            <a:off x="777240" y="4215384"/>
            <a:ext cx="2286000" cy="411480"/>
          </a:xfrm>
          <a:prstGeom prst="rect">
            <a:avLst/>
          </a:prstGeom>
          <a:noFill/>
          <a:ln/>
        </p:spPr>
        <p:txBody>
          <a:bodyPr wrap="square" lIns="0" tIns="0" rIns="0" bIns="0" rtlCol="0" anchor="ctr"/>
          <a:lstStyle/>
          <a:p>
            <a:pPr marL="0" indent="0">
              <a:buNone/>
            </a:pPr>
            <a:r>
              <a:rPr lang="en-US" sz="2100" b="1" dirty="0">
                <a:solidFill>
                  <a:srgbClr val="E04E39"/>
                </a:solidFill>
                <a:latin typeface="Arial" pitchFamily="34" charset="0"/>
                <a:ea typeface="Arial" pitchFamily="34" charset="-122"/>
                <a:cs typeface="Arial" pitchFamily="34" charset="-120"/>
              </a:rPr>
              <a:t>Mejor puntaje</a:t>
            </a:r>
            <a:endParaRPr lang="en-US" sz="2100" dirty="0"/>
          </a:p>
        </p:txBody>
      </p:sp>
      <p:sp>
        <p:nvSpPr>
          <p:cNvPr id="14" name="Text 12"/>
          <p:cNvSpPr/>
          <p:nvPr/>
        </p:nvSpPr>
        <p:spPr>
          <a:xfrm>
            <a:off x="3291840" y="4215384"/>
            <a:ext cx="5669280" cy="868680"/>
          </a:xfrm>
          <a:prstGeom prst="rect">
            <a:avLst/>
          </a:prstGeom>
          <a:noFill/>
          <a:ln/>
        </p:spPr>
        <p:txBody>
          <a:bodyPr wrap="square" lIns="0" tIns="0" rIns="0" bIns="0" rtlCol="0" anchor="ctr"/>
          <a:lstStyle/>
          <a:p>
            <a:pPr marL="0" indent="0">
              <a:lnSpc>
                <a:spcPts val="1850"/>
              </a:lnSpc>
              <a:buNone/>
            </a:pPr>
            <a:r>
              <a:rPr lang="en-US" sz="1350" dirty="0">
                <a:solidFill>
                  <a:srgbClr val="3A3A40"/>
                </a:solidFill>
                <a:latin typeface="Arial" pitchFamily="34" charset="0"/>
                <a:ea typeface="Arial" pitchFamily="34" charset="-122"/>
                <a:cs typeface="Arial" pitchFamily="34" charset="-120"/>
              </a:rPr>
              <a:t>recibieron los cuentos escritos por IA que los escritos por humanos, en evaluación a doble ciego. La pericia literaria no ayudaba a detectarlos.</a:t>
            </a:r>
            <a:endParaRPr lang="en-US" sz="1350" dirty="0"/>
          </a:p>
        </p:txBody>
      </p:sp>
      <p:sp>
        <p:nvSpPr>
          <p:cNvPr id="15" name="Text 13"/>
          <p:cNvSpPr/>
          <p:nvPr/>
        </p:nvSpPr>
        <p:spPr>
          <a:xfrm>
            <a:off x="9189720" y="4261104"/>
            <a:ext cx="2221992" cy="731520"/>
          </a:xfrm>
          <a:prstGeom prst="rect">
            <a:avLst/>
          </a:prstGeom>
          <a:noFill/>
          <a:ln/>
        </p:spPr>
        <p:txBody>
          <a:bodyPr wrap="square" lIns="0" tIns="0" rIns="0" bIns="0" rtlCol="0" anchor="ctr"/>
          <a:lstStyle/>
          <a:p>
            <a:pPr marL="0" indent="0">
              <a:lnSpc>
                <a:spcPts val="1400"/>
              </a:lnSpc>
              <a:buNone/>
            </a:pPr>
            <a:r>
              <a:rPr lang="en-US" sz="1050" dirty="0">
                <a:solidFill>
                  <a:srgbClr val="9A9AA0"/>
                </a:solidFill>
                <a:latin typeface="Arial" pitchFamily="34" charset="0"/>
                <a:ea typeface="Arial" pitchFamily="34" charset="-122"/>
                <a:cs typeface="Arial" pitchFamily="34" charset="-120"/>
              </a:rPr>
              <a:t>Judgment and Decision Making, agosto 2026, n=2.587</a:t>
            </a:r>
            <a:endParaRPr lang="en-US" sz="1050" dirty="0"/>
          </a:p>
        </p:txBody>
      </p:sp>
      <p:sp>
        <p:nvSpPr>
          <p:cNvPr id="16" name="Shape 14"/>
          <p:cNvSpPr/>
          <p:nvPr/>
        </p:nvSpPr>
        <p:spPr>
          <a:xfrm>
            <a:off x="777240" y="5440680"/>
            <a:ext cx="10637215" cy="868680"/>
          </a:xfrm>
          <a:prstGeom prst="roundRect">
            <a:avLst>
              <a:gd name="adj" fmla="val 6316"/>
            </a:avLst>
          </a:prstGeom>
          <a:solidFill>
            <a:srgbClr val="111114"/>
          </a:solidFill>
          <a:ln w="12700">
            <a:solidFill>
              <a:srgbClr val="111114"/>
            </a:solidFill>
            <a:prstDash val="solid"/>
          </a:ln>
        </p:spPr>
        <p:txBody>
          <a:bodyPr/>
          <a:lstStyle/>
          <a:p>
            <a:endParaRPr lang="en-AR"/>
          </a:p>
        </p:txBody>
      </p:sp>
      <p:sp>
        <p:nvSpPr>
          <p:cNvPr id="17" name="Text 15"/>
          <p:cNvSpPr/>
          <p:nvPr/>
        </p:nvSpPr>
        <p:spPr>
          <a:xfrm>
            <a:off x="1234440" y="5669280"/>
            <a:ext cx="9722815" cy="41148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En escritura y en tests de originalidad, la IA ya pasa por humana — y a veces gusta más.</a:t>
            </a:r>
            <a:endParaRPr lang="en-US" sz="1600" dirty="0"/>
          </a:p>
        </p:txBody>
      </p:sp>
      <p:sp>
        <p:nvSpPr>
          <p:cNvPr id="18" name="Text 16"/>
          <p:cNvSpPr/>
          <p:nvPr/>
        </p:nvSpPr>
        <p:spPr>
          <a:xfrm>
            <a:off x="10865815" y="6291072"/>
            <a:ext cx="548640" cy="274320"/>
          </a:xfrm>
          <a:prstGeom prst="rect">
            <a:avLst/>
          </a:prstGeom>
          <a:noFill/>
          <a:ln/>
        </p:spPr>
        <p:txBody>
          <a:bodyPr wrap="square" lIns="0" tIns="0" rIns="0" bIns="0" rtlCol="0" anchor="ctr"/>
          <a:lstStyle/>
          <a:p>
            <a:pPr marL="0" indent="0" algn="r">
              <a:buNone/>
            </a:pPr>
            <a:r>
              <a:rPr lang="en-US" sz="900" dirty="0">
                <a:solidFill>
                  <a:srgbClr val="9A9AA0"/>
                </a:solidFill>
                <a:latin typeface="Arial" pitchFamily="34" charset="0"/>
                <a:ea typeface="Arial" pitchFamily="34" charset="-122"/>
                <a:cs typeface="Arial" pitchFamily="34" charset="-120"/>
              </a:rPr>
              <a:t>30</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420624"/>
            <a:ext cx="10637215" cy="237744"/>
          </a:xfrm>
          <a:prstGeom prst="rect">
            <a:avLst/>
          </a:prstGeom>
          <a:noFill/>
          <a:ln/>
        </p:spPr>
        <p:txBody>
          <a:bodyPr wrap="square" lIns="0" tIns="0" rIns="0" bIns="0" rtlCol="0" anchor="ctr"/>
          <a:lstStyle/>
          <a:p>
            <a:pPr marL="0" indent="0">
              <a:buNone/>
            </a:pPr>
            <a:r>
              <a:rPr lang="en-US" sz="1050" b="1" kern="0" spc="200" dirty="0">
                <a:solidFill>
                  <a:srgbClr val="E04E39"/>
                </a:solidFill>
                <a:latin typeface="Arial" pitchFamily="34" charset="0"/>
                <a:ea typeface="Arial" pitchFamily="34" charset="-122"/>
                <a:cs typeface="Arial" pitchFamily="34" charset="-120"/>
              </a:rPr>
              <a:t>CREATIVIDAD</a:t>
            </a:r>
            <a:endParaRPr lang="en-US" sz="1050" dirty="0"/>
          </a:p>
        </p:txBody>
      </p:sp>
      <p:sp>
        <p:nvSpPr>
          <p:cNvPr id="3" name="Text 1"/>
          <p:cNvSpPr/>
          <p:nvPr/>
        </p:nvSpPr>
        <p:spPr>
          <a:xfrm>
            <a:off x="777240" y="694944"/>
            <a:ext cx="10637215" cy="566928"/>
          </a:xfrm>
          <a:prstGeom prst="rect">
            <a:avLst/>
          </a:prstGeom>
          <a:noFill/>
          <a:ln/>
        </p:spPr>
        <p:txBody>
          <a:bodyPr wrap="square" lIns="0" tIns="0" rIns="0" bIns="0" rtlCol="0" anchor="t"/>
          <a:lstStyle/>
          <a:p>
            <a:pPr marL="0" indent="0">
              <a:lnSpc>
                <a:spcPts val="3400"/>
              </a:lnSpc>
              <a:buNone/>
            </a:pPr>
            <a:r>
              <a:rPr lang="en-US" sz="3000" b="1" dirty="0">
                <a:solidFill>
                  <a:srgbClr val="111114"/>
                </a:solidFill>
                <a:latin typeface="Arial" pitchFamily="34" charset="0"/>
                <a:ea typeface="Arial" pitchFamily="34" charset="-122"/>
                <a:cs typeface="Arial" pitchFamily="34" charset="-120"/>
              </a:rPr>
              <a:t>Y ahora, los estudios que dicen que no</a:t>
            </a:r>
            <a:endParaRPr lang="en-US" sz="3000" dirty="0"/>
          </a:p>
        </p:txBody>
      </p:sp>
      <p:sp>
        <p:nvSpPr>
          <p:cNvPr id="4" name="Text 2"/>
          <p:cNvSpPr/>
          <p:nvPr/>
        </p:nvSpPr>
        <p:spPr>
          <a:xfrm>
            <a:off x="777240" y="1627632"/>
            <a:ext cx="2377440" cy="365760"/>
          </a:xfrm>
          <a:prstGeom prst="rect">
            <a:avLst/>
          </a:prstGeom>
          <a:noFill/>
          <a:ln/>
        </p:spPr>
        <p:txBody>
          <a:bodyPr wrap="square" lIns="0" tIns="0" rIns="0" bIns="0" rtlCol="0" anchor="ctr"/>
          <a:lstStyle/>
          <a:p>
            <a:pPr marL="0" indent="0">
              <a:buNone/>
            </a:pPr>
            <a:r>
              <a:rPr lang="en-US" sz="1800" b="1" dirty="0">
                <a:solidFill>
                  <a:srgbClr val="111114"/>
                </a:solidFill>
                <a:latin typeface="Arial" pitchFamily="34" charset="0"/>
                <a:ea typeface="Arial" pitchFamily="34" charset="-122"/>
                <a:cs typeface="Arial" pitchFamily="34" charset="-120"/>
              </a:rPr>
              <a:t>Percentil 72</a:t>
            </a:r>
            <a:endParaRPr lang="en-US" sz="1800" dirty="0"/>
          </a:p>
        </p:txBody>
      </p:sp>
      <p:sp>
        <p:nvSpPr>
          <p:cNvPr id="5" name="Text 3"/>
          <p:cNvSpPr/>
          <p:nvPr/>
        </p:nvSpPr>
        <p:spPr>
          <a:xfrm>
            <a:off x="3383280" y="1627632"/>
            <a:ext cx="5577840" cy="1051560"/>
          </a:xfrm>
          <a:prstGeom prst="rect">
            <a:avLst/>
          </a:prstGeom>
          <a:noFill/>
          <a:ln/>
        </p:spPr>
        <p:txBody>
          <a:bodyPr wrap="square" lIns="0" tIns="0" rIns="0" bIns="0" rtlCol="0" anchor="ctr"/>
          <a:lstStyle/>
          <a:p>
            <a:pPr marL="0" indent="0">
              <a:lnSpc>
                <a:spcPts val="1800"/>
              </a:lnSpc>
              <a:buNone/>
            </a:pPr>
            <a:r>
              <a:rPr lang="en-US" sz="1300" dirty="0">
                <a:solidFill>
                  <a:srgbClr val="3A3A40"/>
                </a:solidFill>
                <a:latin typeface="Arial" pitchFamily="34" charset="0"/>
                <a:ea typeface="Arial" pitchFamily="34" charset="-122"/>
                <a:cs typeface="Arial" pitchFamily="34" charset="-120"/>
              </a:rPr>
              <a:t>Es donde queda el mejor GPT-4 en el test de asociación divergente, contra 100.000 humanos. Supera a la media — pero la mediana, el cuartil superior y el decil superior de humanos quedan por encima de cualquier modelo probado.</a:t>
            </a:r>
            <a:endParaRPr lang="en-US" sz="1300" dirty="0"/>
          </a:p>
        </p:txBody>
      </p:sp>
      <p:sp>
        <p:nvSpPr>
          <p:cNvPr id="6" name="Text 4"/>
          <p:cNvSpPr/>
          <p:nvPr/>
        </p:nvSpPr>
        <p:spPr>
          <a:xfrm>
            <a:off x="9189720" y="1655064"/>
            <a:ext cx="2221992" cy="822960"/>
          </a:xfrm>
          <a:prstGeom prst="rect">
            <a:avLst/>
          </a:prstGeom>
          <a:noFill/>
          <a:ln/>
        </p:spPr>
        <p:txBody>
          <a:bodyPr wrap="square" lIns="0" tIns="0" rIns="0" bIns="0" rtlCol="0" anchor="ctr"/>
          <a:lstStyle/>
          <a:p>
            <a:pPr marL="0" indent="0">
              <a:lnSpc>
                <a:spcPts val="1400"/>
              </a:lnSpc>
              <a:buNone/>
            </a:pPr>
            <a:r>
              <a:rPr lang="en-US" sz="1050" dirty="0">
                <a:solidFill>
                  <a:srgbClr val="9A9AA0"/>
                </a:solidFill>
                <a:latin typeface="Arial" pitchFamily="34" charset="0"/>
                <a:ea typeface="Arial" pitchFamily="34" charset="-122"/>
                <a:cs typeface="Arial" pitchFamily="34" charset="-120"/>
              </a:rPr>
              <a:t>Université de Montréal, Scientific Reports, enero 2026</a:t>
            </a:r>
            <a:endParaRPr lang="en-US" sz="1050" dirty="0"/>
          </a:p>
        </p:txBody>
      </p:sp>
      <p:sp>
        <p:nvSpPr>
          <p:cNvPr id="7" name="Shape 5"/>
          <p:cNvSpPr/>
          <p:nvPr/>
        </p:nvSpPr>
        <p:spPr>
          <a:xfrm>
            <a:off x="777240" y="2724912"/>
            <a:ext cx="10637215" cy="10973"/>
          </a:xfrm>
          <a:prstGeom prst="rect">
            <a:avLst/>
          </a:prstGeom>
          <a:solidFill>
            <a:srgbClr val="E4E4E6"/>
          </a:solidFill>
          <a:ln w="12700">
            <a:solidFill>
              <a:srgbClr val="333333"/>
            </a:solidFill>
            <a:prstDash val="solid"/>
          </a:ln>
        </p:spPr>
        <p:txBody>
          <a:bodyPr/>
          <a:lstStyle/>
          <a:p>
            <a:endParaRPr lang="en-AR"/>
          </a:p>
        </p:txBody>
      </p:sp>
      <p:sp>
        <p:nvSpPr>
          <p:cNvPr id="8" name="Text 6"/>
          <p:cNvSpPr/>
          <p:nvPr/>
        </p:nvSpPr>
        <p:spPr>
          <a:xfrm>
            <a:off x="777240" y="2953512"/>
            <a:ext cx="2377440" cy="365760"/>
          </a:xfrm>
          <a:prstGeom prst="rect">
            <a:avLst/>
          </a:prstGeom>
          <a:noFill/>
          <a:ln/>
        </p:spPr>
        <p:txBody>
          <a:bodyPr wrap="square" lIns="0" tIns="0" rIns="0" bIns="0" rtlCol="0" anchor="ctr"/>
          <a:lstStyle/>
          <a:p>
            <a:pPr marL="0" indent="0">
              <a:buNone/>
            </a:pPr>
            <a:r>
              <a:rPr lang="en-US" sz="1800" b="1" dirty="0">
                <a:solidFill>
                  <a:srgbClr val="111114"/>
                </a:solidFill>
                <a:latin typeface="Arial" pitchFamily="34" charset="0"/>
                <a:ea typeface="Arial" pitchFamily="34" charset="-122"/>
                <a:cs typeface="Arial" pitchFamily="34" charset="-120"/>
              </a:rPr>
              <a:t>Efecto nulo</a:t>
            </a:r>
            <a:endParaRPr lang="en-US" sz="1800" dirty="0"/>
          </a:p>
        </p:txBody>
      </p:sp>
      <p:sp>
        <p:nvSpPr>
          <p:cNvPr id="9" name="Text 7"/>
          <p:cNvSpPr/>
          <p:nvPr/>
        </p:nvSpPr>
        <p:spPr>
          <a:xfrm>
            <a:off x="3383280" y="2953512"/>
            <a:ext cx="5577840" cy="1051560"/>
          </a:xfrm>
          <a:prstGeom prst="rect">
            <a:avLst/>
          </a:prstGeom>
          <a:noFill/>
          <a:ln/>
        </p:spPr>
        <p:txBody>
          <a:bodyPr wrap="square" lIns="0" tIns="0" rIns="0" bIns="0" rtlCol="0" anchor="ctr"/>
          <a:lstStyle/>
          <a:p>
            <a:pPr marL="0" indent="0">
              <a:lnSpc>
                <a:spcPts val="1800"/>
              </a:lnSpc>
              <a:buNone/>
            </a:pPr>
            <a:r>
              <a:rPr lang="en-US" sz="1300" dirty="0">
                <a:solidFill>
                  <a:srgbClr val="3A3A40"/>
                </a:solidFill>
                <a:latin typeface="Arial" pitchFamily="34" charset="0"/>
                <a:ea typeface="Arial" pitchFamily="34" charset="-122"/>
                <a:cs typeface="Arial" pitchFamily="34" charset="-120"/>
              </a:rPr>
              <a:t>Meta-análisis de 17 estudios experimentales y 115 tamaños de efecto: la ventaja de la IA en generación de ideas es pequeña y no significativa. La empujaban unos pocos estudios atípicos.</a:t>
            </a:r>
            <a:endParaRPr lang="en-US" sz="1300" dirty="0"/>
          </a:p>
        </p:txBody>
      </p:sp>
      <p:sp>
        <p:nvSpPr>
          <p:cNvPr id="10" name="Text 8"/>
          <p:cNvSpPr/>
          <p:nvPr/>
        </p:nvSpPr>
        <p:spPr>
          <a:xfrm>
            <a:off x="9189720" y="2980944"/>
            <a:ext cx="2221992" cy="822960"/>
          </a:xfrm>
          <a:prstGeom prst="rect">
            <a:avLst/>
          </a:prstGeom>
          <a:noFill/>
          <a:ln/>
        </p:spPr>
        <p:txBody>
          <a:bodyPr wrap="square" lIns="0" tIns="0" rIns="0" bIns="0" rtlCol="0" anchor="ctr"/>
          <a:lstStyle/>
          <a:p>
            <a:pPr marL="0" indent="0">
              <a:lnSpc>
                <a:spcPts val="1400"/>
              </a:lnSpc>
              <a:buNone/>
            </a:pPr>
            <a:r>
              <a:rPr lang="en-US" sz="1050" dirty="0">
                <a:solidFill>
                  <a:srgbClr val="9A9AA0"/>
                </a:solidFill>
                <a:latin typeface="Arial" pitchFamily="34" charset="0"/>
                <a:ea typeface="Arial" pitchFamily="34" charset="-122"/>
                <a:cs typeface="Arial" pitchFamily="34" charset="-120"/>
              </a:rPr>
              <a:t>Universidad de Tilburg, 2025</a:t>
            </a:r>
            <a:endParaRPr lang="en-US" sz="1050" dirty="0"/>
          </a:p>
        </p:txBody>
      </p:sp>
      <p:sp>
        <p:nvSpPr>
          <p:cNvPr id="11" name="Shape 9"/>
          <p:cNvSpPr/>
          <p:nvPr/>
        </p:nvSpPr>
        <p:spPr>
          <a:xfrm>
            <a:off x="777240" y="4050792"/>
            <a:ext cx="10637215" cy="10973"/>
          </a:xfrm>
          <a:prstGeom prst="rect">
            <a:avLst/>
          </a:prstGeom>
          <a:solidFill>
            <a:srgbClr val="E4E4E6"/>
          </a:solidFill>
          <a:ln w="12700">
            <a:solidFill>
              <a:srgbClr val="333333"/>
            </a:solidFill>
            <a:prstDash val="solid"/>
          </a:ln>
        </p:spPr>
        <p:txBody>
          <a:bodyPr/>
          <a:lstStyle/>
          <a:p>
            <a:endParaRPr lang="en-AR"/>
          </a:p>
        </p:txBody>
      </p:sp>
      <p:sp>
        <p:nvSpPr>
          <p:cNvPr id="12" name="Text 10"/>
          <p:cNvSpPr/>
          <p:nvPr/>
        </p:nvSpPr>
        <p:spPr>
          <a:xfrm>
            <a:off x="777240" y="4279392"/>
            <a:ext cx="2377440" cy="365760"/>
          </a:xfrm>
          <a:prstGeom prst="rect">
            <a:avLst/>
          </a:prstGeom>
          <a:noFill/>
          <a:ln/>
        </p:spPr>
        <p:txBody>
          <a:bodyPr wrap="square" lIns="0" tIns="0" rIns="0" bIns="0" rtlCol="0" anchor="ctr"/>
          <a:lstStyle/>
          <a:p>
            <a:pPr marL="0" indent="0">
              <a:buNone/>
            </a:pPr>
            <a:r>
              <a:rPr lang="en-US" sz="1800" b="1" dirty="0">
                <a:solidFill>
                  <a:srgbClr val="111114"/>
                </a:solidFill>
                <a:latin typeface="Arial" pitchFamily="34" charset="0"/>
                <a:ea typeface="Arial" pitchFamily="34" charset="-122"/>
                <a:cs typeface="Arial" pitchFamily="34" charset="-120"/>
              </a:rPr>
              <a:t>El test se hackea</a:t>
            </a:r>
            <a:endParaRPr lang="en-US" sz="1800" dirty="0"/>
          </a:p>
        </p:txBody>
      </p:sp>
      <p:sp>
        <p:nvSpPr>
          <p:cNvPr id="13" name="Text 11"/>
          <p:cNvSpPr/>
          <p:nvPr/>
        </p:nvSpPr>
        <p:spPr>
          <a:xfrm>
            <a:off x="3383280" y="4279392"/>
            <a:ext cx="5577840" cy="1051560"/>
          </a:xfrm>
          <a:prstGeom prst="rect">
            <a:avLst/>
          </a:prstGeom>
          <a:noFill/>
          <a:ln/>
        </p:spPr>
        <p:txBody>
          <a:bodyPr wrap="square" lIns="0" tIns="0" rIns="0" bIns="0" rtlCol="0" anchor="ctr"/>
          <a:lstStyle/>
          <a:p>
            <a:pPr marL="0" indent="0">
              <a:lnSpc>
                <a:spcPts val="1800"/>
              </a:lnSpc>
              <a:buNone/>
            </a:pPr>
            <a:r>
              <a:rPr lang="en-US" sz="1300" dirty="0">
                <a:solidFill>
                  <a:srgbClr val="3A3A40"/>
                </a:solidFill>
                <a:latin typeface="Arial" pitchFamily="34" charset="0"/>
                <a:ea typeface="Arial" pitchFamily="34" charset="-122"/>
                <a:cs typeface="Arial" pitchFamily="34" charset="-120"/>
              </a:rPr>
              <a:t>Muestrear palabras al azar supera a los modelos de frontera en ese mismo test. Premia la novedad e ignora la pertinencia: confunde aleatoriedad con creatividad.</a:t>
            </a:r>
            <a:endParaRPr lang="en-US" sz="1300" dirty="0"/>
          </a:p>
        </p:txBody>
      </p:sp>
      <p:sp>
        <p:nvSpPr>
          <p:cNvPr id="14" name="Text 12"/>
          <p:cNvSpPr/>
          <p:nvPr/>
        </p:nvSpPr>
        <p:spPr>
          <a:xfrm>
            <a:off x="9189720" y="4306824"/>
            <a:ext cx="2221992" cy="822960"/>
          </a:xfrm>
          <a:prstGeom prst="rect">
            <a:avLst/>
          </a:prstGeom>
          <a:noFill/>
          <a:ln/>
        </p:spPr>
        <p:txBody>
          <a:bodyPr wrap="square" lIns="0" tIns="0" rIns="0" bIns="0" rtlCol="0" anchor="ctr"/>
          <a:lstStyle/>
          <a:p>
            <a:pPr marL="0" indent="0">
              <a:lnSpc>
                <a:spcPts val="1400"/>
              </a:lnSpc>
              <a:buNone/>
            </a:pPr>
            <a:r>
              <a:rPr lang="en-US" sz="1050" dirty="0">
                <a:solidFill>
                  <a:srgbClr val="9A9AA0"/>
                </a:solidFill>
                <a:latin typeface="Arial" pitchFamily="34" charset="0"/>
                <a:ea typeface="Arial" pitchFamily="34" charset="-122"/>
                <a:cs typeface="Arial" pitchFamily="34" charset="-120"/>
              </a:rPr>
              <a:t>arXiv, 2026</a:t>
            </a:r>
            <a:endParaRPr lang="en-US" sz="1050" dirty="0"/>
          </a:p>
        </p:txBody>
      </p:sp>
      <p:sp>
        <p:nvSpPr>
          <p:cNvPr id="15" name="Shape 13"/>
          <p:cNvSpPr/>
          <p:nvPr/>
        </p:nvSpPr>
        <p:spPr>
          <a:xfrm>
            <a:off x="777240" y="5486400"/>
            <a:ext cx="10637215" cy="822960"/>
          </a:xfrm>
          <a:prstGeom prst="roundRect">
            <a:avLst>
              <a:gd name="adj" fmla="val 6667"/>
            </a:avLst>
          </a:prstGeom>
          <a:solidFill>
            <a:srgbClr val="111114"/>
          </a:solidFill>
          <a:ln w="12700">
            <a:solidFill>
              <a:srgbClr val="111114"/>
            </a:solidFill>
            <a:prstDash val="solid"/>
          </a:ln>
        </p:spPr>
        <p:txBody>
          <a:bodyPr/>
          <a:lstStyle/>
          <a:p>
            <a:endParaRPr lang="en-AR"/>
          </a:p>
        </p:txBody>
      </p:sp>
      <p:sp>
        <p:nvSpPr>
          <p:cNvPr id="16" name="Text 14"/>
          <p:cNvSpPr/>
          <p:nvPr/>
        </p:nvSpPr>
        <p:spPr>
          <a:xfrm>
            <a:off x="1234440" y="5705856"/>
            <a:ext cx="9722815" cy="41148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La IA supera al humano promedio. No supera al humano bueno. Y el test que la corona puede ser vencido por un generador de palabras al azar.</a:t>
            </a:r>
            <a:endParaRPr lang="en-US" sz="1500" dirty="0"/>
          </a:p>
        </p:txBody>
      </p:sp>
      <p:sp>
        <p:nvSpPr>
          <p:cNvPr id="17" name="Text 15"/>
          <p:cNvSpPr/>
          <p:nvPr/>
        </p:nvSpPr>
        <p:spPr>
          <a:xfrm>
            <a:off x="10865815" y="6291072"/>
            <a:ext cx="548640" cy="274320"/>
          </a:xfrm>
          <a:prstGeom prst="rect">
            <a:avLst/>
          </a:prstGeom>
          <a:noFill/>
          <a:ln/>
        </p:spPr>
        <p:txBody>
          <a:bodyPr wrap="square" lIns="0" tIns="0" rIns="0" bIns="0" rtlCol="0" anchor="ctr"/>
          <a:lstStyle/>
          <a:p>
            <a:pPr marL="0" indent="0" algn="r">
              <a:buNone/>
            </a:pPr>
            <a:r>
              <a:rPr lang="en-US" sz="900" dirty="0">
                <a:solidFill>
                  <a:srgbClr val="9A9AA0"/>
                </a:solidFill>
                <a:latin typeface="Arial" pitchFamily="34" charset="0"/>
                <a:ea typeface="Arial" pitchFamily="34" charset="-122"/>
                <a:cs typeface="Arial" pitchFamily="34" charset="-120"/>
              </a:rPr>
              <a:t>31</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420624"/>
            <a:ext cx="10637215" cy="237744"/>
          </a:xfrm>
          <a:prstGeom prst="rect">
            <a:avLst/>
          </a:prstGeom>
          <a:noFill/>
          <a:ln/>
        </p:spPr>
        <p:txBody>
          <a:bodyPr wrap="square" lIns="0" tIns="0" rIns="0" bIns="0" rtlCol="0" anchor="ctr"/>
          <a:lstStyle/>
          <a:p>
            <a:pPr marL="0" indent="0">
              <a:buNone/>
            </a:pPr>
            <a:r>
              <a:rPr lang="en-US" sz="1050" b="1" kern="0" spc="200" dirty="0">
                <a:solidFill>
                  <a:srgbClr val="E04E39"/>
                </a:solidFill>
                <a:latin typeface="Arial" pitchFamily="34" charset="0"/>
                <a:ea typeface="Arial" pitchFamily="34" charset="-122"/>
                <a:cs typeface="Arial" pitchFamily="34" charset="-120"/>
              </a:rPr>
              <a:t>DEBATE</a:t>
            </a:r>
            <a:endParaRPr lang="en-US" sz="1050" dirty="0"/>
          </a:p>
        </p:txBody>
      </p:sp>
      <p:sp>
        <p:nvSpPr>
          <p:cNvPr id="3" name="Text 1"/>
          <p:cNvSpPr/>
          <p:nvPr/>
        </p:nvSpPr>
        <p:spPr>
          <a:xfrm>
            <a:off x="777240" y="694944"/>
            <a:ext cx="10637215" cy="566928"/>
          </a:xfrm>
          <a:prstGeom prst="rect">
            <a:avLst/>
          </a:prstGeom>
          <a:noFill/>
          <a:ln/>
        </p:spPr>
        <p:txBody>
          <a:bodyPr wrap="square" lIns="0" tIns="0" rIns="0" bIns="0" rtlCol="0" anchor="t"/>
          <a:lstStyle/>
          <a:p>
            <a:pPr marL="0" indent="0">
              <a:lnSpc>
                <a:spcPts val="3400"/>
              </a:lnSpc>
              <a:buNone/>
            </a:pPr>
            <a:r>
              <a:rPr lang="en-US" sz="3000" b="1" dirty="0">
                <a:solidFill>
                  <a:srgbClr val="111114"/>
                </a:solidFill>
                <a:latin typeface="Arial" pitchFamily="34" charset="0"/>
                <a:ea typeface="Arial" pitchFamily="34" charset="-122"/>
                <a:cs typeface="Arial" pitchFamily="34" charset="-120"/>
              </a:rPr>
              <a:t>Sube el piso individual, baja el techo colectivo</a:t>
            </a:r>
            <a:endParaRPr lang="en-US" sz="3000" dirty="0"/>
          </a:p>
        </p:txBody>
      </p:sp>
      <p:sp>
        <p:nvSpPr>
          <p:cNvPr id="4" name="Text 2"/>
          <p:cNvSpPr/>
          <p:nvPr/>
        </p:nvSpPr>
        <p:spPr>
          <a:xfrm>
            <a:off x="777240" y="1481328"/>
            <a:ext cx="6949440" cy="320040"/>
          </a:xfrm>
          <a:prstGeom prst="rect">
            <a:avLst/>
          </a:prstGeom>
          <a:noFill/>
          <a:ln/>
        </p:spPr>
        <p:txBody>
          <a:bodyPr wrap="square" lIns="0" tIns="0" rIns="0" bIns="0" rtlCol="0" anchor="t"/>
          <a:lstStyle/>
          <a:p>
            <a:pPr marL="0" indent="0">
              <a:lnSpc>
                <a:spcPts val="2030"/>
              </a:lnSpc>
              <a:buNone/>
            </a:pPr>
            <a:r>
              <a:rPr lang="en-US" sz="1400" dirty="0">
                <a:solidFill>
                  <a:srgbClr val="6E6E73"/>
                </a:solidFill>
                <a:latin typeface="Arial" pitchFamily="34" charset="0"/>
                <a:ea typeface="Arial" pitchFamily="34" charset="-122"/>
                <a:cs typeface="Arial" pitchFamily="34" charset="-120"/>
              </a:rPr>
              <a:t>El experimento más citado sobre esto: 300 escritores, 600 evaluadores, con y sin ideas de IA.</a:t>
            </a:r>
            <a:endParaRPr lang="en-US" sz="1400" dirty="0"/>
          </a:p>
        </p:txBody>
      </p:sp>
      <p:sp>
        <p:nvSpPr>
          <p:cNvPr id="5" name="Text 3"/>
          <p:cNvSpPr/>
          <p:nvPr/>
        </p:nvSpPr>
        <p:spPr>
          <a:xfrm>
            <a:off x="777240" y="2148840"/>
            <a:ext cx="1737360" cy="411480"/>
          </a:xfrm>
          <a:prstGeom prst="rect">
            <a:avLst/>
          </a:prstGeom>
          <a:noFill/>
          <a:ln/>
        </p:spPr>
        <p:txBody>
          <a:bodyPr wrap="square" lIns="0" tIns="0" rIns="0" bIns="0" rtlCol="0" anchor="ctr"/>
          <a:lstStyle/>
          <a:p>
            <a:pPr marL="0" indent="0">
              <a:buNone/>
            </a:pPr>
            <a:r>
              <a:rPr lang="en-US" sz="2400" b="1" dirty="0">
                <a:solidFill>
                  <a:srgbClr val="111114"/>
                </a:solidFill>
                <a:latin typeface="Arial" pitchFamily="34" charset="0"/>
                <a:ea typeface="Arial" pitchFamily="34" charset="-122"/>
                <a:cs typeface="Arial" pitchFamily="34" charset="-120"/>
              </a:rPr>
              <a:t>+8,1%</a:t>
            </a:r>
            <a:endParaRPr lang="en-US" sz="2400" dirty="0"/>
          </a:p>
        </p:txBody>
      </p:sp>
      <p:sp>
        <p:nvSpPr>
          <p:cNvPr id="6" name="Text 4"/>
          <p:cNvSpPr/>
          <p:nvPr/>
        </p:nvSpPr>
        <p:spPr>
          <a:xfrm>
            <a:off x="2743200" y="2194560"/>
            <a:ext cx="4846320" cy="731520"/>
          </a:xfrm>
          <a:prstGeom prst="rect">
            <a:avLst/>
          </a:prstGeom>
          <a:noFill/>
          <a:ln/>
        </p:spPr>
        <p:txBody>
          <a:bodyPr wrap="square" lIns="0" tIns="0" rIns="0" bIns="0" rtlCol="0" anchor="t"/>
          <a:lstStyle/>
          <a:p>
            <a:pPr marL="0" indent="0">
              <a:lnSpc>
                <a:spcPts val="1800"/>
              </a:lnSpc>
              <a:buNone/>
            </a:pPr>
            <a:r>
              <a:rPr lang="en-US" sz="1350" dirty="0">
                <a:solidFill>
                  <a:srgbClr val="3A3A40"/>
                </a:solidFill>
                <a:latin typeface="Arial" pitchFamily="34" charset="0"/>
                <a:ea typeface="Arial" pitchFamily="34" charset="-122"/>
                <a:cs typeface="Arial" pitchFamily="34" charset="-120"/>
              </a:rPr>
              <a:t>más novedad en las historias escritas con ayuda de IA</a:t>
            </a:r>
            <a:endParaRPr lang="en-US" sz="1350" dirty="0"/>
          </a:p>
        </p:txBody>
      </p:sp>
      <p:sp>
        <p:nvSpPr>
          <p:cNvPr id="7" name="Text 5"/>
          <p:cNvSpPr/>
          <p:nvPr/>
        </p:nvSpPr>
        <p:spPr>
          <a:xfrm>
            <a:off x="777240" y="3108960"/>
            <a:ext cx="1737360" cy="411480"/>
          </a:xfrm>
          <a:prstGeom prst="rect">
            <a:avLst/>
          </a:prstGeom>
          <a:noFill/>
          <a:ln/>
        </p:spPr>
        <p:txBody>
          <a:bodyPr wrap="square" lIns="0" tIns="0" rIns="0" bIns="0" rtlCol="0" anchor="ctr"/>
          <a:lstStyle/>
          <a:p>
            <a:pPr marL="0" indent="0">
              <a:buNone/>
            </a:pPr>
            <a:r>
              <a:rPr lang="en-US" sz="2400" b="1" dirty="0">
                <a:solidFill>
                  <a:srgbClr val="111114"/>
                </a:solidFill>
                <a:latin typeface="Arial" pitchFamily="34" charset="0"/>
                <a:ea typeface="Arial" pitchFamily="34" charset="-122"/>
                <a:cs typeface="Arial" pitchFamily="34" charset="-120"/>
              </a:rPr>
              <a:t>+10,7%</a:t>
            </a:r>
            <a:endParaRPr lang="en-US" sz="2400" dirty="0"/>
          </a:p>
        </p:txBody>
      </p:sp>
      <p:sp>
        <p:nvSpPr>
          <p:cNvPr id="8" name="Text 6"/>
          <p:cNvSpPr/>
          <p:nvPr/>
        </p:nvSpPr>
        <p:spPr>
          <a:xfrm>
            <a:off x="2743200" y="3154680"/>
            <a:ext cx="4846320" cy="731520"/>
          </a:xfrm>
          <a:prstGeom prst="rect">
            <a:avLst/>
          </a:prstGeom>
          <a:noFill/>
          <a:ln/>
        </p:spPr>
        <p:txBody>
          <a:bodyPr wrap="square" lIns="0" tIns="0" rIns="0" bIns="0" rtlCol="0" anchor="t"/>
          <a:lstStyle/>
          <a:p>
            <a:pPr marL="0" indent="0">
              <a:lnSpc>
                <a:spcPts val="1800"/>
              </a:lnSpc>
              <a:buNone/>
            </a:pPr>
            <a:r>
              <a:rPr lang="en-US" sz="1350" dirty="0">
                <a:solidFill>
                  <a:srgbClr val="3A3A40"/>
                </a:solidFill>
                <a:latin typeface="Arial" pitchFamily="34" charset="0"/>
                <a:ea typeface="Arial" pitchFamily="34" charset="-122"/>
                <a:cs typeface="Arial" pitchFamily="34" charset="-120"/>
              </a:rPr>
              <a:t>más novedad entre los escritores menos creativos: la IA los iguala hacia arriba</a:t>
            </a:r>
            <a:endParaRPr lang="en-US" sz="1350" dirty="0"/>
          </a:p>
        </p:txBody>
      </p:sp>
      <p:sp>
        <p:nvSpPr>
          <p:cNvPr id="9" name="Text 7"/>
          <p:cNvSpPr/>
          <p:nvPr/>
        </p:nvSpPr>
        <p:spPr>
          <a:xfrm>
            <a:off x="777240" y="4069080"/>
            <a:ext cx="1737360" cy="411480"/>
          </a:xfrm>
          <a:prstGeom prst="rect">
            <a:avLst/>
          </a:prstGeom>
          <a:noFill/>
          <a:ln/>
        </p:spPr>
        <p:txBody>
          <a:bodyPr wrap="square" lIns="0" tIns="0" rIns="0" bIns="0" rtlCol="0" anchor="ctr"/>
          <a:lstStyle/>
          <a:p>
            <a:pPr marL="0" indent="0">
              <a:buNone/>
            </a:pPr>
            <a:r>
              <a:rPr lang="en-US" sz="2400" b="1" dirty="0">
                <a:solidFill>
                  <a:srgbClr val="E04E39"/>
                </a:solidFill>
                <a:latin typeface="Arial" pitchFamily="34" charset="0"/>
                <a:ea typeface="Arial" pitchFamily="34" charset="-122"/>
                <a:cs typeface="Arial" pitchFamily="34" charset="-120"/>
              </a:rPr>
              <a:t>+10,7%</a:t>
            </a:r>
            <a:endParaRPr lang="en-US" sz="2400" dirty="0"/>
          </a:p>
        </p:txBody>
      </p:sp>
      <p:sp>
        <p:nvSpPr>
          <p:cNvPr id="10" name="Text 8"/>
          <p:cNvSpPr/>
          <p:nvPr/>
        </p:nvSpPr>
        <p:spPr>
          <a:xfrm>
            <a:off x="2743200" y="4114800"/>
            <a:ext cx="4846320" cy="731520"/>
          </a:xfrm>
          <a:prstGeom prst="rect">
            <a:avLst/>
          </a:prstGeom>
          <a:noFill/>
          <a:ln/>
        </p:spPr>
        <p:txBody>
          <a:bodyPr wrap="square" lIns="0" tIns="0" rIns="0" bIns="0" rtlCol="0" anchor="t"/>
          <a:lstStyle/>
          <a:p>
            <a:pPr marL="0" indent="0">
              <a:lnSpc>
                <a:spcPts val="1800"/>
              </a:lnSpc>
              <a:buNone/>
            </a:pPr>
            <a:r>
              <a:rPr lang="en-US" sz="1350" dirty="0">
                <a:solidFill>
                  <a:srgbClr val="3A3A40"/>
                </a:solidFill>
                <a:latin typeface="Arial" pitchFamily="34" charset="0"/>
                <a:ea typeface="Arial" pitchFamily="34" charset="-122"/>
                <a:cs typeface="Arial" pitchFamily="34" charset="-120"/>
              </a:rPr>
              <a:t>más similitud entre las historias. Todos escriben mejor, y todos se parecen más</a:t>
            </a:r>
            <a:endParaRPr lang="en-US" sz="1350" dirty="0"/>
          </a:p>
        </p:txBody>
      </p:sp>
      <p:sp>
        <p:nvSpPr>
          <p:cNvPr id="11" name="Text 9"/>
          <p:cNvSpPr/>
          <p:nvPr/>
        </p:nvSpPr>
        <p:spPr>
          <a:xfrm>
            <a:off x="777240" y="5074920"/>
            <a:ext cx="6675120" cy="457200"/>
          </a:xfrm>
          <a:prstGeom prst="rect">
            <a:avLst/>
          </a:prstGeom>
          <a:noFill/>
          <a:ln/>
        </p:spPr>
        <p:txBody>
          <a:bodyPr wrap="square" lIns="0" tIns="0" rIns="0" bIns="0" rtlCol="0" anchor="t"/>
          <a:lstStyle/>
          <a:p>
            <a:pPr marL="0" indent="0">
              <a:lnSpc>
                <a:spcPts val="1700"/>
              </a:lnSpc>
              <a:buNone/>
            </a:pPr>
            <a:r>
              <a:rPr lang="en-US" sz="1250" i="1" dirty="0">
                <a:solidFill>
                  <a:srgbClr val="9A9AA0"/>
                </a:solidFill>
                <a:latin typeface="Arial" pitchFamily="34" charset="0"/>
                <a:ea typeface="Arial" pitchFamily="34" charset="-122"/>
                <a:cs typeface="Arial" pitchFamily="34" charset="-120"/>
              </a:rPr>
              <a:t>Un meta-análisis de 19 estudios confirma el efecto de homogeneización a escala.</a:t>
            </a:r>
            <a:endParaRPr lang="en-US" sz="1250" dirty="0"/>
          </a:p>
        </p:txBody>
      </p:sp>
      <p:sp>
        <p:nvSpPr>
          <p:cNvPr id="12" name="Shape 10"/>
          <p:cNvSpPr/>
          <p:nvPr/>
        </p:nvSpPr>
        <p:spPr>
          <a:xfrm>
            <a:off x="7955280" y="1481328"/>
            <a:ext cx="3456432" cy="3657600"/>
          </a:xfrm>
          <a:prstGeom prst="roundRect">
            <a:avLst>
              <a:gd name="adj" fmla="val 1587"/>
            </a:avLst>
          </a:prstGeom>
          <a:solidFill>
            <a:srgbClr val="111114"/>
          </a:solidFill>
          <a:ln w="12700">
            <a:solidFill>
              <a:srgbClr val="111114"/>
            </a:solidFill>
            <a:prstDash val="solid"/>
          </a:ln>
        </p:spPr>
        <p:txBody>
          <a:bodyPr/>
          <a:lstStyle/>
          <a:p>
            <a:endParaRPr lang="en-AR"/>
          </a:p>
        </p:txBody>
      </p:sp>
      <p:sp>
        <p:nvSpPr>
          <p:cNvPr id="13" name="Text 11"/>
          <p:cNvSpPr/>
          <p:nvPr/>
        </p:nvSpPr>
        <p:spPr>
          <a:xfrm>
            <a:off x="8321040" y="1783080"/>
            <a:ext cx="2834640" cy="274320"/>
          </a:xfrm>
          <a:prstGeom prst="rect">
            <a:avLst/>
          </a:prstGeom>
          <a:noFill/>
          <a:ln/>
        </p:spPr>
        <p:txBody>
          <a:bodyPr wrap="square" lIns="0" tIns="0" rIns="0" bIns="0" rtlCol="0" anchor="ctr"/>
          <a:lstStyle/>
          <a:p>
            <a:pPr marL="0" indent="0">
              <a:buNone/>
            </a:pPr>
            <a:r>
              <a:rPr lang="en-US" sz="1000" b="1" kern="0" spc="150" dirty="0">
                <a:solidFill>
                  <a:srgbClr val="E04E39"/>
                </a:solidFill>
                <a:latin typeface="Arial" pitchFamily="34" charset="0"/>
                <a:ea typeface="Arial" pitchFamily="34" charset="-122"/>
                <a:cs typeface="Arial" pitchFamily="34" charset="-120"/>
              </a:rPr>
              <a:t>PARA DISCUTIR</a:t>
            </a:r>
            <a:endParaRPr lang="en-US" sz="1000" dirty="0"/>
          </a:p>
        </p:txBody>
      </p:sp>
      <p:sp>
        <p:nvSpPr>
          <p:cNvPr id="14" name="Text 12"/>
          <p:cNvSpPr/>
          <p:nvPr/>
        </p:nvSpPr>
        <p:spPr>
          <a:xfrm>
            <a:off x="8321040" y="2194560"/>
            <a:ext cx="2788920" cy="3108960"/>
          </a:xfrm>
          <a:prstGeom prst="rect">
            <a:avLst/>
          </a:prstGeom>
          <a:noFill/>
          <a:ln/>
        </p:spPr>
        <p:txBody>
          <a:bodyPr wrap="square" lIns="0" tIns="0" rIns="0" bIns="0" rtlCol="0" anchor="t"/>
          <a:lstStyle/>
          <a:p>
            <a:pPr marL="0" indent="0">
              <a:lnSpc>
                <a:spcPts val="1900"/>
              </a:lnSpc>
              <a:spcAft>
                <a:spcPts val="1400"/>
              </a:spcAft>
              <a:buNone/>
            </a:pPr>
            <a:r>
              <a:rPr lang="en-US" sz="1350" dirty="0">
                <a:solidFill>
                  <a:srgbClr val="FFFFFF"/>
                </a:solidFill>
                <a:latin typeface="Arial" pitchFamily="34" charset="0"/>
                <a:ea typeface="Arial" pitchFamily="34" charset="-122"/>
                <a:cs typeface="Arial" pitchFamily="34" charset="-120"/>
              </a:rPr>
              <a:t>Si nadie distingue un poema de IA y encima le gusta más, ¿en qué sentido no es creativo?</a:t>
            </a:r>
            <a:endParaRPr lang="en-US" sz="1350" dirty="0"/>
          </a:p>
          <a:p>
            <a:pPr marL="0" indent="0">
              <a:lnSpc>
                <a:spcPts val="1900"/>
              </a:lnSpc>
              <a:spcAft>
                <a:spcPts val="1400"/>
              </a:spcAft>
              <a:buNone/>
            </a:pPr>
            <a:r>
              <a:rPr lang="en-US" sz="1350" dirty="0">
                <a:solidFill>
                  <a:srgbClr val="FFFFFF"/>
                </a:solidFill>
                <a:latin typeface="Arial" pitchFamily="34" charset="0"/>
                <a:ea typeface="Arial" pitchFamily="34" charset="-122"/>
                <a:cs typeface="Arial" pitchFamily="34" charset="-120"/>
              </a:rPr>
              <a:t>¿La creatividad es una propiedad del producto o del proceso?</a:t>
            </a:r>
            <a:endParaRPr lang="en-US" sz="1350" dirty="0"/>
          </a:p>
          <a:p>
            <a:pPr marL="0" indent="0">
              <a:lnSpc>
                <a:spcPts val="1900"/>
              </a:lnSpc>
              <a:spcAft>
                <a:spcPts val="1400"/>
              </a:spcAft>
              <a:buNone/>
            </a:pPr>
            <a:r>
              <a:rPr lang="en-US" sz="1350" dirty="0">
                <a:solidFill>
                  <a:srgbClr val="FFFFFF"/>
                </a:solidFill>
                <a:latin typeface="Arial" pitchFamily="34" charset="0"/>
                <a:ea typeface="Arial" pitchFamily="34" charset="-122"/>
                <a:cs typeface="Arial" pitchFamily="34" charset="-120"/>
              </a:rPr>
              <a:t>Si la IA te sube el piso pero nos parecemos todos más, ¿la organización gana o pierde?</a:t>
            </a:r>
            <a:endParaRPr lang="en-US" sz="1350" dirty="0"/>
          </a:p>
        </p:txBody>
      </p:sp>
      <p:sp>
        <p:nvSpPr>
          <p:cNvPr id="15" name="Text 13"/>
          <p:cNvSpPr/>
          <p:nvPr/>
        </p:nvSpPr>
        <p:spPr>
          <a:xfrm>
            <a:off x="10865815" y="6291072"/>
            <a:ext cx="548640" cy="274320"/>
          </a:xfrm>
          <a:prstGeom prst="rect">
            <a:avLst/>
          </a:prstGeom>
          <a:noFill/>
          <a:ln/>
        </p:spPr>
        <p:txBody>
          <a:bodyPr wrap="square" lIns="0" tIns="0" rIns="0" bIns="0" rtlCol="0" anchor="ctr"/>
          <a:lstStyle/>
          <a:p>
            <a:pPr marL="0" indent="0" algn="r">
              <a:buNone/>
            </a:pPr>
            <a:r>
              <a:rPr lang="en-US" sz="900" dirty="0">
                <a:solidFill>
                  <a:srgbClr val="9A9AA0"/>
                </a:solidFill>
                <a:latin typeface="Arial" pitchFamily="34" charset="0"/>
                <a:ea typeface="Arial" pitchFamily="34" charset="-122"/>
                <a:cs typeface="Arial" pitchFamily="34" charset="-120"/>
              </a:rPr>
              <a:t>32</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77240" y="420624"/>
            <a:ext cx="10637215" cy="237744"/>
          </a:xfrm>
          <a:prstGeom prst="rect">
            <a:avLst/>
          </a:prstGeom>
          <a:noFill/>
          <a:ln/>
        </p:spPr>
        <p:txBody>
          <a:bodyPr wrap="square" lIns="0" tIns="0" rIns="0" bIns="0" rtlCol="0" anchor="ctr"/>
          <a:lstStyle/>
          <a:p>
            <a:pPr marL="0" indent="0">
              <a:buNone/>
            </a:pPr>
            <a:r>
              <a:rPr lang="en-US" sz="1050" b="1" kern="0" spc="200" dirty="0">
                <a:solidFill>
                  <a:srgbClr val="E04E39"/>
                </a:solidFill>
                <a:latin typeface="Arial" pitchFamily="34" charset="0"/>
                <a:ea typeface="Arial" pitchFamily="34" charset="-122"/>
                <a:cs typeface="Arial" pitchFamily="34" charset="-120"/>
              </a:rPr>
              <a:t>LÍMITES</a:t>
            </a:r>
            <a:endParaRPr lang="en-US" sz="1050" dirty="0"/>
          </a:p>
        </p:txBody>
      </p:sp>
      <p:sp>
        <p:nvSpPr>
          <p:cNvPr id="3" name="Text 1"/>
          <p:cNvSpPr/>
          <p:nvPr/>
        </p:nvSpPr>
        <p:spPr>
          <a:xfrm>
            <a:off x="777240" y="694944"/>
            <a:ext cx="10637215" cy="566928"/>
          </a:xfrm>
          <a:prstGeom prst="rect">
            <a:avLst/>
          </a:prstGeom>
          <a:noFill/>
          <a:ln/>
        </p:spPr>
        <p:txBody>
          <a:bodyPr wrap="square" lIns="0" tIns="0" rIns="0" bIns="0" rtlCol="0" anchor="t"/>
          <a:lstStyle/>
          <a:p>
            <a:pPr marL="0" indent="0">
              <a:lnSpc>
                <a:spcPts val="3400"/>
              </a:lnSpc>
              <a:buNone/>
            </a:pPr>
            <a:r>
              <a:rPr lang="en-US" sz="3000" b="1" dirty="0">
                <a:solidFill>
                  <a:srgbClr val="111114"/>
                </a:solidFill>
                <a:latin typeface="Arial" pitchFamily="34" charset="0"/>
                <a:ea typeface="Arial" pitchFamily="34" charset="-122"/>
                <a:cs typeface="Arial" pitchFamily="34" charset="-120"/>
              </a:rPr>
              <a:t>Tres cosas que conviene no olvidar</a:t>
            </a:r>
            <a:endParaRPr lang="en-US" sz="3000" dirty="0"/>
          </a:p>
        </p:txBody>
      </p:sp>
      <p:sp>
        <p:nvSpPr>
          <p:cNvPr id="4" name="Text 2"/>
          <p:cNvSpPr/>
          <p:nvPr/>
        </p:nvSpPr>
        <p:spPr>
          <a:xfrm>
            <a:off x="777240" y="1591056"/>
            <a:ext cx="640080" cy="320040"/>
          </a:xfrm>
          <a:prstGeom prst="rect">
            <a:avLst/>
          </a:prstGeom>
          <a:noFill/>
          <a:ln/>
        </p:spPr>
        <p:txBody>
          <a:bodyPr wrap="square" lIns="0" tIns="0" rIns="0" bIns="0" rtlCol="0" anchor="ctr"/>
          <a:lstStyle/>
          <a:p>
            <a:pPr marL="0" indent="0">
              <a:buNone/>
            </a:pPr>
            <a:r>
              <a:rPr lang="en-US" sz="1400" b="1" dirty="0">
                <a:solidFill>
                  <a:srgbClr val="E04E39"/>
                </a:solidFill>
                <a:latin typeface="Arial" pitchFamily="34" charset="0"/>
                <a:ea typeface="Arial" pitchFamily="34" charset="-122"/>
                <a:cs typeface="Arial" pitchFamily="34" charset="-120"/>
              </a:rPr>
              <a:t>01</a:t>
            </a:r>
            <a:endParaRPr lang="en-US" sz="1400" dirty="0"/>
          </a:p>
        </p:txBody>
      </p:sp>
      <p:sp>
        <p:nvSpPr>
          <p:cNvPr id="5" name="Text 3"/>
          <p:cNvSpPr/>
          <p:nvPr/>
        </p:nvSpPr>
        <p:spPr>
          <a:xfrm>
            <a:off x="1554480" y="1572768"/>
            <a:ext cx="3566160" cy="731520"/>
          </a:xfrm>
          <a:prstGeom prst="rect">
            <a:avLst/>
          </a:prstGeom>
          <a:noFill/>
          <a:ln/>
        </p:spPr>
        <p:txBody>
          <a:bodyPr wrap="square" lIns="0" tIns="0" rIns="0" bIns="0" rtlCol="0" anchor="ctr"/>
          <a:lstStyle/>
          <a:p>
            <a:pPr marL="0" indent="0">
              <a:lnSpc>
                <a:spcPts val="2100"/>
              </a:lnSpc>
              <a:buNone/>
            </a:pPr>
            <a:r>
              <a:rPr lang="en-US" sz="1600" b="1" dirty="0">
                <a:solidFill>
                  <a:srgbClr val="111114"/>
                </a:solidFill>
                <a:latin typeface="Arial" pitchFamily="34" charset="0"/>
                <a:ea typeface="Arial" pitchFamily="34" charset="-122"/>
                <a:cs typeface="Arial" pitchFamily="34" charset="-120"/>
              </a:rPr>
              <a:t>La productividad medida no es la percibida</a:t>
            </a:r>
            <a:endParaRPr lang="en-US" sz="1600" dirty="0"/>
          </a:p>
        </p:txBody>
      </p:sp>
      <p:sp>
        <p:nvSpPr>
          <p:cNvPr id="6" name="Text 4"/>
          <p:cNvSpPr/>
          <p:nvPr/>
        </p:nvSpPr>
        <p:spPr>
          <a:xfrm>
            <a:off x="5349240" y="1572768"/>
            <a:ext cx="6065215" cy="1143000"/>
          </a:xfrm>
          <a:prstGeom prst="rect">
            <a:avLst/>
          </a:prstGeom>
          <a:noFill/>
          <a:ln/>
        </p:spPr>
        <p:txBody>
          <a:bodyPr wrap="square" lIns="0" tIns="0" rIns="0" bIns="0" rtlCol="0" anchor="ctr"/>
          <a:lstStyle/>
          <a:p>
            <a:pPr marL="0" indent="0">
              <a:lnSpc>
                <a:spcPts val="1750"/>
              </a:lnSpc>
              <a:buNone/>
            </a:pPr>
            <a:r>
              <a:rPr lang="en-US" sz="1250" dirty="0">
                <a:solidFill>
                  <a:srgbClr val="3A3A40"/>
                </a:solidFill>
                <a:latin typeface="Arial" pitchFamily="34" charset="0"/>
                <a:ea typeface="Arial" pitchFamily="34" charset="-122"/>
                <a:cs typeface="Arial" pitchFamily="34" charset="-120"/>
              </a:rPr>
              <a:t>En el experimento controlado de METR, desarrolladores experimentados fueron 19-20% más lentos usando IA — creyendo que habían sido 20% más rápidos. La réplica de febrero de 2026 sostiene el efecto, con intervalos amplios. La evidencia causal sigue siendo débil en las dos direcciones.</a:t>
            </a:r>
            <a:endParaRPr lang="en-US" sz="1250" dirty="0"/>
          </a:p>
        </p:txBody>
      </p:sp>
      <p:sp>
        <p:nvSpPr>
          <p:cNvPr id="7" name="Shape 5"/>
          <p:cNvSpPr/>
          <p:nvPr/>
        </p:nvSpPr>
        <p:spPr>
          <a:xfrm>
            <a:off x="777240" y="2670048"/>
            <a:ext cx="10637215" cy="10973"/>
          </a:xfrm>
          <a:prstGeom prst="rect">
            <a:avLst/>
          </a:prstGeom>
          <a:solidFill>
            <a:srgbClr val="E4E4E6"/>
          </a:solidFill>
          <a:ln w="12700">
            <a:solidFill>
              <a:srgbClr val="333333"/>
            </a:solidFill>
            <a:prstDash val="solid"/>
          </a:ln>
        </p:spPr>
        <p:txBody>
          <a:bodyPr/>
          <a:lstStyle/>
          <a:p>
            <a:endParaRPr lang="en-AR"/>
          </a:p>
        </p:txBody>
      </p:sp>
      <p:sp>
        <p:nvSpPr>
          <p:cNvPr id="8" name="Text 6"/>
          <p:cNvSpPr/>
          <p:nvPr/>
        </p:nvSpPr>
        <p:spPr>
          <a:xfrm>
            <a:off x="777240" y="2916936"/>
            <a:ext cx="640080" cy="320040"/>
          </a:xfrm>
          <a:prstGeom prst="rect">
            <a:avLst/>
          </a:prstGeom>
          <a:noFill/>
          <a:ln/>
        </p:spPr>
        <p:txBody>
          <a:bodyPr wrap="square" lIns="0" tIns="0" rIns="0" bIns="0" rtlCol="0" anchor="ctr"/>
          <a:lstStyle/>
          <a:p>
            <a:pPr marL="0" indent="0">
              <a:buNone/>
            </a:pPr>
            <a:r>
              <a:rPr lang="en-US" sz="1400" b="1" dirty="0">
                <a:solidFill>
                  <a:srgbClr val="E04E39"/>
                </a:solidFill>
                <a:latin typeface="Arial" pitchFamily="34" charset="0"/>
                <a:ea typeface="Arial" pitchFamily="34" charset="-122"/>
                <a:cs typeface="Arial" pitchFamily="34" charset="-120"/>
              </a:rPr>
              <a:t>02</a:t>
            </a:r>
            <a:endParaRPr lang="en-US" sz="1400" dirty="0"/>
          </a:p>
        </p:txBody>
      </p:sp>
      <p:sp>
        <p:nvSpPr>
          <p:cNvPr id="9" name="Text 7"/>
          <p:cNvSpPr/>
          <p:nvPr/>
        </p:nvSpPr>
        <p:spPr>
          <a:xfrm>
            <a:off x="1554480" y="2898648"/>
            <a:ext cx="3566160" cy="731520"/>
          </a:xfrm>
          <a:prstGeom prst="rect">
            <a:avLst/>
          </a:prstGeom>
          <a:noFill/>
          <a:ln/>
        </p:spPr>
        <p:txBody>
          <a:bodyPr wrap="square" lIns="0" tIns="0" rIns="0" bIns="0" rtlCol="0" anchor="ctr"/>
          <a:lstStyle/>
          <a:p>
            <a:pPr marL="0" indent="0">
              <a:lnSpc>
                <a:spcPts val="2100"/>
              </a:lnSpc>
              <a:buNone/>
            </a:pPr>
            <a:r>
              <a:rPr lang="en-US" sz="1600" b="1" dirty="0">
                <a:solidFill>
                  <a:srgbClr val="111114"/>
                </a:solidFill>
                <a:latin typeface="Arial" pitchFamily="34" charset="0"/>
                <a:ea typeface="Arial" pitchFamily="34" charset="-122"/>
                <a:cs typeface="Arial" pitchFamily="34" charset="-120"/>
              </a:rPr>
              <a:t>Las tareas largas no se degradan: colapsan</a:t>
            </a:r>
            <a:endParaRPr lang="en-US" sz="1600" dirty="0"/>
          </a:p>
        </p:txBody>
      </p:sp>
      <p:sp>
        <p:nvSpPr>
          <p:cNvPr id="10" name="Text 8"/>
          <p:cNvSpPr/>
          <p:nvPr/>
        </p:nvSpPr>
        <p:spPr>
          <a:xfrm>
            <a:off x="5349240" y="2898648"/>
            <a:ext cx="6065215" cy="1143000"/>
          </a:xfrm>
          <a:prstGeom prst="rect">
            <a:avLst/>
          </a:prstGeom>
          <a:noFill/>
          <a:ln/>
        </p:spPr>
        <p:txBody>
          <a:bodyPr wrap="square" lIns="0" tIns="0" rIns="0" bIns="0" rtlCol="0" anchor="ctr"/>
          <a:lstStyle/>
          <a:p>
            <a:pPr marL="0" indent="0">
              <a:lnSpc>
                <a:spcPts val="1750"/>
              </a:lnSpc>
              <a:buNone/>
            </a:pPr>
            <a:r>
              <a:rPr lang="en-US" sz="1250" dirty="0">
                <a:solidFill>
                  <a:srgbClr val="3A3A40"/>
                </a:solidFill>
                <a:latin typeface="Arial" pitchFamily="34" charset="0"/>
                <a:ea typeface="Arial" pitchFamily="34" charset="-122"/>
                <a:cs typeface="Arial" pitchFamily="34" charset="-120"/>
              </a:rPr>
              <a:t>Con 3.100 trayectorias de agentes analizadas, el rendimiento cae abruptamente al pasar cierta profundidad. Las fallas dominantes son de planificación y memoria, y no se arreglan agrandando el modelo.</a:t>
            </a:r>
            <a:endParaRPr lang="en-US" sz="1250" dirty="0"/>
          </a:p>
        </p:txBody>
      </p:sp>
      <p:sp>
        <p:nvSpPr>
          <p:cNvPr id="11" name="Shape 9"/>
          <p:cNvSpPr/>
          <p:nvPr/>
        </p:nvSpPr>
        <p:spPr>
          <a:xfrm>
            <a:off x="777240" y="3995928"/>
            <a:ext cx="10637215" cy="10973"/>
          </a:xfrm>
          <a:prstGeom prst="rect">
            <a:avLst/>
          </a:prstGeom>
          <a:solidFill>
            <a:srgbClr val="E4E4E6"/>
          </a:solidFill>
          <a:ln w="12700">
            <a:solidFill>
              <a:srgbClr val="333333"/>
            </a:solidFill>
            <a:prstDash val="solid"/>
          </a:ln>
        </p:spPr>
        <p:txBody>
          <a:bodyPr/>
          <a:lstStyle/>
          <a:p>
            <a:endParaRPr lang="en-AR"/>
          </a:p>
        </p:txBody>
      </p:sp>
      <p:sp>
        <p:nvSpPr>
          <p:cNvPr id="12" name="Text 10"/>
          <p:cNvSpPr/>
          <p:nvPr/>
        </p:nvSpPr>
        <p:spPr>
          <a:xfrm>
            <a:off x="777240" y="4242816"/>
            <a:ext cx="640080" cy="320040"/>
          </a:xfrm>
          <a:prstGeom prst="rect">
            <a:avLst/>
          </a:prstGeom>
          <a:noFill/>
          <a:ln/>
        </p:spPr>
        <p:txBody>
          <a:bodyPr wrap="square" lIns="0" tIns="0" rIns="0" bIns="0" rtlCol="0" anchor="ctr"/>
          <a:lstStyle/>
          <a:p>
            <a:pPr marL="0" indent="0">
              <a:buNone/>
            </a:pPr>
            <a:r>
              <a:rPr lang="en-US" sz="1400" b="1" dirty="0">
                <a:solidFill>
                  <a:srgbClr val="E04E39"/>
                </a:solidFill>
                <a:latin typeface="Arial" pitchFamily="34" charset="0"/>
                <a:ea typeface="Arial" pitchFamily="34" charset="-122"/>
                <a:cs typeface="Arial" pitchFamily="34" charset="-120"/>
              </a:rPr>
              <a:t>03</a:t>
            </a:r>
            <a:endParaRPr lang="en-US" sz="1400" dirty="0"/>
          </a:p>
        </p:txBody>
      </p:sp>
      <p:sp>
        <p:nvSpPr>
          <p:cNvPr id="13" name="Text 11"/>
          <p:cNvSpPr/>
          <p:nvPr/>
        </p:nvSpPr>
        <p:spPr>
          <a:xfrm>
            <a:off x="1554480" y="4224528"/>
            <a:ext cx="3566160" cy="731520"/>
          </a:xfrm>
          <a:prstGeom prst="rect">
            <a:avLst/>
          </a:prstGeom>
          <a:noFill/>
          <a:ln/>
        </p:spPr>
        <p:txBody>
          <a:bodyPr wrap="square" lIns="0" tIns="0" rIns="0" bIns="0" rtlCol="0" anchor="ctr"/>
          <a:lstStyle/>
          <a:p>
            <a:pPr marL="0" indent="0">
              <a:lnSpc>
                <a:spcPts val="2100"/>
              </a:lnSpc>
              <a:buNone/>
            </a:pPr>
            <a:r>
              <a:rPr lang="en-US" sz="1600" b="1" dirty="0">
                <a:solidFill>
                  <a:srgbClr val="111114"/>
                </a:solidFill>
                <a:latin typeface="Arial" pitchFamily="34" charset="0"/>
                <a:ea typeface="Arial" pitchFamily="34" charset="-122"/>
                <a:cs typeface="Arial" pitchFamily="34" charset="-120"/>
              </a:rPr>
              <a:t>La evidencia se mueve más rápido que la verificación</a:t>
            </a:r>
            <a:endParaRPr lang="en-US" sz="1600" dirty="0"/>
          </a:p>
        </p:txBody>
      </p:sp>
      <p:sp>
        <p:nvSpPr>
          <p:cNvPr id="14" name="Text 12"/>
          <p:cNvSpPr/>
          <p:nvPr/>
        </p:nvSpPr>
        <p:spPr>
          <a:xfrm>
            <a:off x="5349240" y="4224528"/>
            <a:ext cx="6065215" cy="1143000"/>
          </a:xfrm>
          <a:prstGeom prst="rect">
            <a:avLst/>
          </a:prstGeom>
          <a:noFill/>
          <a:ln/>
        </p:spPr>
        <p:txBody>
          <a:bodyPr wrap="square" lIns="0" tIns="0" rIns="0" bIns="0" rtlCol="0" anchor="ctr"/>
          <a:lstStyle/>
          <a:p>
            <a:pPr marL="0" indent="0">
              <a:lnSpc>
                <a:spcPts val="1750"/>
              </a:lnSpc>
              <a:buNone/>
            </a:pPr>
            <a:r>
              <a:rPr lang="en-US" sz="1250" dirty="0">
                <a:solidFill>
                  <a:srgbClr val="3A3A40"/>
                </a:solidFill>
                <a:latin typeface="Arial" pitchFamily="34" charset="0"/>
                <a:ea typeface="Arial" pitchFamily="34" charset="-122"/>
                <a:cs typeface="Arial" pitchFamily="34" charset="-120"/>
              </a:rPr>
              <a:t>El paper del MIT que reportaba que la IA aceleraba el descubrimiento de materiales fue retractado por datos fabricados — después de haber sido elogiado por economistas de primer nivel y citado en discursos oficiales.</a:t>
            </a:r>
            <a:endParaRPr lang="en-US" sz="1250" dirty="0"/>
          </a:p>
        </p:txBody>
      </p:sp>
      <p:sp>
        <p:nvSpPr>
          <p:cNvPr id="15" name="Shape 13"/>
          <p:cNvSpPr/>
          <p:nvPr/>
        </p:nvSpPr>
        <p:spPr>
          <a:xfrm>
            <a:off x="777240" y="5440680"/>
            <a:ext cx="10637215" cy="868680"/>
          </a:xfrm>
          <a:prstGeom prst="roundRect">
            <a:avLst>
              <a:gd name="adj" fmla="val 6316"/>
            </a:avLst>
          </a:prstGeom>
          <a:solidFill>
            <a:srgbClr val="111114"/>
          </a:solidFill>
          <a:ln w="12700">
            <a:solidFill>
              <a:srgbClr val="111114"/>
            </a:solidFill>
            <a:prstDash val="solid"/>
          </a:ln>
        </p:spPr>
        <p:txBody>
          <a:bodyPr/>
          <a:lstStyle/>
          <a:p>
            <a:endParaRPr lang="en-AR"/>
          </a:p>
        </p:txBody>
      </p:sp>
      <p:sp>
        <p:nvSpPr>
          <p:cNvPr id="16" name="Text 14"/>
          <p:cNvSpPr/>
          <p:nvPr/>
        </p:nvSpPr>
        <p:spPr>
          <a:xfrm>
            <a:off x="1234440" y="5669280"/>
            <a:ext cx="9722815" cy="411480"/>
          </a:xfrm>
          <a:prstGeom prst="rect">
            <a:avLst/>
          </a:prstGeom>
          <a:noFill/>
          <a:ln/>
        </p:spPr>
        <p:txBody>
          <a:bodyPr wrap="square" lIns="0" tIns="0" rIns="0" bIns="0" rtlCol="0" anchor="ctr"/>
          <a:lstStyle/>
          <a:p>
            <a:pPr marL="0" indent="0">
              <a:buNone/>
            </a:pPr>
            <a:r>
              <a:rPr lang="en-US" sz="1700" b="1" dirty="0">
                <a:solidFill>
                  <a:srgbClr val="FFFFFF"/>
                </a:solidFill>
                <a:latin typeface="Arial" pitchFamily="34" charset="0"/>
                <a:ea typeface="Arial" pitchFamily="34" charset="-122"/>
                <a:cs typeface="Arial" pitchFamily="34" charset="-120"/>
              </a:rPr>
              <a:t>En este campo la humildad epistémica no es modestia. Es método.</a:t>
            </a:r>
            <a:endParaRPr lang="en-US" sz="1700" dirty="0"/>
          </a:p>
        </p:txBody>
      </p:sp>
      <p:sp>
        <p:nvSpPr>
          <p:cNvPr id="17" name="Text 15"/>
          <p:cNvSpPr/>
          <p:nvPr/>
        </p:nvSpPr>
        <p:spPr>
          <a:xfrm>
            <a:off x="10865815" y="6291072"/>
            <a:ext cx="548640" cy="274320"/>
          </a:xfrm>
          <a:prstGeom prst="rect">
            <a:avLst/>
          </a:prstGeom>
          <a:noFill/>
          <a:ln/>
        </p:spPr>
        <p:txBody>
          <a:bodyPr wrap="square" lIns="0" tIns="0" rIns="0" bIns="0" rtlCol="0" anchor="ctr"/>
          <a:lstStyle/>
          <a:p>
            <a:pPr marL="0" indent="0" algn="r">
              <a:buNone/>
            </a:pPr>
            <a:r>
              <a:rPr lang="en-US" sz="900" dirty="0">
                <a:solidFill>
                  <a:srgbClr val="9A9AA0"/>
                </a:solidFill>
                <a:latin typeface="Arial" pitchFamily="34" charset="0"/>
                <a:ea typeface="Arial" pitchFamily="34" charset="-122"/>
                <a:cs typeface="Arial" pitchFamily="34" charset="-120"/>
              </a:rPr>
              <a:t>33</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4">
    <p:bg>
      <p:bgPr>
        <a:solidFill>
          <a:srgbClr val="111114"/>
        </a:solidFill>
        <a:effectLst/>
      </p:bgPr>
    </p:bg>
    <p:spTree>
      <p:nvGrpSpPr>
        <p:cNvPr id="1" name=""/>
        <p:cNvGrpSpPr/>
        <p:nvPr/>
      </p:nvGrpSpPr>
      <p:grpSpPr>
        <a:xfrm>
          <a:off x="0" y="0"/>
          <a:ext cx="0" cy="0"/>
          <a:chOff x="0" y="0"/>
          <a:chExt cx="0" cy="0"/>
        </a:xfrm>
      </p:grpSpPr>
      <p:sp>
        <p:nvSpPr>
          <p:cNvPr id="2" name="Text 0"/>
          <p:cNvSpPr/>
          <p:nvPr/>
        </p:nvSpPr>
        <p:spPr>
          <a:xfrm>
            <a:off x="777240" y="777240"/>
            <a:ext cx="5486400" cy="274320"/>
          </a:xfrm>
          <a:prstGeom prst="rect">
            <a:avLst/>
          </a:prstGeom>
          <a:noFill/>
          <a:ln/>
        </p:spPr>
        <p:txBody>
          <a:bodyPr wrap="square" lIns="0" tIns="0" rIns="0" bIns="0" rtlCol="0" anchor="ctr"/>
          <a:lstStyle/>
          <a:p>
            <a:pPr marL="0" indent="0">
              <a:buNone/>
            </a:pPr>
            <a:r>
              <a:rPr lang="en-US" sz="1100" b="1" kern="0" spc="300" dirty="0">
                <a:solidFill>
                  <a:srgbClr val="E04E39"/>
                </a:solidFill>
                <a:latin typeface="Arial" pitchFamily="34" charset="0"/>
                <a:ea typeface="Arial" pitchFamily="34" charset="-122"/>
                <a:cs typeface="Arial" pitchFamily="34" charset="-120"/>
              </a:rPr>
              <a:t>PARA CERRAR</a:t>
            </a:r>
            <a:endParaRPr lang="en-US" sz="1100" dirty="0"/>
          </a:p>
        </p:txBody>
      </p:sp>
      <p:sp>
        <p:nvSpPr>
          <p:cNvPr id="3" name="Text 1"/>
          <p:cNvSpPr/>
          <p:nvPr/>
        </p:nvSpPr>
        <p:spPr>
          <a:xfrm>
            <a:off x="777240" y="1143000"/>
            <a:ext cx="8229600" cy="54864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Tres ideas para llevarse</a:t>
            </a:r>
            <a:endParaRPr lang="en-US" sz="3200" dirty="0"/>
          </a:p>
        </p:txBody>
      </p:sp>
      <p:sp>
        <p:nvSpPr>
          <p:cNvPr id="4" name="Text 2"/>
          <p:cNvSpPr/>
          <p:nvPr/>
        </p:nvSpPr>
        <p:spPr>
          <a:xfrm>
            <a:off x="777240" y="2057400"/>
            <a:ext cx="731520" cy="365760"/>
          </a:xfrm>
          <a:prstGeom prst="rect">
            <a:avLst/>
          </a:prstGeom>
          <a:noFill/>
          <a:ln/>
        </p:spPr>
        <p:txBody>
          <a:bodyPr wrap="square" lIns="0" tIns="0" rIns="0" bIns="0" rtlCol="0" anchor="ctr"/>
          <a:lstStyle/>
          <a:p>
            <a:pPr marL="0" indent="0">
              <a:buNone/>
            </a:pPr>
            <a:r>
              <a:rPr lang="en-US" sz="1500" b="1" dirty="0">
                <a:solidFill>
                  <a:srgbClr val="E04E39"/>
                </a:solidFill>
                <a:latin typeface="Arial" pitchFamily="34" charset="0"/>
                <a:ea typeface="Arial" pitchFamily="34" charset="-122"/>
                <a:cs typeface="Arial" pitchFamily="34" charset="-120"/>
              </a:rPr>
              <a:t>01</a:t>
            </a:r>
            <a:endParaRPr lang="en-US" sz="1500" dirty="0"/>
          </a:p>
        </p:txBody>
      </p:sp>
      <p:sp>
        <p:nvSpPr>
          <p:cNvPr id="5" name="Text 3"/>
          <p:cNvSpPr/>
          <p:nvPr/>
        </p:nvSpPr>
        <p:spPr>
          <a:xfrm>
            <a:off x="1691640" y="2020824"/>
            <a:ext cx="9509760" cy="822960"/>
          </a:xfrm>
          <a:prstGeom prst="rect">
            <a:avLst/>
          </a:prstGeom>
          <a:noFill/>
          <a:ln/>
        </p:spPr>
        <p:txBody>
          <a:bodyPr wrap="square" lIns="0" tIns="0" rIns="0" bIns="0" rtlCol="0" anchor="ctr"/>
          <a:lstStyle/>
          <a:p>
            <a:pPr marL="0" indent="0">
              <a:lnSpc>
                <a:spcPts val="2300"/>
              </a:lnSpc>
              <a:buNone/>
            </a:pPr>
            <a:r>
              <a:rPr lang="en-US" sz="1600" dirty="0">
                <a:solidFill>
                  <a:srgbClr val="E4E4E6"/>
                </a:solidFill>
                <a:latin typeface="Arial" pitchFamily="34" charset="0"/>
                <a:ea typeface="Arial" pitchFamily="34" charset="-122"/>
                <a:cs typeface="Arial" pitchFamily="34" charset="-120"/>
              </a:rPr>
              <a:t>La capacidad crece exponencialmente y el costo se derrumba al mismo tiempo. Es la primera vez en la historia que las dos cosas pasan juntas a esta velocidad.</a:t>
            </a:r>
            <a:endParaRPr lang="en-US" sz="1600" dirty="0"/>
          </a:p>
        </p:txBody>
      </p:sp>
      <p:sp>
        <p:nvSpPr>
          <p:cNvPr id="6" name="Text 4"/>
          <p:cNvSpPr/>
          <p:nvPr/>
        </p:nvSpPr>
        <p:spPr>
          <a:xfrm>
            <a:off x="777240" y="3063240"/>
            <a:ext cx="731520" cy="365760"/>
          </a:xfrm>
          <a:prstGeom prst="rect">
            <a:avLst/>
          </a:prstGeom>
          <a:noFill/>
          <a:ln/>
        </p:spPr>
        <p:txBody>
          <a:bodyPr wrap="square" lIns="0" tIns="0" rIns="0" bIns="0" rtlCol="0" anchor="ctr"/>
          <a:lstStyle/>
          <a:p>
            <a:pPr marL="0" indent="0">
              <a:buNone/>
            </a:pPr>
            <a:r>
              <a:rPr lang="en-US" sz="1500" b="1" dirty="0">
                <a:solidFill>
                  <a:srgbClr val="E04E39"/>
                </a:solidFill>
                <a:latin typeface="Arial" pitchFamily="34" charset="0"/>
                <a:ea typeface="Arial" pitchFamily="34" charset="-122"/>
                <a:cs typeface="Arial" pitchFamily="34" charset="-120"/>
              </a:rPr>
              <a:t>02</a:t>
            </a:r>
            <a:endParaRPr lang="en-US" sz="1500" dirty="0"/>
          </a:p>
        </p:txBody>
      </p:sp>
      <p:sp>
        <p:nvSpPr>
          <p:cNvPr id="7" name="Text 5"/>
          <p:cNvSpPr/>
          <p:nvPr/>
        </p:nvSpPr>
        <p:spPr>
          <a:xfrm>
            <a:off x="1691640" y="3026664"/>
            <a:ext cx="9509760" cy="822960"/>
          </a:xfrm>
          <a:prstGeom prst="rect">
            <a:avLst/>
          </a:prstGeom>
          <a:noFill/>
          <a:ln/>
        </p:spPr>
        <p:txBody>
          <a:bodyPr wrap="square" lIns="0" tIns="0" rIns="0" bIns="0" rtlCol="0" anchor="ctr"/>
          <a:lstStyle/>
          <a:p>
            <a:pPr marL="0" indent="0">
              <a:lnSpc>
                <a:spcPts val="2300"/>
              </a:lnSpc>
              <a:buNone/>
            </a:pPr>
            <a:r>
              <a:rPr lang="en-US" sz="1600" dirty="0">
                <a:solidFill>
                  <a:srgbClr val="E4E4E6"/>
                </a:solidFill>
                <a:latin typeface="Arial" pitchFamily="34" charset="0"/>
                <a:ea typeface="Arial" pitchFamily="34" charset="-122"/>
                <a:cs typeface="Arial" pitchFamily="34" charset="-120"/>
              </a:rPr>
              <a:t>El cuello de botella ya no es el modelo: es la organización. Confianza, proceso, verificación, diseño del trabajo.</a:t>
            </a:r>
            <a:endParaRPr lang="en-US" sz="1600" dirty="0"/>
          </a:p>
        </p:txBody>
      </p:sp>
      <p:sp>
        <p:nvSpPr>
          <p:cNvPr id="8" name="Text 6"/>
          <p:cNvSpPr/>
          <p:nvPr/>
        </p:nvSpPr>
        <p:spPr>
          <a:xfrm>
            <a:off x="777240" y="4069080"/>
            <a:ext cx="731520" cy="365760"/>
          </a:xfrm>
          <a:prstGeom prst="rect">
            <a:avLst/>
          </a:prstGeom>
          <a:noFill/>
          <a:ln/>
        </p:spPr>
        <p:txBody>
          <a:bodyPr wrap="square" lIns="0" tIns="0" rIns="0" bIns="0" rtlCol="0" anchor="ctr"/>
          <a:lstStyle/>
          <a:p>
            <a:pPr marL="0" indent="0">
              <a:buNone/>
            </a:pPr>
            <a:r>
              <a:rPr lang="en-US" sz="1500" b="1" dirty="0">
                <a:solidFill>
                  <a:srgbClr val="E04E39"/>
                </a:solidFill>
                <a:latin typeface="Arial" pitchFamily="34" charset="0"/>
                <a:ea typeface="Arial" pitchFamily="34" charset="-122"/>
                <a:cs typeface="Arial" pitchFamily="34" charset="-120"/>
              </a:rPr>
              <a:t>03</a:t>
            </a:r>
            <a:endParaRPr lang="en-US" sz="1500" dirty="0"/>
          </a:p>
        </p:txBody>
      </p:sp>
      <p:sp>
        <p:nvSpPr>
          <p:cNvPr id="9" name="Text 7"/>
          <p:cNvSpPr/>
          <p:nvPr/>
        </p:nvSpPr>
        <p:spPr>
          <a:xfrm>
            <a:off x="1691640" y="4032504"/>
            <a:ext cx="9509760" cy="822960"/>
          </a:xfrm>
          <a:prstGeom prst="rect">
            <a:avLst/>
          </a:prstGeom>
          <a:noFill/>
          <a:ln/>
        </p:spPr>
        <p:txBody>
          <a:bodyPr wrap="square" lIns="0" tIns="0" rIns="0" bIns="0" rtlCol="0" anchor="ctr"/>
          <a:lstStyle/>
          <a:p>
            <a:pPr marL="0" indent="0">
              <a:lnSpc>
                <a:spcPts val="2300"/>
              </a:lnSpc>
              <a:buNone/>
            </a:pPr>
            <a:r>
              <a:rPr lang="en-US" sz="1600" dirty="0">
                <a:solidFill>
                  <a:srgbClr val="E4E4E6"/>
                </a:solidFill>
                <a:latin typeface="Arial" pitchFamily="34" charset="0"/>
                <a:ea typeface="Arial" pitchFamily="34" charset="-122"/>
                <a:cs typeface="Arial" pitchFamily="34" charset="-120"/>
              </a:rPr>
              <a:t>Por eso existe esta tecnicatura. No formamos gente que entrene modelos. Formamos gente que sepa dónde meterlos, cómo medirlos y cuándo desconfiar de ellos.</a:t>
            </a:r>
            <a:endParaRPr lang="en-US" sz="1600" dirty="0"/>
          </a:p>
        </p:txBody>
      </p:sp>
      <p:sp>
        <p:nvSpPr>
          <p:cNvPr id="10" name="Shape 8"/>
          <p:cNvSpPr/>
          <p:nvPr/>
        </p:nvSpPr>
        <p:spPr>
          <a:xfrm>
            <a:off x="777240" y="5166360"/>
            <a:ext cx="10637215" cy="13716"/>
          </a:xfrm>
          <a:prstGeom prst="rect">
            <a:avLst/>
          </a:prstGeom>
          <a:solidFill>
            <a:srgbClr val="3A3A42"/>
          </a:solidFill>
          <a:ln w="12700">
            <a:solidFill>
              <a:srgbClr val="333333"/>
            </a:solidFill>
            <a:prstDash val="solid"/>
          </a:ln>
        </p:spPr>
        <p:txBody>
          <a:bodyPr/>
          <a:lstStyle/>
          <a:p>
            <a:endParaRPr lang="en-AR"/>
          </a:p>
        </p:txBody>
      </p:sp>
      <p:sp>
        <p:nvSpPr>
          <p:cNvPr id="11" name="Text 9"/>
          <p:cNvSpPr/>
          <p:nvPr/>
        </p:nvSpPr>
        <p:spPr>
          <a:xfrm>
            <a:off x="777240" y="5440680"/>
            <a:ext cx="9601200" cy="822960"/>
          </a:xfrm>
          <a:prstGeom prst="rect">
            <a:avLst/>
          </a:prstGeom>
          <a:noFill/>
          <a:ln/>
        </p:spPr>
        <p:txBody>
          <a:bodyPr wrap="square" lIns="0" tIns="0" rIns="0" bIns="0" rtlCol="0" anchor="ctr"/>
          <a:lstStyle/>
          <a:p>
            <a:pPr marL="0" indent="0">
              <a:lnSpc>
                <a:spcPts val="2800"/>
              </a:lnSpc>
              <a:buNone/>
            </a:pPr>
            <a:r>
              <a:rPr lang="en-US" sz="2100" b="1" dirty="0">
                <a:solidFill>
                  <a:srgbClr val="FFFFFF"/>
                </a:solidFill>
                <a:latin typeface="Arial" pitchFamily="34" charset="0"/>
                <a:ea typeface="Arial" pitchFamily="34" charset="-122"/>
                <a:cs typeface="Arial" pitchFamily="34" charset="-120"/>
              </a:rPr>
              <a:t>“La pregunta ya no es qué puede hacer la IA.</a:t>
            </a:r>
            <a:endParaRPr lang="en-US" sz="2100" dirty="0"/>
          </a:p>
          <a:p>
            <a:pPr marL="0" indent="0">
              <a:lnSpc>
                <a:spcPts val="2800"/>
              </a:lnSpc>
              <a:buNone/>
            </a:pPr>
            <a:r>
              <a:rPr lang="en-US" sz="2100" b="1" dirty="0">
                <a:solidFill>
                  <a:srgbClr val="FFFFFF"/>
                </a:solidFill>
                <a:latin typeface="Arial" pitchFamily="34" charset="0"/>
                <a:ea typeface="Arial" pitchFamily="34" charset="-122"/>
                <a:cs typeface="Arial" pitchFamily="34" charset="-120"/>
              </a:rPr>
              <a:t>Es qué vas a hacer vos con eso.”</a:t>
            </a:r>
            <a:endParaRPr lang="en-US" sz="2100" dirty="0"/>
          </a:p>
        </p:txBody>
      </p:sp>
      <p:sp>
        <p:nvSpPr>
          <p:cNvPr id="12" name="Text 10"/>
          <p:cNvSpPr/>
          <p:nvPr/>
        </p:nvSpPr>
        <p:spPr>
          <a:xfrm>
            <a:off x="10865815" y="6291072"/>
            <a:ext cx="548640" cy="274320"/>
          </a:xfrm>
          <a:prstGeom prst="rect">
            <a:avLst/>
          </a:prstGeom>
          <a:noFill/>
          <a:ln/>
        </p:spPr>
        <p:txBody>
          <a:bodyPr wrap="square" lIns="0" tIns="0" rIns="0" bIns="0" rtlCol="0" anchor="ctr"/>
          <a:lstStyle/>
          <a:p>
            <a:pPr marL="0" indent="0" algn="r">
              <a:buNone/>
            </a:pPr>
            <a:r>
              <a:rPr lang="en-US" sz="900" dirty="0">
                <a:solidFill>
                  <a:srgbClr val="55555C"/>
                </a:solidFill>
                <a:latin typeface="Arial" pitchFamily="34" charset="0"/>
                <a:ea typeface="Arial" pitchFamily="34" charset="-122"/>
                <a:cs typeface="Arial" pitchFamily="34" charset="-120"/>
              </a:rPr>
              <a:t>34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TotalTime>
  <Words>4799</Words>
  <Application>Microsoft Macintosh PowerPoint</Application>
  <PresentationFormat>Widescreen</PresentationFormat>
  <Paragraphs>538</Paragraphs>
  <Slides>31</Slides>
  <Notes>31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31</vt:i4>
      </vt:variant>
    </vt:vector>
  </HeadingPairs>
  <TitlesOfParts>
    <vt:vector size="33"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Clase 1 — La IA está cambiando el mundo</dc:title>
  <dc:subject>PptxGenJS Presentation</dc:subject>
  <dc:creator>Tecnicatura en IA en Organizaciones</dc:creator>
  <cp:lastModifiedBy>Santiago Vespoli</cp:lastModifiedBy>
  <cp:revision>2</cp:revision>
  <dcterms:created xsi:type="dcterms:W3CDTF">2026-08-13T18:53:00Z</dcterms:created>
  <dcterms:modified xsi:type="dcterms:W3CDTF">2026-08-13T20:02:30Z</dcterms:modified>
</cp:coreProperties>
</file>